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Em chào cô và các bạn. Em là Đào Văn Tâm, đại diện Nhóm 6. Đề tài của nhóm là Verifier-Guided Repair: tự động sửa các chứng minh toán học viết bằng Lean bị lỗi, trong giới hạn chi phí và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Lean là ngôn ngữ viết chứng minh toán học để máy tính kiểm tra được từng bước. Mô hình ngôn ngữ lớn, gọi tắt là LLM, viết được hàng loạt chứng minh Lean, nhưng nhiều chứng minh bị Lean từ chối, có khi chỉ vì thiếu một dòng khai báo thư viện. Trong chuỗi dự án của lớp, Nhóm 5 sinh chứng minh, Nhóm 6 sửa các chứng minh lỗi, và chỉ nhận bản sửa khi Lean chấp nhận và đề bài giữ nguyên. Đây là bài toán dữ liệu lớn vì mỗi lần Lean kiểm tra từ đầu mất hơn một phút, số chứng minh lên tới hàng chục nghìn, và mỗi lần gọi LLM đều tốn tiền.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Nhóm làm bốn việc. Thứ nhất, tạo tập 17.031 chứng minh lỗi, nhãn lỗi lấy từ chính thông báo của Lean, và tách riêng tập kiểm tra để không lộ đáp án. Thứ hai, xây vòng sửa lỗi: đọc thông báo lỗi và xếp vào bảy nhóm; sửa bằng luật viết sẵn không tốn tiền, hoặc nhờ LLM sửa kèm thông báo lỗi; cho Lean kiểm tra lại; rồi kiểm toán để chặn bản sửa gian lận như bỏ qua chứng minh hay đổi đề. Mỗi mẫu được thử tối đa ba lần. Thứ ba, giữ Lean chạy liên tục và chạy nhiều bản song song để kiểm tra nhanh. Thứ tư, đặt trần chi phí cho LLM và ghi lại mọi lần chạy để tái lập được. Thực nghiệm chạy trên Kaggle với ba mức 100, 1.000 và 10.000 mẫu, mỗi cấu hình lặp ba lần, dùng Gemini 3.5 Flash-Lite.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Về kết quả. Câu hỏi thứ nhất: gửi kèm thông báo lỗi có giúp không. Có. So với chỉ yêu cầu thử lại, tỷ lệ sửa thành công tăng từ 31,7% lên 53,9%, và chi phí giảm 45%, vì mô hình chỉ sửa đúng chỗ hỏng thay vì viết lại cả tệp.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Câu hỏi thứ hai: nên thử mấy lần và sửa bằng cách nào. Cho LLM thử tối đa ba lần đạt 65,1%, tốn 2,45 đô la Mỹ cho 1.000 mẫu. Luật viết sẵn đúng 97 đến 100% với lỗi thiếu khai báo thư viện và lỗi vượt giới hạn tính toán, nhưng kém với các lỗi còn lại.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Câu hỏi thứ ba: hệ thống mở rộng ra sao. Giữ Lean chạy liên tục làm thời gian kiểm tra một chứng minh giảm từ 63 đến 107 giây xuống khoảng 3 mili giây. Với 10.000 mẫu, 2 tiến trình nhanh gấp 1,76 lần, nhưng 4 tiến trình chỉ nhanh 1,88 lần, vì máy chỉ có 4 nhân CPU.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Bước kiểm toán là bắt buộc: với ba lần thử, 75% bản sửa được Lean chấp nhận, nhưng chỉ 65,1% là sửa thật, phần còn lại đổi đề hoặc bỏ qua chứng minh.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Tóm lại, gửi thông báo lỗi giúp sửa tốt hơn và rẻ hơn, kiểm toán là bắt buộc, và trình kiểm chứng cần chạy liên tục, được lập lịch. Toàn bộ thực nghiệm tốn 2,97 đô la Mỹ, và hệ thống đã sẵn sàng nhận dữ liệu thật từ Nhóm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Em xin cảm ơn cô và các bạn. Phần còn lại xin dành cho câu hỏi; bảng trên slide là thành viên trả lời từng mảng.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Tùng: phát lại log, $0. Lệnh trong slides/demo_script.md.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Nounou: nguồn MIT, 3.666 định lý gốc, 9 cách gây lỗi, chia theo định lý gốc, hold-out 284 và 2.907.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Khamsing: phân loại 7 nhóm lỗi, router, luật hoặc LLM, Lean REPL, kiểm toán; vòng lặp tối đa k lần.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Trung: R0 97%, R7 100%, R1 27%, R2 và R3 0%; 203/284 mẫu sang luật, đúng 33%; ablation bộ phân loại.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Kaggle 4 vCPU 31 GB; baseline thử lại nguyên prompt; k 0/1/3; 3 mức; 1/2/4 worker; 3 lần lặp.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Tâm: khoảng chênh giữa cột xanh và cột cam là phần kiểm toán chặn.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Dũng: P50 và P95 ở 100, 1K, 10K với 1, 2, 4 worker; trung vị và min đến max của 3 lần lặp.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6949440" y="-1097280"/>
            <a:ext cx="6766560" cy="67665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0607040" y="5212080"/>
            <a:ext cx="822960" cy="82296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731520" y="914400"/>
            <a:ext cx="7680960" cy="457200"/>
          </a:xfrm>
          <a:prstGeom prst="rect">
            <a:avLst/>
          </a:prstGeom>
          <a:noFill/>
        </p:spPr>
        <p:txBody>
          <a:bodyPr wrap="square" anchor="t" lIns="45720" rIns="45720" tIns="27432" bIns="27432">
            <a:spAutoFit/>
          </a:bodyPr>
          <a:lstStyle/>
          <a:p>
            <a:pPr algn="l">
              <a:lnSpc>
                <a:spcPct val="110000"/>
              </a:lnSpc>
            </a:pPr>
            <a:r>
              <a:rPr sz="2000" b="1" i="0">
                <a:solidFill>
                  <a:srgbClr val="1E6FE8"/>
                </a:solidFill>
                <a:latin typeface="Helvetica"/>
              </a:rPr>
              <a:t>DỮ LIỆU LỚN, INT4418 · NHÓM 6</a:t>
            </a:r>
          </a:p>
        </p:txBody>
      </p:sp>
      <p:sp>
        <p:nvSpPr>
          <p:cNvPr id="5" name="TextBox 4"/>
          <p:cNvSpPr txBox="1"/>
          <p:nvPr/>
        </p:nvSpPr>
        <p:spPr>
          <a:xfrm>
            <a:off x="731520" y="1554480"/>
            <a:ext cx="7863840" cy="2560320"/>
          </a:xfrm>
          <a:prstGeom prst="rect">
            <a:avLst/>
          </a:prstGeom>
          <a:noFill/>
        </p:spPr>
        <p:txBody>
          <a:bodyPr wrap="square" anchor="t" lIns="45720" rIns="45720" tIns="27432" bIns="27432">
            <a:spAutoFit/>
          </a:bodyPr>
          <a:lstStyle/>
          <a:p>
            <a:pPr algn="l">
              <a:lnSpc>
                <a:spcPct val="105000"/>
              </a:lnSpc>
            </a:pPr>
            <a:r>
              <a:rPr sz="4400" b="1" i="0">
                <a:solidFill>
                  <a:srgbClr val="0F1C3F"/>
                </a:solidFill>
                <a:latin typeface="Helvetica"/>
              </a:rPr>
              <a:t>Verifier-Guided Repair</a:t>
            </a:r>
          </a:p>
          <a:p>
            <a:pPr algn="l">
              <a:lnSpc>
                <a:spcPct val="105000"/>
              </a:lnSpc>
            </a:pPr>
            <a:r>
              <a:rPr sz="2800" b="0" i="0">
                <a:solidFill>
                  <a:srgbClr val="144FB0"/>
                </a:solidFill>
                <a:latin typeface="Helvetica"/>
              </a:rPr>
              <a:t>Sửa chứng minh Lean 4 có kiểm chứng dưới ràng buộc chi phí và độ trễ</a:t>
            </a:r>
          </a:p>
        </p:txBody>
      </p:sp>
      <p:sp>
        <p:nvSpPr>
          <p:cNvPr id="6" name="TextBox 5"/>
          <p:cNvSpPr txBox="1"/>
          <p:nvPr/>
        </p:nvSpPr>
        <p:spPr>
          <a:xfrm>
            <a:off x="731520" y="4160520"/>
            <a:ext cx="7863840" cy="1920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Giảng viên: TS. Nguyễn Kiều Linh</a:t>
            </a:r>
          </a:p>
          <a:p>
            <a:pPr algn="l">
              <a:lnSpc>
                <a:spcPct val="110000"/>
              </a:lnSpc>
            </a:pPr>
            <a:r>
              <a:rPr sz="2000" b="0" i="0">
                <a:solidFill>
                  <a:srgbClr val="5B6B82"/>
                </a:solidFill>
                <a:latin typeface="Helvetica"/>
              </a:rPr>
              <a:t>Đào Văn Tâm · Trần Quang Đức Dũng · Lâm Thành Trung</a:t>
            </a:r>
          </a:p>
          <a:p>
            <a:pPr algn="l">
              <a:lnSpc>
                <a:spcPct val="110000"/>
              </a:lnSpc>
            </a:pPr>
            <a:r>
              <a:rPr sz="2000" b="0" i="0">
                <a:solidFill>
                  <a:srgbClr val="5B6B82"/>
                </a:solidFill>
                <a:latin typeface="Helvetica"/>
              </a:rPr>
              <a:t>Nguyễn Xuân Tùng · Khamsing OUTHAIHUENG · Mekdala Nounou</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9692640" y="-2194560"/>
            <a:ext cx="4206240" cy="420624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20140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Đề tài: tự động sửa chứng minh Lean bị lỗi, chỉ nhận bản sửa đã kiểm chứng</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2</a:t>
            </a:r>
          </a:p>
        </p:txBody>
      </p:sp>
      <p:sp>
        <p:nvSpPr>
          <p:cNvPr id="6" name="Rounded Rectangle 5"/>
          <p:cNvSpPr/>
          <p:nvPr/>
        </p:nvSpPr>
        <p:spPr>
          <a:xfrm>
            <a:off x="548640" y="1783080"/>
            <a:ext cx="2331720" cy="1143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856231"/>
            <a:ext cx="2185415"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Nhóm 5</a:t>
            </a:r>
          </a:p>
          <a:p>
            <a:pPr algn="ctr">
              <a:lnSpc>
                <a:spcPct val="110000"/>
              </a:lnSpc>
            </a:pPr>
            <a:r>
              <a:rPr sz="2000" b="1" i="0">
                <a:solidFill>
                  <a:srgbClr val="144FB0"/>
                </a:solidFill>
                <a:latin typeface="Helvetica"/>
              </a:rPr>
              <a:t>ứng viên Lean</a:t>
            </a:r>
          </a:p>
        </p:txBody>
      </p:sp>
      <p:sp>
        <p:nvSpPr>
          <p:cNvPr id="8" name="Right Arrow 7"/>
          <p:cNvSpPr/>
          <p:nvPr/>
        </p:nvSpPr>
        <p:spPr>
          <a:xfrm>
            <a:off x="2935224" y="2208276"/>
            <a:ext cx="393192" cy="292608"/>
          </a:xfrm>
          <a:prstGeom prst="rightArrow">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79" y="1783080"/>
            <a:ext cx="2331720" cy="114300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856231"/>
            <a:ext cx="2185415"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Nhóm 6</a:t>
            </a:r>
          </a:p>
          <a:p>
            <a:pPr algn="ctr">
              <a:lnSpc>
                <a:spcPct val="110000"/>
              </a:lnSpc>
            </a:pPr>
            <a:r>
              <a:rPr sz="2000" b="1" i="0">
                <a:solidFill>
                  <a:srgbClr val="144FB0"/>
                </a:solidFill>
                <a:latin typeface="Helvetica"/>
              </a:rPr>
              <a:t>phân loại + sửa</a:t>
            </a:r>
          </a:p>
        </p:txBody>
      </p:sp>
      <p:sp>
        <p:nvSpPr>
          <p:cNvPr id="11" name="Right Arrow 10"/>
          <p:cNvSpPr/>
          <p:nvPr/>
        </p:nvSpPr>
        <p:spPr>
          <a:xfrm>
            <a:off x="5769864" y="2208276"/>
            <a:ext cx="393192" cy="292608"/>
          </a:xfrm>
          <a:prstGeom prst="rightArrow">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19" y="1783080"/>
            <a:ext cx="2331720" cy="1143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1" y="1856231"/>
            <a:ext cx="2185415"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Lean</a:t>
            </a:r>
          </a:p>
          <a:p>
            <a:pPr algn="ctr">
              <a:lnSpc>
                <a:spcPct val="110000"/>
              </a:lnSpc>
            </a:pPr>
            <a:r>
              <a:rPr sz="2000" b="1" i="0">
                <a:solidFill>
                  <a:srgbClr val="144FB0"/>
                </a:solidFill>
                <a:latin typeface="Helvetica"/>
              </a:rPr>
              <a:t>kiểm chứng</a:t>
            </a:r>
          </a:p>
        </p:txBody>
      </p:sp>
      <p:sp>
        <p:nvSpPr>
          <p:cNvPr id="14" name="Right Arrow 13"/>
          <p:cNvSpPr/>
          <p:nvPr/>
        </p:nvSpPr>
        <p:spPr>
          <a:xfrm>
            <a:off x="8604503" y="2208276"/>
            <a:ext cx="393192" cy="292608"/>
          </a:xfrm>
          <a:prstGeom prst="rightArrow">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52559" y="1783080"/>
            <a:ext cx="2331720" cy="1143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25711" y="1856231"/>
            <a:ext cx="2185415"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Nhóm 7 / 8</a:t>
            </a:r>
          </a:p>
          <a:p>
            <a:pPr algn="ctr">
              <a:lnSpc>
                <a:spcPct val="110000"/>
              </a:lnSpc>
            </a:pPr>
            <a:r>
              <a:rPr sz="2000" b="1" i="0">
                <a:solidFill>
                  <a:srgbClr val="144FB0"/>
                </a:solidFill>
                <a:latin typeface="Helvetica"/>
              </a:rPr>
              <a:t>chứng minh đúng</a:t>
            </a:r>
          </a:p>
        </p:txBody>
      </p:sp>
      <p:sp>
        <p:nvSpPr>
          <p:cNvPr id="17" name="TextBox 16"/>
          <p:cNvSpPr txBox="1"/>
          <p:nvPr/>
        </p:nvSpPr>
        <p:spPr>
          <a:xfrm>
            <a:off x="731520" y="3520440"/>
            <a:ext cx="3474720" cy="868680"/>
          </a:xfrm>
          <a:prstGeom prst="rect">
            <a:avLst/>
          </a:prstGeom>
          <a:noFill/>
        </p:spPr>
        <p:txBody>
          <a:bodyPr wrap="square" anchor="t" lIns="45720" rIns="45720" tIns="27432" bIns="27432">
            <a:spAutoFit/>
          </a:bodyPr>
          <a:lstStyle/>
          <a:p>
            <a:pPr algn="l">
              <a:lnSpc>
                <a:spcPct val="110000"/>
              </a:lnSpc>
            </a:pPr>
            <a:r>
              <a:rPr sz="4800" b="1" i="0">
                <a:solidFill>
                  <a:srgbClr val="1E6FE8"/>
                </a:solidFill>
                <a:latin typeface="Helvetica"/>
              </a:rPr>
              <a:t>63–107 s</a:t>
            </a:r>
          </a:p>
        </p:txBody>
      </p:sp>
      <p:sp>
        <p:nvSpPr>
          <p:cNvPr id="18" name="TextBox 17"/>
          <p:cNvSpPr txBox="1"/>
          <p:nvPr/>
        </p:nvSpPr>
        <p:spPr>
          <a:xfrm>
            <a:off x="731520" y="4389120"/>
            <a:ext cx="347472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kiểm chứng nguội 1 tệp, nạp Mathlib</a:t>
            </a:r>
          </a:p>
        </p:txBody>
      </p:sp>
      <p:sp>
        <p:nvSpPr>
          <p:cNvPr id="19" name="TextBox 18"/>
          <p:cNvSpPr txBox="1"/>
          <p:nvPr/>
        </p:nvSpPr>
        <p:spPr>
          <a:xfrm>
            <a:off x="4526280" y="3520440"/>
            <a:ext cx="3474720" cy="868680"/>
          </a:xfrm>
          <a:prstGeom prst="rect">
            <a:avLst/>
          </a:prstGeom>
          <a:noFill/>
        </p:spPr>
        <p:txBody>
          <a:bodyPr wrap="square" anchor="t" lIns="45720" rIns="45720" tIns="27432" bIns="27432">
            <a:spAutoFit/>
          </a:bodyPr>
          <a:lstStyle/>
          <a:p>
            <a:pPr algn="l">
              <a:lnSpc>
                <a:spcPct val="110000"/>
              </a:lnSpc>
            </a:pPr>
            <a:r>
              <a:rPr sz="4800" b="1" i="0">
                <a:solidFill>
                  <a:srgbClr val="1E6FE8"/>
                </a:solidFill>
                <a:latin typeface="Helvetica"/>
              </a:rPr>
              <a:t>10.000</a:t>
            </a:r>
          </a:p>
        </p:txBody>
      </p:sp>
      <p:sp>
        <p:nvSpPr>
          <p:cNvPr id="20" name="TextBox 19"/>
          <p:cNvSpPr txBox="1"/>
          <p:nvPr/>
        </p:nvSpPr>
        <p:spPr>
          <a:xfrm>
            <a:off x="4526280" y="4389120"/>
            <a:ext cx="347472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ứng viên ở mức lớn nhất</a:t>
            </a:r>
          </a:p>
        </p:txBody>
      </p:sp>
      <p:sp>
        <p:nvSpPr>
          <p:cNvPr id="21" name="TextBox 20"/>
          <p:cNvSpPr txBox="1"/>
          <p:nvPr/>
        </p:nvSpPr>
        <p:spPr>
          <a:xfrm>
            <a:off x="8321040" y="3520440"/>
            <a:ext cx="3291840" cy="868680"/>
          </a:xfrm>
          <a:prstGeom prst="rect">
            <a:avLst/>
          </a:prstGeom>
          <a:noFill/>
        </p:spPr>
        <p:txBody>
          <a:bodyPr wrap="square" anchor="t" lIns="45720" rIns="45720" tIns="27432" bIns="27432">
            <a:spAutoFit/>
          </a:bodyPr>
          <a:lstStyle/>
          <a:p>
            <a:pPr algn="l">
              <a:lnSpc>
                <a:spcPct val="110000"/>
              </a:lnSpc>
            </a:pPr>
            <a:r>
              <a:rPr sz="4800" b="1" i="0">
                <a:solidFill>
                  <a:srgbClr val="144FB0"/>
                </a:solidFill>
                <a:latin typeface="Helvetica"/>
              </a:rPr>
              <a:t>~1.000</a:t>
            </a:r>
          </a:p>
        </p:txBody>
      </p:sp>
      <p:sp>
        <p:nvSpPr>
          <p:cNvPr id="22" name="TextBox 21"/>
          <p:cNvSpPr txBox="1"/>
          <p:nvPr/>
        </p:nvSpPr>
        <p:spPr>
          <a:xfrm>
            <a:off x="8321040" y="4389120"/>
            <a:ext cx="329184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token mỗi lần LLM sửa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463040" y="4023360"/>
            <a:ext cx="3840480" cy="384048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54864" y="60350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Nhóm đã làm gì: dữ liệu, vòng sửa có kiểm toán, kiểm chứng nhanh, kiểm soát chi phí</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3</a:t>
            </a:r>
          </a:p>
        </p:txBody>
      </p:sp>
      <p:sp>
        <p:nvSpPr>
          <p:cNvPr id="6" name="Rounded Rectangle 5"/>
          <p:cNvSpPr/>
          <p:nvPr/>
        </p:nvSpPr>
        <p:spPr>
          <a:xfrm>
            <a:off x="548640" y="1783080"/>
            <a:ext cx="2651760" cy="310896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47672"/>
            <a:ext cx="21945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Dữ liệu</a:t>
            </a:r>
          </a:p>
        </p:txBody>
      </p:sp>
      <p:sp>
        <p:nvSpPr>
          <p:cNvPr id="8" name="TextBox 7"/>
          <p:cNvSpPr txBox="1"/>
          <p:nvPr/>
        </p:nvSpPr>
        <p:spPr>
          <a:xfrm>
            <a:off x="777240" y="2514600"/>
            <a:ext cx="2194560" cy="2240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000" b="0" i="0">
                <a:solidFill>
                  <a:srgbClr val="0F1C3F"/>
                </a:solidFill>
                <a:latin typeface="Helvetica"/>
              </a:rPr>
              <a:t>17.031 mẫu lỗi</a:t>
            </a:r>
          </a:p>
          <a:p>
            <a:pPr marL="292608" indent="-292608">
              <a:lnSpc>
                <a:spcPct val="108000"/>
              </a:lnSpc>
              <a:spcAft>
                <a:spcPts val="600"/>
              </a:spcAft>
              <a:buClr>
                <a:srgbClr val="1E6FE8"/>
              </a:buClr>
              <a:buFont typeface="Helvetica"/>
              <a:buChar char="•"/>
            </a:pPr>
            <a:r>
              <a:rPr sz="2000" b="0" i="0">
                <a:solidFill>
                  <a:srgbClr val="0F1C3F"/>
                </a:solidFill>
                <a:latin typeface="Helvetica"/>
              </a:rPr>
              <a:t>Nhãn từ Lean</a:t>
            </a:r>
          </a:p>
        </p:txBody>
      </p:sp>
      <p:sp>
        <p:nvSpPr>
          <p:cNvPr id="9" name="Rounded Rectangle 8"/>
          <p:cNvSpPr/>
          <p:nvPr/>
        </p:nvSpPr>
        <p:spPr>
          <a:xfrm>
            <a:off x="3337560" y="1783080"/>
            <a:ext cx="2651760" cy="310896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947672"/>
            <a:ext cx="21945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Vòng sửa</a:t>
            </a:r>
          </a:p>
        </p:txBody>
      </p:sp>
      <p:sp>
        <p:nvSpPr>
          <p:cNvPr id="11" name="TextBox 10"/>
          <p:cNvSpPr txBox="1"/>
          <p:nvPr/>
        </p:nvSpPr>
        <p:spPr>
          <a:xfrm>
            <a:off x="3566160" y="2514600"/>
            <a:ext cx="2194560" cy="2240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000" b="0" i="0">
                <a:solidFill>
                  <a:srgbClr val="0F1C3F"/>
                </a:solidFill>
                <a:latin typeface="Helvetica"/>
              </a:rPr>
              <a:t>Luật hoặc LLM</a:t>
            </a:r>
          </a:p>
          <a:p>
            <a:pPr marL="292608" indent="-292608">
              <a:lnSpc>
                <a:spcPct val="108000"/>
              </a:lnSpc>
              <a:spcAft>
                <a:spcPts val="600"/>
              </a:spcAft>
              <a:buClr>
                <a:srgbClr val="1E6FE8"/>
              </a:buClr>
              <a:buFont typeface="Helvetica"/>
              <a:buChar char="•"/>
            </a:pPr>
            <a:r>
              <a:rPr sz="2000" b="0" i="0">
                <a:solidFill>
                  <a:srgbClr val="0F1C3F"/>
                </a:solidFill>
                <a:latin typeface="Helvetica"/>
              </a:rPr>
              <a:t>Kiểm toán, ≤ 3 lần</a:t>
            </a:r>
          </a:p>
        </p:txBody>
      </p:sp>
      <p:sp>
        <p:nvSpPr>
          <p:cNvPr id="12" name="Rounded Rectangle 11"/>
          <p:cNvSpPr/>
          <p:nvPr/>
        </p:nvSpPr>
        <p:spPr>
          <a:xfrm>
            <a:off x="6126479" y="1783080"/>
            <a:ext cx="2651760" cy="310896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1947672"/>
            <a:ext cx="21945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Kiểm chứng</a:t>
            </a:r>
          </a:p>
        </p:txBody>
      </p:sp>
      <p:sp>
        <p:nvSpPr>
          <p:cNvPr id="14" name="TextBox 13"/>
          <p:cNvSpPr txBox="1"/>
          <p:nvPr/>
        </p:nvSpPr>
        <p:spPr>
          <a:xfrm>
            <a:off x="6355079" y="2514600"/>
            <a:ext cx="2194560" cy="2240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000" b="0" i="0">
                <a:solidFill>
                  <a:srgbClr val="0F1C3F"/>
                </a:solidFill>
                <a:latin typeface="Helvetica"/>
              </a:rPr>
              <a:t>Lean chạy liên tục</a:t>
            </a:r>
          </a:p>
          <a:p>
            <a:pPr marL="292608" indent="-292608">
              <a:lnSpc>
                <a:spcPct val="108000"/>
              </a:lnSpc>
              <a:spcAft>
                <a:spcPts val="600"/>
              </a:spcAft>
              <a:buClr>
                <a:srgbClr val="1E6FE8"/>
              </a:buClr>
              <a:buFont typeface="Helvetica"/>
              <a:buChar char="•"/>
            </a:pPr>
            <a:r>
              <a:rPr sz="2000" b="0" i="0">
                <a:solidFill>
                  <a:srgbClr val="0F1C3F"/>
                </a:solidFill>
                <a:latin typeface="Helvetica"/>
              </a:rPr>
              <a:t>Nhiều worker</a:t>
            </a:r>
          </a:p>
        </p:txBody>
      </p:sp>
      <p:sp>
        <p:nvSpPr>
          <p:cNvPr id="15" name="Rounded Rectangle 14"/>
          <p:cNvSpPr/>
          <p:nvPr/>
        </p:nvSpPr>
        <p:spPr>
          <a:xfrm>
            <a:off x="8915399" y="1783080"/>
            <a:ext cx="2651760" cy="310896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3999" y="1947672"/>
            <a:ext cx="21945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Chi phí</a:t>
            </a:r>
          </a:p>
        </p:txBody>
      </p:sp>
      <p:sp>
        <p:nvSpPr>
          <p:cNvPr id="17" name="TextBox 16"/>
          <p:cNvSpPr txBox="1"/>
          <p:nvPr/>
        </p:nvSpPr>
        <p:spPr>
          <a:xfrm>
            <a:off x="9143999" y="2514600"/>
            <a:ext cx="2194560" cy="2240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000" b="0" i="0">
                <a:solidFill>
                  <a:srgbClr val="0F1C3F"/>
                </a:solidFill>
                <a:latin typeface="Helvetica"/>
              </a:rPr>
              <a:t>Trần 8 USD/tháng</a:t>
            </a:r>
          </a:p>
          <a:p>
            <a:pPr marL="292608" indent="-292608">
              <a:lnSpc>
                <a:spcPct val="108000"/>
              </a:lnSpc>
              <a:spcAft>
                <a:spcPts val="600"/>
              </a:spcAft>
              <a:buClr>
                <a:srgbClr val="1E6FE8"/>
              </a:buClr>
              <a:buFont typeface="Helvetica"/>
              <a:buChar char="•"/>
            </a:pPr>
            <a:r>
              <a:rPr sz="2000" b="0" i="0">
                <a:solidFill>
                  <a:srgbClr val="0F1C3F"/>
                </a:solidFill>
                <a:latin typeface="Helvetica"/>
              </a:rPr>
              <a:t>Ghi mọi lần chạy</a:t>
            </a:r>
          </a:p>
        </p:txBody>
      </p:sp>
      <p:sp>
        <p:nvSpPr>
          <p:cNvPr id="18" name="TextBox 17"/>
          <p:cNvSpPr txBox="1"/>
          <p:nvPr/>
        </p:nvSpPr>
        <p:spPr>
          <a:xfrm>
            <a:off x="548640" y="5257800"/>
            <a:ext cx="11064240" cy="731520"/>
          </a:xfrm>
          <a:prstGeom prst="rect">
            <a:avLst/>
          </a:prstGeom>
          <a:noFill/>
        </p:spPr>
        <p:txBody>
          <a:bodyPr wrap="square" anchor="t" lIns="45720" rIns="45720" tIns="27432" bIns="27432">
            <a:spAutoFit/>
          </a:bodyPr>
          <a:lstStyle/>
          <a:p>
            <a:pPr algn="l">
              <a:lnSpc>
                <a:spcPct val="110000"/>
              </a:lnSpc>
            </a:pPr>
            <a:r>
              <a:rPr sz="2000" b="1" i="0">
                <a:solidFill>
                  <a:srgbClr val="144FB0"/>
                </a:solidFill>
                <a:latin typeface="Helvetica"/>
              </a:rPr>
              <a:t>Thực nghiệm: </a:t>
            </a:r>
            <a:r>
              <a:rPr sz="2000" b="0" i="0">
                <a:solidFill>
                  <a:srgbClr val="0F1C3F"/>
                </a:solidFill>
                <a:latin typeface="Helvetica"/>
              </a:rPr>
              <a:t>Kaggle 4 vCPU · 100 / 1K / 10K mẫu · lặp 3 lần · Gemini 3.5 Flash-Lite</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9966960" y="420624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704320" y="32918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RQ1: thông báo lỗi tăng 22 điểm % và còn rẻ hơn 45%</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4</a:t>
            </a:r>
          </a:p>
        </p:txBody>
      </p:sp>
      <p:pic>
        <p:nvPicPr>
          <p:cNvPr id="6" name="Picture 5" descr="fig_rq1_category_slide.png"/>
          <p:cNvPicPr>
            <a:picLocks noChangeAspect="1"/>
          </p:cNvPicPr>
          <p:nvPr/>
        </p:nvPicPr>
        <p:blipFill>
          <a:blip r:embed="rId3"/>
          <a:stretch>
            <a:fillRect/>
          </a:stretch>
        </p:blipFill>
        <p:spPr>
          <a:xfrm>
            <a:off x="457200" y="1783080"/>
            <a:ext cx="7680960" cy="3970116"/>
          </a:xfrm>
          <a:prstGeom prst="rect">
            <a:avLst/>
          </a:prstGeom>
        </p:spPr>
      </p:pic>
      <p:sp>
        <p:nvSpPr>
          <p:cNvPr id="7" name="TextBox 6"/>
          <p:cNvSpPr txBox="1"/>
          <p:nvPr/>
        </p:nvSpPr>
        <p:spPr>
          <a:xfrm>
            <a:off x="8412480" y="173736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144FB0"/>
                </a:solidFill>
                <a:latin typeface="Helvetica"/>
              </a:rPr>
              <a:t>53,9%</a:t>
            </a:r>
          </a:p>
        </p:txBody>
      </p:sp>
      <p:sp>
        <p:nvSpPr>
          <p:cNvPr id="8" name="TextBox 7"/>
          <p:cNvSpPr txBox="1"/>
          <p:nvPr/>
        </p:nvSpPr>
        <p:spPr>
          <a:xfrm>
            <a:off x="8412480" y="2395728"/>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thành công k=1, baseline 31,7%</a:t>
            </a:r>
          </a:p>
        </p:txBody>
      </p:sp>
      <p:sp>
        <p:nvSpPr>
          <p:cNvPr id="9" name="TextBox 8"/>
          <p:cNvSpPr txBox="1"/>
          <p:nvPr/>
        </p:nvSpPr>
        <p:spPr>
          <a:xfrm>
            <a:off x="8412480" y="320040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1E6FE8"/>
                </a:solidFill>
                <a:latin typeface="Helvetica"/>
              </a:rPr>
              <a:t>$1,13</a:t>
            </a:r>
          </a:p>
        </p:txBody>
      </p:sp>
      <p:sp>
        <p:nvSpPr>
          <p:cNvPr id="10" name="TextBox 9"/>
          <p:cNvSpPr txBox="1"/>
          <p:nvPr/>
        </p:nvSpPr>
        <p:spPr>
          <a:xfrm>
            <a:off x="8412480" y="3858768"/>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mỗi 1.000 mẫu, baseline $2,05</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9692640" y="-2194560"/>
            <a:ext cx="4206240" cy="420624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20140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RQ2: LLM thử 3 lần đạt 65,1%; luật chỉ tốt với lỗi đơn giản</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5</a:t>
            </a:r>
          </a:p>
        </p:txBody>
      </p:sp>
      <p:pic>
        <p:nvPicPr>
          <p:cNvPr id="6" name="Picture 5" descr="fig_cost_quality_slide.png"/>
          <p:cNvPicPr>
            <a:picLocks noChangeAspect="1"/>
          </p:cNvPicPr>
          <p:nvPr/>
        </p:nvPicPr>
        <p:blipFill>
          <a:blip r:embed="rId3"/>
          <a:stretch>
            <a:fillRect/>
          </a:stretch>
        </p:blipFill>
        <p:spPr>
          <a:xfrm>
            <a:off x="457200" y="1691640"/>
            <a:ext cx="7680960" cy="4416255"/>
          </a:xfrm>
          <a:prstGeom prst="rect">
            <a:avLst/>
          </a:prstGeom>
        </p:spPr>
      </p:pic>
      <p:sp>
        <p:nvSpPr>
          <p:cNvPr id="7" name="TextBox 6"/>
          <p:cNvSpPr txBox="1"/>
          <p:nvPr/>
        </p:nvSpPr>
        <p:spPr>
          <a:xfrm>
            <a:off x="8412480" y="173736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144FB0"/>
                </a:solidFill>
                <a:latin typeface="Helvetica"/>
              </a:rPr>
              <a:t>65,1%</a:t>
            </a:r>
          </a:p>
        </p:txBody>
      </p:sp>
      <p:sp>
        <p:nvSpPr>
          <p:cNvPr id="8" name="TextBox 7"/>
          <p:cNvSpPr txBox="1"/>
          <p:nvPr/>
        </p:nvSpPr>
        <p:spPr>
          <a:xfrm>
            <a:off x="8412480" y="2395728"/>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LLM k=3, $2,45 / 1K mẫu</a:t>
            </a:r>
          </a:p>
        </p:txBody>
      </p:sp>
      <p:sp>
        <p:nvSpPr>
          <p:cNvPr id="9" name="TextBox 8"/>
          <p:cNvSpPr txBox="1"/>
          <p:nvPr/>
        </p:nvSpPr>
        <p:spPr>
          <a:xfrm>
            <a:off x="8412480" y="320040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1E6FE8"/>
                </a:solidFill>
                <a:latin typeface="Helvetica"/>
              </a:rPr>
              <a:t>97–100%</a:t>
            </a:r>
          </a:p>
        </p:txBody>
      </p:sp>
      <p:sp>
        <p:nvSpPr>
          <p:cNvPr id="10" name="TextBox 9"/>
          <p:cNvSpPr txBox="1"/>
          <p:nvPr/>
        </p:nvSpPr>
        <p:spPr>
          <a:xfrm>
            <a:off x="8412480" y="3858768"/>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luật với thiếu import, timeout</a:t>
            </a:r>
          </a:p>
        </p:txBody>
      </p:sp>
      <p:sp>
        <p:nvSpPr>
          <p:cNvPr id="11" name="TextBox 10"/>
          <p:cNvSpPr txBox="1"/>
          <p:nvPr/>
        </p:nvSpPr>
        <p:spPr>
          <a:xfrm>
            <a:off x="8412480" y="466344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5B6B82"/>
                </a:solidFill>
                <a:latin typeface="Helvetica"/>
              </a:rPr>
              <a:t>23,9%</a:t>
            </a:r>
          </a:p>
        </p:txBody>
      </p:sp>
      <p:sp>
        <p:nvSpPr>
          <p:cNvPr id="12" name="TextBox 11"/>
          <p:cNvSpPr txBox="1"/>
          <p:nvPr/>
        </p:nvSpPr>
        <p:spPr>
          <a:xfrm>
            <a:off x="8412480" y="5321807"/>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chỉ dùng luật, $0</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828800" y="-182880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54864" y="310896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RQ3: REPL nhanh 3–4 bậc; 4 worker chỉ nhanh 1,88× vì nghẽn CPU</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6</a:t>
            </a:r>
          </a:p>
        </p:txBody>
      </p:sp>
      <p:pic>
        <p:nvPicPr>
          <p:cNvPr id="6" name="Picture 5" descr="fig_scale_speedup_slide.png"/>
          <p:cNvPicPr>
            <a:picLocks noChangeAspect="1"/>
          </p:cNvPicPr>
          <p:nvPr/>
        </p:nvPicPr>
        <p:blipFill>
          <a:blip r:embed="rId3"/>
          <a:stretch>
            <a:fillRect/>
          </a:stretch>
        </p:blipFill>
        <p:spPr>
          <a:xfrm>
            <a:off x="457200" y="1645920"/>
            <a:ext cx="5760720" cy="4470723"/>
          </a:xfrm>
          <a:prstGeom prst="rect">
            <a:avLst/>
          </a:prstGeom>
        </p:spPr>
      </p:pic>
      <p:sp>
        <p:nvSpPr>
          <p:cNvPr id="7" name="TextBox 6"/>
          <p:cNvSpPr txBox="1"/>
          <p:nvPr/>
        </p:nvSpPr>
        <p:spPr>
          <a:xfrm>
            <a:off x="6583680" y="173736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144FB0"/>
                </a:solidFill>
                <a:latin typeface="Helvetica"/>
              </a:rPr>
              <a:t>3 ms · 23 ms</a:t>
            </a:r>
          </a:p>
        </p:txBody>
      </p:sp>
      <p:sp>
        <p:nvSpPr>
          <p:cNvPr id="8" name="TextBox 7"/>
          <p:cNvSpPr txBox="1"/>
          <p:nvPr/>
        </p:nvSpPr>
        <p:spPr>
          <a:xfrm>
            <a:off x="6583680" y="2395728"/>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P50 · P95 với REPL, nguội 63–107 s</a:t>
            </a:r>
          </a:p>
        </p:txBody>
      </p:sp>
      <p:sp>
        <p:nvSpPr>
          <p:cNvPr id="9" name="TextBox 8"/>
          <p:cNvSpPr txBox="1"/>
          <p:nvPr/>
        </p:nvSpPr>
        <p:spPr>
          <a:xfrm>
            <a:off x="6583680" y="320040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1E6FE8"/>
                </a:solidFill>
                <a:latin typeface="Helvetica"/>
              </a:rPr>
              <a:t>1,52 → 2,86</a:t>
            </a:r>
          </a:p>
        </p:txBody>
      </p:sp>
      <p:sp>
        <p:nvSpPr>
          <p:cNvPr id="10" name="TextBox 9"/>
          <p:cNvSpPr txBox="1"/>
          <p:nvPr/>
        </p:nvSpPr>
        <p:spPr>
          <a:xfrm>
            <a:off x="6583680" y="3858768"/>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mẫu/s ở 10K, từ 1 lên 4 worker</a:t>
            </a:r>
          </a:p>
        </p:txBody>
      </p:sp>
      <p:sp>
        <p:nvSpPr>
          <p:cNvPr id="11" name="TextBox 10"/>
          <p:cNvSpPr txBox="1"/>
          <p:nvPr/>
        </p:nvSpPr>
        <p:spPr>
          <a:xfrm>
            <a:off x="6583680" y="4663440"/>
            <a:ext cx="3291840" cy="685800"/>
          </a:xfrm>
          <a:prstGeom prst="rect">
            <a:avLst/>
          </a:prstGeom>
          <a:noFill/>
        </p:spPr>
        <p:txBody>
          <a:bodyPr wrap="square" anchor="t" lIns="45720" rIns="45720" tIns="27432" bIns="27432">
            <a:spAutoFit/>
          </a:bodyPr>
          <a:lstStyle/>
          <a:p>
            <a:pPr algn="l">
              <a:lnSpc>
                <a:spcPct val="110000"/>
              </a:lnSpc>
            </a:pPr>
            <a:r>
              <a:rPr sz="3600" b="1" i="0">
                <a:solidFill>
                  <a:srgbClr val="144FB0"/>
                </a:solidFill>
                <a:latin typeface="Helvetica"/>
              </a:rPr>
              <a:t>1,76× · 1,88×</a:t>
            </a:r>
          </a:p>
        </p:txBody>
      </p:sp>
      <p:sp>
        <p:nvSpPr>
          <p:cNvPr id="12" name="TextBox 11"/>
          <p:cNvSpPr txBox="1"/>
          <p:nvPr/>
        </p:nvSpPr>
        <p:spPr>
          <a:xfrm>
            <a:off x="6583680" y="5321807"/>
            <a:ext cx="3291840" cy="73152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tăng tốc với 2 · 4 worker</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9966960" y="4389120"/>
            <a:ext cx="3474720" cy="347472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704320" y="384048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Kiểm toán là bắt buộc: không có nó, tỷ lệ thành công bị thổi phồng</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7</a:t>
            </a:r>
          </a:p>
        </p:txBody>
      </p:sp>
      <p:sp>
        <p:nvSpPr>
          <p:cNvPr id="6" name="TextBox 5"/>
          <p:cNvSpPr txBox="1"/>
          <p:nvPr/>
        </p:nvSpPr>
        <p:spPr>
          <a:xfrm>
            <a:off x="731520" y="1828800"/>
            <a:ext cx="3474720" cy="868680"/>
          </a:xfrm>
          <a:prstGeom prst="rect">
            <a:avLst/>
          </a:prstGeom>
          <a:noFill/>
        </p:spPr>
        <p:txBody>
          <a:bodyPr wrap="square" anchor="t" lIns="45720" rIns="45720" tIns="27432" bIns="27432">
            <a:spAutoFit/>
          </a:bodyPr>
          <a:lstStyle/>
          <a:p>
            <a:pPr algn="l">
              <a:lnSpc>
                <a:spcPct val="110000"/>
              </a:lnSpc>
            </a:pPr>
            <a:r>
              <a:rPr sz="4800" b="1" i="0">
                <a:solidFill>
                  <a:srgbClr val="5B6B82"/>
                </a:solidFill>
                <a:latin typeface="Helvetica"/>
              </a:rPr>
              <a:t>75,0%</a:t>
            </a:r>
          </a:p>
        </p:txBody>
      </p:sp>
      <p:sp>
        <p:nvSpPr>
          <p:cNvPr id="7" name="TextBox 6"/>
          <p:cNvSpPr txBox="1"/>
          <p:nvPr/>
        </p:nvSpPr>
        <p:spPr>
          <a:xfrm>
            <a:off x="731520" y="2697480"/>
            <a:ext cx="347472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Lean chấp nhận, LLM k=3</a:t>
            </a:r>
          </a:p>
        </p:txBody>
      </p:sp>
      <p:sp>
        <p:nvSpPr>
          <p:cNvPr id="8" name="TextBox 7"/>
          <p:cNvSpPr txBox="1"/>
          <p:nvPr/>
        </p:nvSpPr>
        <p:spPr>
          <a:xfrm>
            <a:off x="4389120" y="1828800"/>
            <a:ext cx="3474720" cy="868680"/>
          </a:xfrm>
          <a:prstGeom prst="rect">
            <a:avLst/>
          </a:prstGeom>
          <a:noFill/>
        </p:spPr>
        <p:txBody>
          <a:bodyPr wrap="square" anchor="t" lIns="45720" rIns="45720" tIns="27432" bIns="27432">
            <a:spAutoFit/>
          </a:bodyPr>
          <a:lstStyle/>
          <a:p>
            <a:pPr algn="l">
              <a:lnSpc>
                <a:spcPct val="110000"/>
              </a:lnSpc>
            </a:pPr>
            <a:r>
              <a:rPr sz="4800" b="1" i="0">
                <a:solidFill>
                  <a:srgbClr val="144FB0"/>
                </a:solidFill>
                <a:latin typeface="Helvetica"/>
              </a:rPr>
              <a:t>65,1%</a:t>
            </a:r>
          </a:p>
        </p:txBody>
      </p:sp>
      <p:sp>
        <p:nvSpPr>
          <p:cNvPr id="9" name="TextBox 8"/>
          <p:cNvSpPr txBox="1"/>
          <p:nvPr/>
        </p:nvSpPr>
        <p:spPr>
          <a:xfrm>
            <a:off x="4389120" y="2697480"/>
            <a:ext cx="347472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thành công thật sau kiểm toán</a:t>
            </a:r>
          </a:p>
        </p:txBody>
      </p:sp>
      <p:sp>
        <p:nvSpPr>
          <p:cNvPr id="10" name="TextBox 9"/>
          <p:cNvSpPr txBox="1"/>
          <p:nvPr/>
        </p:nvSpPr>
        <p:spPr>
          <a:xfrm>
            <a:off x="8046720" y="1828800"/>
            <a:ext cx="3566160" cy="868680"/>
          </a:xfrm>
          <a:prstGeom prst="rect">
            <a:avLst/>
          </a:prstGeom>
          <a:noFill/>
        </p:spPr>
        <p:txBody>
          <a:bodyPr wrap="square" anchor="t" lIns="45720" rIns="45720" tIns="27432" bIns="27432">
            <a:spAutoFit/>
          </a:bodyPr>
          <a:lstStyle/>
          <a:p>
            <a:pPr algn="l">
              <a:lnSpc>
                <a:spcPct val="110000"/>
              </a:lnSpc>
            </a:pPr>
            <a:r>
              <a:rPr sz="4800" b="1" i="0">
                <a:solidFill>
                  <a:srgbClr val="1E6FE8"/>
                </a:solidFill>
                <a:latin typeface="Helvetica"/>
              </a:rPr>
              <a:t>17–26%</a:t>
            </a:r>
          </a:p>
        </p:txBody>
      </p:sp>
      <p:sp>
        <p:nvSpPr>
          <p:cNvPr id="11" name="TextBox 10"/>
          <p:cNvSpPr txBox="1"/>
          <p:nvPr/>
        </p:nvSpPr>
        <p:spPr>
          <a:xfrm>
            <a:off x="8046720" y="2697480"/>
            <a:ext cx="356616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bản sửa thất bại đã đổi đề</a:t>
            </a:r>
          </a:p>
        </p:txBody>
      </p:sp>
      <p:sp>
        <p:nvSpPr>
          <p:cNvPr id="12" name="Rounded Rectangle 11"/>
          <p:cNvSpPr/>
          <p:nvPr/>
        </p:nvSpPr>
        <p:spPr>
          <a:xfrm>
            <a:off x="731520" y="3977639"/>
            <a:ext cx="10881360" cy="196596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42231"/>
            <a:ext cx="104241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Kiểm toán chặn</a:t>
            </a:r>
          </a:p>
        </p:txBody>
      </p:sp>
      <p:sp>
        <p:nvSpPr>
          <p:cNvPr id="14" name="TextBox 13"/>
          <p:cNvSpPr txBox="1"/>
          <p:nvPr/>
        </p:nvSpPr>
        <p:spPr>
          <a:xfrm>
            <a:off x="960120" y="4709159"/>
            <a:ext cx="10424160" cy="1097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sorry, admit, axiom, native_decide</a:t>
            </a:r>
          </a:p>
          <a:p>
            <a:pPr marL="292608" indent="-292608">
              <a:lnSpc>
                <a:spcPct val="108000"/>
              </a:lnSpc>
              <a:spcAft>
                <a:spcPts val="600"/>
              </a:spcAft>
              <a:buClr>
                <a:srgbClr val="1E6FE8"/>
              </a:buClr>
              <a:buFont typeface="Helvetica"/>
              <a:buChar char="•"/>
            </a:pPr>
            <a:r>
              <a:rPr sz="2100" b="0" i="0">
                <a:solidFill>
                  <a:srgbClr val="0F1C3F"/>
                </a:solidFill>
                <a:latin typeface="Helvetica"/>
              </a:rPr>
              <a:t>Thay đổi tên, giả thiết hoặc kết luận của định lý</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0241280" y="-2011680"/>
            <a:ext cx="3840480" cy="384048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24712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Kết luận: chẩn đoán, kiểm toán, REPL thường trú; sẵn sàng nhận dữ liệu Nhóm 5</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8</a:t>
            </a:r>
          </a:p>
        </p:txBody>
      </p:sp>
      <p:sp>
        <p:nvSpPr>
          <p:cNvPr id="6" name="Rounded Rectangle 5"/>
          <p:cNvSpPr/>
          <p:nvPr/>
        </p:nvSpPr>
        <p:spPr>
          <a:xfrm>
            <a:off x="548640" y="1737360"/>
            <a:ext cx="6766560" cy="42062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01952"/>
            <a:ext cx="63093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Ba bài học</a:t>
            </a:r>
          </a:p>
        </p:txBody>
      </p:sp>
      <p:sp>
        <p:nvSpPr>
          <p:cNvPr id="8" name="TextBox 7"/>
          <p:cNvSpPr txBox="1"/>
          <p:nvPr/>
        </p:nvSpPr>
        <p:spPr>
          <a:xfrm>
            <a:off x="777240" y="2468880"/>
            <a:ext cx="6309360" cy="333755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Thông báo lỗi: tốt hơn và rẻ hơn</a:t>
            </a:r>
          </a:p>
          <a:p>
            <a:pPr marL="292608" indent="-292608">
              <a:lnSpc>
                <a:spcPct val="108000"/>
              </a:lnSpc>
              <a:spcAft>
                <a:spcPts val="600"/>
              </a:spcAft>
              <a:buClr>
                <a:srgbClr val="1E6FE8"/>
              </a:buClr>
              <a:buFont typeface="Helvetica"/>
              <a:buChar char="•"/>
            </a:pPr>
            <a:r>
              <a:rPr sz="2100" b="0" i="0">
                <a:solidFill>
                  <a:srgbClr val="0F1C3F"/>
                </a:solidFill>
                <a:latin typeface="Helvetica"/>
              </a:rPr>
              <a:t>Kiểm toán ngữ nghĩa là bắt buộc</a:t>
            </a:r>
          </a:p>
          <a:p>
            <a:pPr marL="292608" indent="-292608">
              <a:lnSpc>
                <a:spcPct val="108000"/>
              </a:lnSpc>
              <a:spcAft>
                <a:spcPts val="600"/>
              </a:spcAft>
              <a:buClr>
                <a:srgbClr val="1E6FE8"/>
              </a:buClr>
              <a:buFont typeface="Helvetica"/>
              <a:buChar char="•"/>
            </a:pPr>
            <a:r>
              <a:rPr sz="2100" b="0" i="0">
                <a:solidFill>
                  <a:srgbClr val="0F1C3F"/>
                </a:solidFill>
                <a:latin typeface="Helvetica"/>
              </a:rPr>
              <a:t>Kiểm chứng cần chạy liên tục, lập lịch</a:t>
            </a:r>
          </a:p>
        </p:txBody>
      </p:sp>
      <p:sp>
        <p:nvSpPr>
          <p:cNvPr id="9" name="TextBox 8"/>
          <p:cNvSpPr txBox="1"/>
          <p:nvPr/>
        </p:nvSpPr>
        <p:spPr>
          <a:xfrm>
            <a:off x="7772400" y="1783080"/>
            <a:ext cx="3840480" cy="868680"/>
          </a:xfrm>
          <a:prstGeom prst="rect">
            <a:avLst/>
          </a:prstGeom>
          <a:noFill/>
        </p:spPr>
        <p:txBody>
          <a:bodyPr wrap="square" anchor="t" lIns="45720" rIns="45720" tIns="27432" bIns="27432">
            <a:spAutoFit/>
          </a:bodyPr>
          <a:lstStyle/>
          <a:p>
            <a:pPr algn="l">
              <a:lnSpc>
                <a:spcPct val="110000"/>
              </a:lnSpc>
            </a:pPr>
            <a:r>
              <a:rPr sz="4800" b="1" i="0">
                <a:solidFill>
                  <a:srgbClr val="144FB0"/>
                </a:solidFill>
                <a:latin typeface="Helvetica"/>
              </a:rPr>
              <a:t>$2,97</a:t>
            </a:r>
          </a:p>
        </p:txBody>
      </p:sp>
      <p:sp>
        <p:nvSpPr>
          <p:cNvPr id="10" name="TextBox 9"/>
          <p:cNvSpPr txBox="1"/>
          <p:nvPr/>
        </p:nvSpPr>
        <p:spPr>
          <a:xfrm>
            <a:off x="7772400" y="2651760"/>
            <a:ext cx="384048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toàn bộ thực nghiệm</a:t>
            </a:r>
          </a:p>
        </p:txBody>
      </p:sp>
      <p:sp>
        <p:nvSpPr>
          <p:cNvPr id="11" name="TextBox 10"/>
          <p:cNvSpPr txBox="1"/>
          <p:nvPr/>
        </p:nvSpPr>
        <p:spPr>
          <a:xfrm>
            <a:off x="7772400" y="3703320"/>
            <a:ext cx="3840480" cy="868680"/>
          </a:xfrm>
          <a:prstGeom prst="rect">
            <a:avLst/>
          </a:prstGeom>
          <a:noFill/>
        </p:spPr>
        <p:txBody>
          <a:bodyPr wrap="square" anchor="t" lIns="45720" rIns="45720" tIns="27432" bIns="27432">
            <a:spAutoFit/>
          </a:bodyPr>
          <a:lstStyle/>
          <a:p>
            <a:pPr algn="l">
              <a:lnSpc>
                <a:spcPct val="110000"/>
              </a:lnSpc>
            </a:pPr>
            <a:r>
              <a:rPr sz="4800" b="1" i="0">
                <a:solidFill>
                  <a:srgbClr val="1E6FE8"/>
                </a:solidFill>
                <a:latin typeface="Helvetica"/>
              </a:rPr>
              <a:t>6 / 6</a:t>
            </a:r>
          </a:p>
        </p:txBody>
      </p:sp>
      <p:sp>
        <p:nvSpPr>
          <p:cNvPr id="12" name="TextBox 11"/>
          <p:cNvSpPr txBox="1"/>
          <p:nvPr/>
        </p:nvSpPr>
        <p:spPr>
          <a:xfrm>
            <a:off x="7772400" y="4572000"/>
            <a:ext cx="384048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tiêu chí nghiệm thu</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645920" y="420624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54864" y="60350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Cảm ơn cô và các bạn · Hỏi đáp</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9</a:t>
            </a:r>
          </a:p>
        </p:txBody>
      </p:sp>
      <p:graphicFrame>
        <p:nvGraphicFramePr>
          <p:cNvPr id="6" name="Table 5"/>
          <p:cNvGraphicFramePr>
            <a:graphicFrameLocks noGrp="1"/>
          </p:cNvGraphicFramePr>
          <p:nvPr/>
        </p:nvGraphicFramePr>
        <p:xfrm>
          <a:off x="548640" y="1691640"/>
          <a:ext cx="11064240" cy="3200400"/>
        </p:xfrm>
        <a:graphic>
          <a:graphicData uri="http://schemas.openxmlformats.org/drawingml/2006/table">
            <a:tbl>
              <a:tblPr firstRow="1" bandRow="1">
                <a:tableStyleId>{5C22544A-7EE6-4342-B048-85BDC9FD1C3A}</a:tableStyleId>
              </a:tblPr>
              <a:tblGrid>
                <a:gridCol w="3657600"/>
                <a:gridCol w="5120640"/>
                <a:gridCol w="2286000"/>
              </a:tblGrid>
              <a:tr h="457200">
                <a:tc>
                  <a:txBody>
                    <a:bodyPr/>
                    <a:lstStyle/>
                    <a:p>
                      <a:pPr algn="l"/>
                      <a:r>
                        <a:rPr sz="2000" b="1" i="0">
                          <a:solidFill>
                            <a:srgbClr val="FFFFFF"/>
                          </a:solidFill>
                          <a:latin typeface="Helvetica"/>
                        </a:rPr>
                        <a:t>Thành viên</a:t>
                      </a:r>
                    </a:p>
                  </a:txBody>
                  <a:tcPr marL="73152" marR="73152" marT="36576" marB="36576" anchor="ctr">
                    <a:solidFill>
                      <a:srgbClr val="1E6FE8"/>
                    </a:solidFill>
                  </a:tcPr>
                </a:tc>
                <a:tc>
                  <a:txBody>
                    <a:bodyPr/>
                    <a:lstStyle/>
                    <a:p>
                      <a:pPr algn="ctr"/>
                      <a:r>
                        <a:rPr sz="2000" b="1" i="0">
                          <a:solidFill>
                            <a:srgbClr val="FFFFFF"/>
                          </a:solidFill>
                          <a:latin typeface="Helvetica"/>
                        </a:rPr>
                        <a:t>Mảng trả lời</a:t>
                      </a:r>
                    </a:p>
                  </a:txBody>
                  <a:tcPr marL="73152" marR="73152" marT="36576" marB="36576" anchor="ctr">
                    <a:solidFill>
                      <a:srgbClr val="1E6FE8"/>
                    </a:solidFill>
                  </a:tcPr>
                </a:tc>
                <a:tc>
                  <a:txBody>
                    <a:bodyPr/>
                    <a:lstStyle/>
                    <a:p>
                      <a:pPr algn="ctr"/>
                      <a:r>
                        <a:rPr sz="2000" b="1" i="0">
                          <a:solidFill>
                            <a:srgbClr val="FFFFFF"/>
                          </a:solidFill>
                          <a:latin typeface="Helvetica"/>
                        </a:rPr>
                        <a:t>Slide dự phòng</a:t>
                      </a:r>
                    </a:p>
                  </a:txBody>
                  <a:tcPr marL="73152" marR="73152" marT="36576" marB="36576" anchor="ctr">
                    <a:solidFill>
                      <a:srgbClr val="1E6FE8"/>
                    </a:solidFill>
                  </a:tcPr>
                </a:tc>
              </a:tr>
              <a:tr h="457200">
                <a:tc>
                  <a:txBody>
                    <a:bodyPr/>
                    <a:lstStyle/>
                    <a:p>
                      <a:pPr algn="l"/>
                      <a:r>
                        <a:rPr sz="2000" b="0" i="0">
                          <a:solidFill>
                            <a:srgbClr val="0F1C3F"/>
                          </a:solidFill>
                          <a:latin typeface="Helvetica"/>
                        </a:rPr>
                        <a:t>Đào Văn Tâm</a:t>
                      </a:r>
                    </a:p>
                  </a:txBody>
                  <a:tcPr marL="73152" marR="73152" marT="36576" marB="36576" anchor="ctr">
                    <a:solidFill>
                      <a:srgbClr val="FFFFFF"/>
                    </a:solidFill>
                  </a:tcPr>
                </a:tc>
                <a:tc>
                  <a:txBody>
                    <a:bodyPr/>
                    <a:lstStyle/>
                    <a:p>
                      <a:pPr algn="ctr"/>
                      <a:r>
                        <a:rPr sz="2000" b="0" i="0">
                          <a:solidFill>
                            <a:srgbClr val="0F1C3F"/>
                          </a:solidFill>
                          <a:latin typeface="Helvetica"/>
                        </a:rPr>
                        <a:t>Câu hỏi nghiên cứu, đánh giá, chi phí</a:t>
                      </a:r>
                    </a:p>
                  </a:txBody>
                  <a:tcPr marL="73152" marR="73152" marT="36576" marB="36576" anchor="ctr">
                    <a:solidFill>
                      <a:srgbClr val="FFFFFF"/>
                    </a:solidFill>
                  </a:tcPr>
                </a:tc>
                <a:tc>
                  <a:txBody>
                    <a:bodyPr/>
                    <a:lstStyle/>
                    <a:p>
                      <a:pPr algn="ctr"/>
                      <a:r>
                        <a:rPr sz="2000" b="0" i="0">
                          <a:solidFill>
                            <a:srgbClr val="0F1C3F"/>
                          </a:solidFill>
                          <a:latin typeface="Helvetica"/>
                        </a:rPr>
                        <a:t>P5, P6</a:t>
                      </a:r>
                    </a:p>
                  </a:txBody>
                  <a:tcPr marL="73152" marR="73152" marT="36576" marB="36576" anchor="ctr">
                    <a:solidFill>
                      <a:srgbClr val="FFFFFF"/>
                    </a:solidFill>
                  </a:tcPr>
                </a:tc>
              </a:tr>
              <a:tr h="457200">
                <a:tc>
                  <a:txBody>
                    <a:bodyPr/>
                    <a:lstStyle/>
                    <a:p>
                      <a:pPr algn="l"/>
                      <a:r>
                        <a:rPr sz="2000" b="0" i="0">
                          <a:solidFill>
                            <a:srgbClr val="0F1C3F"/>
                          </a:solidFill>
                          <a:latin typeface="Helvetica"/>
                        </a:rPr>
                        <a:t>Trần Quang Đức Dũng</a:t>
                      </a:r>
                    </a:p>
                  </a:txBody>
                  <a:tcPr marL="73152" marR="73152" marT="36576" marB="36576" anchor="ctr">
                    <a:solidFill>
                      <a:srgbClr val="FFFFFF"/>
                    </a:solidFill>
                  </a:tcPr>
                </a:tc>
                <a:tc>
                  <a:txBody>
                    <a:bodyPr/>
                    <a:lstStyle/>
                    <a:p>
                      <a:pPr algn="ctr"/>
                      <a:r>
                        <a:rPr sz="2000" b="0" i="0">
                          <a:solidFill>
                            <a:srgbClr val="0F1C3F"/>
                          </a:solidFill>
                          <a:latin typeface="Helvetica"/>
                        </a:rPr>
                        <a:t>Worker, REPL, mở rộng, hàng đợi</a:t>
                      </a:r>
                    </a:p>
                  </a:txBody>
                  <a:tcPr marL="73152" marR="73152" marT="36576" marB="36576" anchor="ctr">
                    <a:solidFill>
                      <a:srgbClr val="FFFFFF"/>
                    </a:solidFill>
                  </a:tcPr>
                </a:tc>
                <a:tc>
                  <a:txBody>
                    <a:bodyPr/>
                    <a:lstStyle/>
                    <a:p>
                      <a:pPr algn="ctr"/>
                      <a:r>
                        <a:rPr sz="2000" b="0" i="0">
                          <a:solidFill>
                            <a:srgbClr val="0F1C3F"/>
                          </a:solidFill>
                          <a:latin typeface="Helvetica"/>
                        </a:rPr>
                        <a:t>P7</a:t>
                      </a:r>
                    </a:p>
                  </a:txBody>
                  <a:tcPr marL="73152" marR="73152" marT="36576" marB="36576" anchor="ctr">
                    <a:solidFill>
                      <a:srgbClr val="FFFFFF"/>
                    </a:solidFill>
                  </a:tcPr>
                </a:tc>
              </a:tr>
              <a:tr h="457200">
                <a:tc>
                  <a:txBody>
                    <a:bodyPr/>
                    <a:lstStyle/>
                    <a:p>
                      <a:pPr algn="l"/>
                      <a:r>
                        <a:rPr sz="2000" b="0" i="0">
                          <a:solidFill>
                            <a:srgbClr val="0F1C3F"/>
                          </a:solidFill>
                          <a:latin typeface="Helvetica"/>
                        </a:rPr>
                        <a:t>Lâm Thành Trung</a:t>
                      </a:r>
                    </a:p>
                  </a:txBody>
                  <a:tcPr marL="73152" marR="73152" marT="36576" marB="36576" anchor="ctr">
                    <a:solidFill>
                      <a:srgbClr val="FFFFFF"/>
                    </a:solidFill>
                  </a:tcPr>
                </a:tc>
                <a:tc>
                  <a:txBody>
                    <a:bodyPr/>
                    <a:lstStyle/>
                    <a:p>
                      <a:pPr algn="ctr"/>
                      <a:r>
                        <a:rPr sz="2000" b="0" i="0">
                          <a:solidFill>
                            <a:srgbClr val="0F1C3F"/>
                          </a:solidFill>
                          <a:latin typeface="Helvetica"/>
                        </a:rPr>
                        <a:t>Luật sửa, độ chính xác từng luật</a:t>
                      </a:r>
                    </a:p>
                  </a:txBody>
                  <a:tcPr marL="73152" marR="73152" marT="36576" marB="36576" anchor="ctr">
                    <a:solidFill>
                      <a:srgbClr val="FFFFFF"/>
                    </a:solidFill>
                  </a:tcPr>
                </a:tc>
                <a:tc>
                  <a:txBody>
                    <a:bodyPr/>
                    <a:lstStyle/>
                    <a:p>
                      <a:pPr algn="ctr"/>
                      <a:r>
                        <a:rPr sz="2000" b="0" i="0">
                          <a:solidFill>
                            <a:srgbClr val="0F1C3F"/>
                          </a:solidFill>
                          <a:latin typeface="Helvetica"/>
                        </a:rPr>
                        <a:t>P4</a:t>
                      </a:r>
                    </a:p>
                  </a:txBody>
                  <a:tcPr marL="73152" marR="73152" marT="36576" marB="36576" anchor="ctr">
                    <a:solidFill>
                      <a:srgbClr val="FFFFFF"/>
                    </a:solidFill>
                  </a:tcPr>
                </a:tc>
              </a:tr>
              <a:tr h="457200">
                <a:tc>
                  <a:txBody>
                    <a:bodyPr/>
                    <a:lstStyle/>
                    <a:p>
                      <a:pPr algn="l"/>
                      <a:r>
                        <a:rPr sz="2000" b="0" i="0">
                          <a:solidFill>
                            <a:srgbClr val="0F1C3F"/>
                          </a:solidFill>
                          <a:latin typeface="Helvetica"/>
                        </a:rPr>
                        <a:t>Nguyễn Xuân Tùng</a:t>
                      </a:r>
                    </a:p>
                  </a:txBody>
                  <a:tcPr marL="73152" marR="73152" marT="36576" marB="36576" anchor="ctr">
                    <a:solidFill>
                      <a:srgbClr val="FFFFFF"/>
                    </a:solidFill>
                  </a:tcPr>
                </a:tc>
                <a:tc>
                  <a:txBody>
                    <a:bodyPr/>
                    <a:lstStyle/>
                    <a:p>
                      <a:pPr algn="ctr"/>
                      <a:r>
                        <a:rPr sz="2000" b="0" i="0">
                          <a:solidFill>
                            <a:srgbClr val="0F1C3F"/>
                          </a:solidFill>
                          <a:latin typeface="Helvetica"/>
                        </a:rPr>
                        <a:t>LLM, prompt, chọn mô hình, demo</a:t>
                      </a:r>
                    </a:p>
                  </a:txBody>
                  <a:tcPr marL="73152" marR="73152" marT="36576" marB="36576" anchor="ctr">
                    <a:solidFill>
                      <a:srgbClr val="FFFFFF"/>
                    </a:solidFill>
                  </a:tcPr>
                </a:tc>
                <a:tc>
                  <a:txBody>
                    <a:bodyPr/>
                    <a:lstStyle/>
                    <a:p>
                      <a:pPr algn="ctr"/>
                      <a:r>
                        <a:rPr sz="2000" b="0" i="0">
                          <a:solidFill>
                            <a:srgbClr val="0F1C3F"/>
                          </a:solidFill>
                          <a:latin typeface="Helvetica"/>
                        </a:rPr>
                        <a:t>P1</a:t>
                      </a:r>
                    </a:p>
                  </a:txBody>
                  <a:tcPr marL="73152" marR="73152" marT="36576" marB="36576" anchor="ctr">
                    <a:solidFill>
                      <a:srgbClr val="FFFFFF"/>
                    </a:solidFill>
                  </a:tcPr>
                </a:tc>
              </a:tr>
              <a:tr h="457200">
                <a:tc>
                  <a:txBody>
                    <a:bodyPr/>
                    <a:lstStyle/>
                    <a:p>
                      <a:pPr algn="l"/>
                      <a:r>
                        <a:rPr sz="2000" b="0" i="0">
                          <a:solidFill>
                            <a:srgbClr val="0F1C3F"/>
                          </a:solidFill>
                          <a:latin typeface="Helvetica"/>
                        </a:rPr>
                        <a:t>Khamsing OUTHAIHUENG</a:t>
                      </a:r>
                    </a:p>
                  </a:txBody>
                  <a:tcPr marL="73152" marR="73152" marT="36576" marB="36576" anchor="ctr">
                    <a:solidFill>
                      <a:srgbClr val="FFFFFF"/>
                    </a:solidFill>
                  </a:tcPr>
                </a:tc>
                <a:tc>
                  <a:txBody>
                    <a:bodyPr/>
                    <a:lstStyle/>
                    <a:p>
                      <a:pPr algn="ctr"/>
                      <a:r>
                        <a:rPr sz="2000" b="0" i="0">
                          <a:solidFill>
                            <a:srgbClr val="0F1C3F"/>
                          </a:solidFill>
                          <a:latin typeface="Helvetica"/>
                        </a:rPr>
                        <a:t>Phân loại lỗi, kiểm toán, kiến trúc</a:t>
                      </a:r>
                    </a:p>
                  </a:txBody>
                  <a:tcPr marL="73152" marR="73152" marT="36576" marB="36576" anchor="ctr">
                    <a:solidFill>
                      <a:srgbClr val="FFFFFF"/>
                    </a:solidFill>
                  </a:tcPr>
                </a:tc>
                <a:tc>
                  <a:txBody>
                    <a:bodyPr/>
                    <a:lstStyle/>
                    <a:p>
                      <a:pPr algn="ctr"/>
                      <a:r>
                        <a:rPr sz="2000" b="0" i="0">
                          <a:solidFill>
                            <a:srgbClr val="0F1C3F"/>
                          </a:solidFill>
                          <a:latin typeface="Helvetica"/>
                        </a:rPr>
                        <a:t>P3</a:t>
                      </a:r>
                    </a:p>
                  </a:txBody>
                  <a:tcPr marL="73152" marR="73152" marT="36576" marB="36576" anchor="ctr">
                    <a:solidFill>
                      <a:srgbClr val="FFFFFF"/>
                    </a:solidFill>
                  </a:tcPr>
                </a:tc>
              </a:tr>
              <a:tr h="457200">
                <a:tc>
                  <a:txBody>
                    <a:bodyPr/>
                    <a:lstStyle/>
                    <a:p>
                      <a:pPr algn="l"/>
                      <a:r>
                        <a:rPr sz="2000" b="0" i="0">
                          <a:solidFill>
                            <a:srgbClr val="0F1C3F"/>
                          </a:solidFill>
                          <a:latin typeface="Helvetica"/>
                        </a:rPr>
                        <a:t>Mekdala Nounou</a:t>
                      </a:r>
                    </a:p>
                  </a:txBody>
                  <a:tcPr marL="73152" marR="73152" marT="36576" marB="36576" anchor="ctr">
                    <a:solidFill>
                      <a:srgbClr val="FFFFFF"/>
                    </a:solidFill>
                  </a:tcPr>
                </a:tc>
                <a:tc>
                  <a:txBody>
                    <a:bodyPr/>
                    <a:lstStyle/>
                    <a:p>
                      <a:pPr algn="ctr"/>
                      <a:r>
                        <a:rPr sz="2000" b="0" i="0">
                          <a:solidFill>
                            <a:srgbClr val="0F1C3F"/>
                          </a:solidFill>
                          <a:latin typeface="Helvetica"/>
                        </a:rPr>
                        <a:t>Dữ liệu, chia tập</a:t>
                      </a:r>
                    </a:p>
                  </a:txBody>
                  <a:tcPr marL="73152" marR="73152" marT="36576" marB="36576" anchor="ctr">
                    <a:solidFill>
                      <a:srgbClr val="FFFFFF"/>
                    </a:solidFill>
                  </a:tcPr>
                </a:tc>
                <a:tc>
                  <a:txBody>
                    <a:bodyPr/>
                    <a:lstStyle/>
                    <a:p>
                      <a:pPr algn="ctr"/>
                      <a:r>
                        <a:rPr sz="2000" b="0" i="0">
                          <a:solidFill>
                            <a:srgbClr val="0F1C3F"/>
                          </a:solidFill>
                          <a:latin typeface="Helvetica"/>
                        </a:rPr>
                        <a:t>P2</a:t>
                      </a:r>
                    </a:p>
                  </a:txBody>
                  <a:tcPr marL="73152" marR="73152" marT="36576" marB="36576" anchor="ctr">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9875520" y="4480560"/>
            <a:ext cx="3474720" cy="347472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704320" y="310896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Dự phòng P1 · Demo: lỗi → phân loại → sửa → Lean kiểm tra → kiểm toán</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10</a:t>
            </a:r>
          </a:p>
        </p:txBody>
      </p:sp>
      <p:sp>
        <p:nvSpPr>
          <p:cNvPr id="6" name="Rounded Rectangle 5"/>
          <p:cNvSpPr/>
          <p:nvPr/>
        </p:nvSpPr>
        <p:spPr>
          <a:xfrm>
            <a:off x="548640" y="1737360"/>
            <a:ext cx="3566160" cy="42062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0195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E000880 · luật</a:t>
            </a:r>
          </a:p>
        </p:txBody>
      </p:sp>
      <p:sp>
        <p:nvSpPr>
          <p:cNvPr id="8" name="TextBox 7"/>
          <p:cNvSpPr txBox="1"/>
          <p:nvPr/>
        </p:nvSpPr>
        <p:spPr>
          <a:xfrm>
            <a:off x="777240" y="2468880"/>
            <a:ext cx="3108960" cy="333755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Thiếu import Mathlib</a:t>
            </a:r>
          </a:p>
          <a:p>
            <a:pPr marL="292608" indent="-292608">
              <a:lnSpc>
                <a:spcPct val="108000"/>
              </a:lnSpc>
              <a:spcAft>
                <a:spcPts val="600"/>
              </a:spcAft>
              <a:buClr>
                <a:srgbClr val="1E6FE8"/>
              </a:buClr>
              <a:buFont typeface="Helvetica"/>
              <a:buChar char="•"/>
            </a:pPr>
            <a:r>
              <a:rPr sz="2100" b="0" i="0">
                <a:solidFill>
                  <a:srgbClr val="0F1C3F"/>
                </a:solidFill>
                <a:latin typeface="Helvetica"/>
              </a:rPr>
              <a:t>R0 sửa, Lean OK</a:t>
            </a:r>
          </a:p>
          <a:p>
            <a:pPr marL="292608" indent="-292608">
              <a:lnSpc>
                <a:spcPct val="108000"/>
              </a:lnSpc>
              <a:spcAft>
                <a:spcPts val="600"/>
              </a:spcAft>
              <a:buClr>
                <a:srgbClr val="1E6FE8"/>
              </a:buClr>
              <a:buFont typeface="Helvetica"/>
              <a:buChar char="•"/>
            </a:pPr>
            <a:r>
              <a:rPr sz="2100" b="0" i="0">
                <a:solidFill>
                  <a:srgbClr val="0F1C3F"/>
                </a:solidFill>
                <a:latin typeface="Helvetica"/>
              </a:rPr>
              <a:t>0 token · 73 ms</a:t>
            </a:r>
          </a:p>
        </p:txBody>
      </p:sp>
      <p:sp>
        <p:nvSpPr>
          <p:cNvPr id="9" name="Rounded Rectangle 8"/>
          <p:cNvSpPr/>
          <p:nvPr/>
        </p:nvSpPr>
        <p:spPr>
          <a:xfrm>
            <a:off x="4343400" y="1737360"/>
            <a:ext cx="3566160" cy="420624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0195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E000003 · LLM</a:t>
            </a:r>
          </a:p>
        </p:txBody>
      </p:sp>
      <p:sp>
        <p:nvSpPr>
          <p:cNvPr id="11" name="TextBox 10"/>
          <p:cNvSpPr txBox="1"/>
          <p:nvPr/>
        </p:nvSpPr>
        <p:spPr>
          <a:xfrm>
            <a:off x="4572000" y="2468880"/>
            <a:ext cx="3108960" cy="333755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Lần 1: dùng sorry → bị chặn</a:t>
            </a:r>
          </a:p>
          <a:p>
            <a:pPr marL="292608" indent="-292608">
              <a:lnSpc>
                <a:spcPct val="108000"/>
              </a:lnSpc>
              <a:spcAft>
                <a:spcPts val="600"/>
              </a:spcAft>
              <a:buClr>
                <a:srgbClr val="1E6FE8"/>
              </a:buClr>
              <a:buFont typeface="Helvetica"/>
              <a:buChar char="•"/>
            </a:pPr>
            <a:r>
              <a:rPr sz="2100" b="0" i="0">
                <a:solidFill>
                  <a:srgbClr val="0F1C3F"/>
                </a:solidFill>
                <a:latin typeface="Helvetica"/>
              </a:rPr>
              <a:t>Lần 2: không biên dịch</a:t>
            </a:r>
          </a:p>
          <a:p>
            <a:pPr marL="292608" indent="-292608">
              <a:lnSpc>
                <a:spcPct val="108000"/>
              </a:lnSpc>
              <a:spcAft>
                <a:spcPts val="600"/>
              </a:spcAft>
              <a:buClr>
                <a:srgbClr val="1E6FE8"/>
              </a:buClr>
              <a:buFont typeface="Helvetica"/>
              <a:buChar char="•"/>
            </a:pPr>
            <a:r>
              <a:rPr sz="2100" b="0" i="0">
                <a:solidFill>
                  <a:srgbClr val="0F1C3F"/>
                </a:solidFill>
                <a:latin typeface="Helvetica"/>
              </a:rPr>
              <a:t>Lần 3: đúng · 4.583 token</a:t>
            </a:r>
          </a:p>
        </p:txBody>
      </p:sp>
      <p:sp>
        <p:nvSpPr>
          <p:cNvPr id="12" name="Rounded Rectangle 11"/>
          <p:cNvSpPr/>
          <p:nvPr/>
        </p:nvSpPr>
        <p:spPr>
          <a:xfrm>
            <a:off x="8138160" y="1737360"/>
            <a:ext cx="3566160" cy="42062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90195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E000197 · vòng lặp</a:t>
            </a:r>
          </a:p>
        </p:txBody>
      </p:sp>
      <p:sp>
        <p:nvSpPr>
          <p:cNvPr id="14" name="TextBox 13"/>
          <p:cNvSpPr txBox="1"/>
          <p:nvPr/>
        </p:nvSpPr>
        <p:spPr>
          <a:xfrm>
            <a:off x="8366760" y="2468880"/>
            <a:ext cx="3108960" cy="333755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Chứng minh là sorry</a:t>
            </a:r>
          </a:p>
          <a:p>
            <a:pPr marL="292608" indent="-292608">
              <a:lnSpc>
                <a:spcPct val="108000"/>
              </a:lnSpc>
              <a:spcAft>
                <a:spcPts val="600"/>
              </a:spcAft>
              <a:buClr>
                <a:srgbClr val="1E6FE8"/>
              </a:buClr>
              <a:buFont typeface="Helvetica"/>
              <a:buChar char="•"/>
            </a:pPr>
            <a:r>
              <a:rPr sz="2100" b="0" i="0">
                <a:solidFill>
                  <a:srgbClr val="0F1C3F"/>
                </a:solidFill>
                <a:latin typeface="Helvetica"/>
              </a:rPr>
              <a:t>Lần 1 sai, lần 2 đúng</a:t>
            </a:r>
          </a:p>
          <a:p>
            <a:pPr marL="292608" indent="-292608">
              <a:lnSpc>
                <a:spcPct val="108000"/>
              </a:lnSpc>
              <a:spcAft>
                <a:spcPts val="600"/>
              </a:spcAft>
              <a:buClr>
                <a:srgbClr val="1E6FE8"/>
              </a:buClr>
              <a:buFont typeface="Helvetica"/>
              <a:buChar char="•"/>
            </a:pPr>
            <a:r>
              <a:rPr sz="2100" b="0" i="0">
                <a:solidFill>
                  <a:srgbClr val="0F1C3F"/>
                </a:solidFill>
                <a:latin typeface="Helvetica"/>
              </a:rPr>
              <a:t>779 token</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0058400" y="-2103120"/>
            <a:ext cx="4023360" cy="40233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24712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Dự phòng P2 · Dataset 17.031 lỗi có nhãn lấy từ chính Lean</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11</a:t>
            </a:r>
          </a:p>
        </p:txBody>
      </p:sp>
      <p:sp>
        <p:nvSpPr>
          <p:cNvPr id="6" name="TextBox 5"/>
          <p:cNvSpPr txBox="1"/>
          <p:nvPr/>
        </p:nvSpPr>
        <p:spPr>
          <a:xfrm>
            <a:off x="731520" y="1783080"/>
            <a:ext cx="2651760" cy="868680"/>
          </a:xfrm>
          <a:prstGeom prst="rect">
            <a:avLst/>
          </a:prstGeom>
          <a:noFill/>
        </p:spPr>
        <p:txBody>
          <a:bodyPr wrap="square" anchor="t" lIns="45720" rIns="45720" tIns="27432" bIns="27432">
            <a:spAutoFit/>
          </a:bodyPr>
          <a:lstStyle/>
          <a:p>
            <a:pPr algn="l">
              <a:lnSpc>
                <a:spcPct val="110000"/>
              </a:lnSpc>
            </a:pPr>
            <a:r>
              <a:rPr sz="4800" b="1" i="0">
                <a:solidFill>
                  <a:srgbClr val="1E6FE8"/>
                </a:solidFill>
                <a:latin typeface="Helvetica"/>
              </a:rPr>
              <a:t>17.031</a:t>
            </a:r>
          </a:p>
        </p:txBody>
      </p:sp>
      <p:sp>
        <p:nvSpPr>
          <p:cNvPr id="7" name="TextBox 6"/>
          <p:cNvSpPr txBox="1"/>
          <p:nvPr/>
        </p:nvSpPr>
        <p:spPr>
          <a:xfrm>
            <a:off x="731520" y="2651760"/>
            <a:ext cx="265176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mẫu lỗi, dataset v1.0</a:t>
            </a:r>
          </a:p>
        </p:txBody>
      </p:sp>
      <p:sp>
        <p:nvSpPr>
          <p:cNvPr id="8" name="TextBox 7"/>
          <p:cNvSpPr txBox="1"/>
          <p:nvPr/>
        </p:nvSpPr>
        <p:spPr>
          <a:xfrm>
            <a:off x="3520440" y="1783080"/>
            <a:ext cx="2651760" cy="868680"/>
          </a:xfrm>
          <a:prstGeom prst="rect">
            <a:avLst/>
          </a:prstGeom>
          <a:noFill/>
        </p:spPr>
        <p:txBody>
          <a:bodyPr wrap="square" anchor="t" lIns="45720" rIns="45720" tIns="27432" bIns="27432">
            <a:spAutoFit/>
          </a:bodyPr>
          <a:lstStyle/>
          <a:p>
            <a:pPr algn="l">
              <a:lnSpc>
                <a:spcPct val="110000"/>
              </a:lnSpc>
            </a:pPr>
            <a:r>
              <a:rPr sz="4800" b="1" i="0">
                <a:solidFill>
                  <a:srgbClr val="1E6FE8"/>
                </a:solidFill>
                <a:latin typeface="Helvetica"/>
              </a:rPr>
              <a:t>3.666</a:t>
            </a:r>
          </a:p>
        </p:txBody>
      </p:sp>
      <p:sp>
        <p:nvSpPr>
          <p:cNvPr id="9" name="TextBox 8"/>
          <p:cNvSpPr txBox="1"/>
          <p:nvPr/>
        </p:nvSpPr>
        <p:spPr>
          <a:xfrm>
            <a:off x="3520440" y="2651760"/>
            <a:ext cx="265176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định lý gốc đã kiểm chứng</a:t>
            </a:r>
          </a:p>
        </p:txBody>
      </p:sp>
      <p:sp>
        <p:nvSpPr>
          <p:cNvPr id="10" name="TextBox 9"/>
          <p:cNvSpPr txBox="1"/>
          <p:nvPr/>
        </p:nvSpPr>
        <p:spPr>
          <a:xfrm>
            <a:off x="6309360" y="1783080"/>
            <a:ext cx="2651760" cy="868680"/>
          </a:xfrm>
          <a:prstGeom prst="rect">
            <a:avLst/>
          </a:prstGeom>
          <a:noFill/>
        </p:spPr>
        <p:txBody>
          <a:bodyPr wrap="square" anchor="t" lIns="45720" rIns="45720" tIns="27432" bIns="27432">
            <a:spAutoFit/>
          </a:bodyPr>
          <a:lstStyle/>
          <a:p>
            <a:pPr algn="l">
              <a:lnSpc>
                <a:spcPct val="110000"/>
              </a:lnSpc>
            </a:pPr>
            <a:r>
              <a:rPr sz="4800" b="1" i="0">
                <a:solidFill>
                  <a:srgbClr val="1E6FE8"/>
                </a:solidFill>
                <a:latin typeface="Helvetica"/>
              </a:rPr>
              <a:t>1.110</a:t>
            </a:r>
          </a:p>
        </p:txBody>
      </p:sp>
      <p:sp>
        <p:nvSpPr>
          <p:cNvPr id="11" name="TextBox 10"/>
          <p:cNvSpPr txBox="1"/>
          <p:nvPr/>
        </p:nvSpPr>
        <p:spPr>
          <a:xfrm>
            <a:off x="6309360" y="2651760"/>
            <a:ext cx="265176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lỗi tự nhiên do Mathlib đổi</a:t>
            </a:r>
          </a:p>
        </p:txBody>
      </p:sp>
      <p:sp>
        <p:nvSpPr>
          <p:cNvPr id="12" name="TextBox 11"/>
          <p:cNvSpPr txBox="1"/>
          <p:nvPr/>
        </p:nvSpPr>
        <p:spPr>
          <a:xfrm>
            <a:off x="9098280" y="1783080"/>
            <a:ext cx="2651760" cy="868680"/>
          </a:xfrm>
          <a:prstGeom prst="rect">
            <a:avLst/>
          </a:prstGeom>
          <a:noFill/>
        </p:spPr>
        <p:txBody>
          <a:bodyPr wrap="square" anchor="t" lIns="45720" rIns="45720" tIns="27432" bIns="27432">
            <a:spAutoFit/>
          </a:bodyPr>
          <a:lstStyle/>
          <a:p>
            <a:pPr algn="l">
              <a:lnSpc>
                <a:spcPct val="110000"/>
              </a:lnSpc>
            </a:pPr>
            <a:r>
              <a:rPr sz="4800" b="1" i="0">
                <a:solidFill>
                  <a:srgbClr val="144FB0"/>
                </a:solidFill>
                <a:latin typeface="Helvetica"/>
              </a:rPr>
              <a:t>94,4%</a:t>
            </a:r>
          </a:p>
        </p:txBody>
      </p:sp>
      <p:sp>
        <p:nvSpPr>
          <p:cNvPr id="13" name="TextBox 12"/>
          <p:cNvSpPr txBox="1"/>
          <p:nvPr/>
        </p:nvSpPr>
        <p:spPr>
          <a:xfrm>
            <a:off x="9098280" y="2651760"/>
            <a:ext cx="2651760" cy="77724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nhãn khớp loại lỗi dự kiến</a:t>
            </a:r>
          </a:p>
        </p:txBody>
      </p:sp>
      <p:sp>
        <p:nvSpPr>
          <p:cNvPr id="14" name="Rounded Rectangle 13"/>
          <p:cNvSpPr/>
          <p:nvPr/>
        </p:nvSpPr>
        <p:spPr>
          <a:xfrm>
            <a:off x="548640" y="3931920"/>
            <a:ext cx="3566160" cy="210312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096511"/>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Chống rò rỉ</a:t>
            </a:r>
          </a:p>
        </p:txBody>
      </p:sp>
      <p:sp>
        <p:nvSpPr>
          <p:cNvPr id="16" name="TextBox 15"/>
          <p:cNvSpPr txBox="1"/>
          <p:nvPr/>
        </p:nvSpPr>
        <p:spPr>
          <a:xfrm>
            <a:off x="777240" y="4663440"/>
            <a:ext cx="3108960" cy="123443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Chia theo định lý gốc</a:t>
            </a:r>
          </a:p>
          <a:p>
            <a:pPr marL="292608" indent="-292608">
              <a:lnSpc>
                <a:spcPct val="108000"/>
              </a:lnSpc>
              <a:spcAft>
                <a:spcPts val="600"/>
              </a:spcAft>
              <a:buClr>
                <a:srgbClr val="1E6FE8"/>
              </a:buClr>
              <a:buFont typeface="Helvetica"/>
              <a:buChar char="•"/>
            </a:pPr>
            <a:r>
              <a:rPr sz="2100" b="0" i="0">
                <a:solidFill>
                  <a:srgbClr val="0F1C3F"/>
                </a:solidFill>
                <a:latin typeface="Helvetica"/>
              </a:rPr>
              <a:t>0 trùng giữa hai phía</a:t>
            </a:r>
          </a:p>
        </p:txBody>
      </p:sp>
      <p:sp>
        <p:nvSpPr>
          <p:cNvPr id="17" name="Rounded Rectangle 16"/>
          <p:cNvSpPr/>
          <p:nvPr/>
        </p:nvSpPr>
        <p:spPr>
          <a:xfrm>
            <a:off x="4343400" y="3931920"/>
            <a:ext cx="3566160" cy="210312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096511"/>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Ba mức quy mô</a:t>
            </a:r>
          </a:p>
        </p:txBody>
      </p:sp>
      <p:sp>
        <p:nvSpPr>
          <p:cNvPr id="19" name="TextBox 18"/>
          <p:cNvSpPr txBox="1"/>
          <p:nvPr/>
        </p:nvSpPr>
        <p:spPr>
          <a:xfrm>
            <a:off x="4572000" y="4663440"/>
            <a:ext cx="3108960" cy="123443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100 ⊂ 1K ⊂ 10K mẫu</a:t>
            </a:r>
          </a:p>
          <a:p>
            <a:pPr marL="292608" indent="-292608">
              <a:lnSpc>
                <a:spcPct val="108000"/>
              </a:lnSpc>
              <a:spcAft>
                <a:spcPts val="600"/>
              </a:spcAft>
              <a:buClr>
                <a:srgbClr val="1E6FE8"/>
              </a:buClr>
              <a:buFont typeface="Helvetica"/>
              <a:buChar char="•"/>
            </a:pPr>
            <a:r>
              <a:rPr sz="2100" b="0" i="0">
                <a:solidFill>
                  <a:srgbClr val="0F1C3F"/>
                </a:solidFill>
                <a:latin typeface="Helvetica"/>
              </a:rPr>
              <a:t>Hold-out: 284 · 2.907</a:t>
            </a:r>
          </a:p>
        </p:txBody>
      </p:sp>
      <p:sp>
        <p:nvSpPr>
          <p:cNvPr id="20" name="Rounded Rectangle 19"/>
          <p:cNvSpPr/>
          <p:nvPr/>
        </p:nvSpPr>
        <p:spPr>
          <a:xfrm>
            <a:off x="8138160" y="3931920"/>
            <a:ext cx="3474720" cy="210312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4096511"/>
            <a:ext cx="301752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Provenance</a:t>
            </a:r>
          </a:p>
        </p:txBody>
      </p:sp>
      <p:sp>
        <p:nvSpPr>
          <p:cNvPr id="22" name="TextBox 21"/>
          <p:cNvSpPr txBox="1"/>
          <p:nvPr/>
        </p:nvSpPr>
        <p:spPr>
          <a:xfrm>
            <a:off x="8366760" y="4663440"/>
            <a:ext cx="3017520" cy="123443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Nguồn MIT, checksum</a:t>
            </a:r>
          </a:p>
          <a:p>
            <a:pPr marL="292608" indent="-292608">
              <a:lnSpc>
                <a:spcPct val="108000"/>
              </a:lnSpc>
              <a:spcAft>
                <a:spcPts val="600"/>
              </a:spcAft>
              <a:buClr>
                <a:srgbClr val="1E6FE8"/>
              </a:buClr>
              <a:buFont typeface="Helvetica"/>
              <a:buChar char="•"/>
            </a:pPr>
            <a:r>
              <a:rPr sz="2100" b="0" i="0">
                <a:solidFill>
                  <a:srgbClr val="0F1C3F"/>
                </a:solidFill>
                <a:latin typeface="Helvetica"/>
              </a:rPr>
              <a:t>Run record mỗi lần</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828800" y="4114800"/>
            <a:ext cx="3840480" cy="384048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54864" y="60350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Dự phòng P3 · Kiến trúc: mỗi bản sửa qua Lean và kiểm toán</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12</a:t>
            </a:r>
          </a:p>
        </p:txBody>
      </p:sp>
      <p:sp>
        <p:nvSpPr>
          <p:cNvPr id="6" name="Rounded Rectangle 5"/>
          <p:cNvSpPr/>
          <p:nvPr/>
        </p:nvSpPr>
        <p:spPr>
          <a:xfrm>
            <a:off x="548640" y="1874519"/>
            <a:ext cx="1828800" cy="1143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947672"/>
            <a:ext cx="1682496"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Parser +</a:t>
            </a:r>
          </a:p>
          <a:p>
            <a:pPr algn="ctr">
              <a:lnSpc>
                <a:spcPct val="110000"/>
              </a:lnSpc>
            </a:pPr>
            <a:r>
              <a:rPr sz="2000" b="1" i="0">
                <a:solidFill>
                  <a:srgbClr val="144FB0"/>
                </a:solidFill>
                <a:latin typeface="Helvetica"/>
              </a:rPr>
              <a:t>taxonomy</a:t>
            </a:r>
          </a:p>
        </p:txBody>
      </p:sp>
      <p:sp>
        <p:nvSpPr>
          <p:cNvPr id="8" name="Right Arrow 7"/>
          <p:cNvSpPr/>
          <p:nvPr/>
        </p:nvSpPr>
        <p:spPr>
          <a:xfrm>
            <a:off x="2432304" y="2299715"/>
            <a:ext cx="347472" cy="292608"/>
          </a:xfrm>
          <a:prstGeom prst="rightArrow">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874519"/>
            <a:ext cx="1828800" cy="1143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1947672"/>
            <a:ext cx="1682496"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Router</a:t>
            </a:r>
          </a:p>
        </p:txBody>
      </p:sp>
      <p:sp>
        <p:nvSpPr>
          <p:cNvPr id="11" name="Right Arrow 10"/>
          <p:cNvSpPr/>
          <p:nvPr/>
        </p:nvSpPr>
        <p:spPr>
          <a:xfrm>
            <a:off x="4718303" y="2299715"/>
            <a:ext cx="347472" cy="292608"/>
          </a:xfrm>
          <a:prstGeom prst="rightArrow">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1874519"/>
            <a:ext cx="1828800" cy="1143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1947672"/>
            <a:ext cx="1682496"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Luật / LLM</a:t>
            </a:r>
          </a:p>
        </p:txBody>
      </p:sp>
      <p:sp>
        <p:nvSpPr>
          <p:cNvPr id="14" name="Right Arrow 13"/>
          <p:cNvSpPr/>
          <p:nvPr/>
        </p:nvSpPr>
        <p:spPr>
          <a:xfrm>
            <a:off x="7004303" y="2299715"/>
            <a:ext cx="347472" cy="292608"/>
          </a:xfrm>
          <a:prstGeom prst="rightArrow">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874519"/>
            <a:ext cx="1828800" cy="1143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9792" y="1947672"/>
            <a:ext cx="1682496"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Lean REPL</a:t>
            </a:r>
          </a:p>
        </p:txBody>
      </p:sp>
      <p:sp>
        <p:nvSpPr>
          <p:cNvPr id="17" name="Right Arrow 16"/>
          <p:cNvSpPr/>
          <p:nvPr/>
        </p:nvSpPr>
        <p:spPr>
          <a:xfrm>
            <a:off x="9290304" y="2299715"/>
            <a:ext cx="347472" cy="292608"/>
          </a:xfrm>
          <a:prstGeom prst="rightArrow">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92640" y="1874519"/>
            <a:ext cx="1828800" cy="114300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65792" y="1947672"/>
            <a:ext cx="1682496" cy="996696"/>
          </a:xfrm>
          <a:prstGeom prst="rect">
            <a:avLst/>
          </a:prstGeom>
          <a:noFill/>
        </p:spPr>
        <p:txBody>
          <a:bodyPr wrap="square" anchor="ctr" lIns="45720" rIns="45720" tIns="27432" bIns="27432">
            <a:spAutoFit/>
          </a:bodyPr>
          <a:lstStyle/>
          <a:p>
            <a:pPr algn="ctr">
              <a:lnSpc>
                <a:spcPct val="110000"/>
              </a:lnSpc>
            </a:pPr>
            <a:r>
              <a:rPr sz="2000" b="1" i="0">
                <a:solidFill>
                  <a:srgbClr val="144FB0"/>
                </a:solidFill>
                <a:latin typeface="Helvetica"/>
              </a:rPr>
              <a:t>Kiểm toán</a:t>
            </a:r>
          </a:p>
        </p:txBody>
      </p:sp>
      <p:sp>
        <p:nvSpPr>
          <p:cNvPr id="20" name="Rounded Rectangle 19"/>
          <p:cNvSpPr/>
          <p:nvPr/>
        </p:nvSpPr>
        <p:spPr>
          <a:xfrm>
            <a:off x="548640" y="3429000"/>
            <a:ext cx="3566160" cy="25146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59359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7 nhóm lỗi</a:t>
            </a:r>
          </a:p>
        </p:txBody>
      </p:sp>
      <p:sp>
        <p:nvSpPr>
          <p:cNvPr id="22" name="TextBox 21"/>
          <p:cNvSpPr txBox="1"/>
          <p:nvPr/>
        </p:nvSpPr>
        <p:spPr>
          <a:xfrm>
            <a:off x="777240" y="4160520"/>
            <a:ext cx="3108960" cy="16459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Cú pháp, import, định danh</a:t>
            </a:r>
          </a:p>
          <a:p>
            <a:pPr marL="292608" indent="-292608">
              <a:lnSpc>
                <a:spcPct val="108000"/>
              </a:lnSpc>
              <a:spcAft>
                <a:spcPts val="600"/>
              </a:spcAft>
              <a:buClr>
                <a:srgbClr val="1E6FE8"/>
              </a:buClr>
              <a:buFont typeface="Helvetica"/>
              <a:buChar char="•"/>
            </a:pPr>
            <a:r>
              <a:rPr sz="2100" b="0" i="0">
                <a:solidFill>
                  <a:srgbClr val="0F1C3F"/>
                </a:solidFill>
                <a:latin typeface="Helvetica"/>
              </a:rPr>
              <a:t>Kiểu, timeout, sorry</a:t>
            </a:r>
          </a:p>
          <a:p>
            <a:pPr marL="292608" indent="-292608">
              <a:lnSpc>
                <a:spcPct val="108000"/>
              </a:lnSpc>
              <a:spcAft>
                <a:spcPts val="600"/>
              </a:spcAft>
              <a:buClr>
                <a:srgbClr val="1E6FE8"/>
              </a:buClr>
              <a:buFont typeface="Helvetica"/>
              <a:buChar char="•"/>
            </a:pPr>
            <a:r>
              <a:rPr sz="2100" b="0" i="0">
                <a:solidFill>
                  <a:srgbClr val="0F1C3F"/>
                </a:solidFill>
                <a:latin typeface="Helvetica"/>
              </a:rPr>
              <a:t>Tactic thất bại</a:t>
            </a:r>
          </a:p>
        </p:txBody>
      </p:sp>
      <p:sp>
        <p:nvSpPr>
          <p:cNvPr id="23" name="Rounded Rectangle 22"/>
          <p:cNvSpPr/>
          <p:nvPr/>
        </p:nvSpPr>
        <p:spPr>
          <a:xfrm>
            <a:off x="4343400" y="3429000"/>
            <a:ext cx="3566160" cy="25146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59359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Vòng lặp có giới hạn</a:t>
            </a:r>
          </a:p>
        </p:txBody>
      </p:sp>
      <p:sp>
        <p:nvSpPr>
          <p:cNvPr id="25" name="TextBox 24"/>
          <p:cNvSpPr txBox="1"/>
          <p:nvPr/>
        </p:nvSpPr>
        <p:spPr>
          <a:xfrm>
            <a:off x="4572000" y="4160520"/>
            <a:ext cx="3108960" cy="16459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Tối đa k = 1 hoặc 3 lần</a:t>
            </a:r>
          </a:p>
          <a:p>
            <a:pPr marL="292608" indent="-292608">
              <a:lnSpc>
                <a:spcPct val="108000"/>
              </a:lnSpc>
              <a:spcAft>
                <a:spcPts val="600"/>
              </a:spcAft>
              <a:buClr>
                <a:srgbClr val="1E6FE8"/>
              </a:buClr>
              <a:buFont typeface="Helvetica"/>
              <a:buChar char="•"/>
            </a:pPr>
            <a:r>
              <a:rPr sz="2100" b="0" i="0">
                <a:solidFill>
                  <a:srgbClr val="0F1C3F"/>
                </a:solidFill>
                <a:latin typeface="Helvetica"/>
              </a:rPr>
              <a:t>300 s mỗi mẫu</a:t>
            </a:r>
          </a:p>
          <a:p>
            <a:pPr marL="292608" indent="-292608">
              <a:lnSpc>
                <a:spcPct val="108000"/>
              </a:lnSpc>
              <a:spcAft>
                <a:spcPts val="600"/>
              </a:spcAft>
              <a:buClr>
                <a:srgbClr val="1E6FE8"/>
              </a:buClr>
              <a:buFont typeface="Helvetica"/>
              <a:buChar char="•"/>
            </a:pPr>
            <a:r>
              <a:rPr sz="2100" b="0" i="0">
                <a:solidFill>
                  <a:srgbClr val="0F1C3F"/>
                </a:solidFill>
                <a:latin typeface="Helvetica"/>
              </a:rPr>
              <a:t>Dừng nếu ứng viên lặp</a:t>
            </a:r>
          </a:p>
        </p:txBody>
      </p:sp>
      <p:sp>
        <p:nvSpPr>
          <p:cNvPr id="26" name="Rounded Rectangle 25"/>
          <p:cNvSpPr/>
          <p:nvPr/>
        </p:nvSpPr>
        <p:spPr>
          <a:xfrm>
            <a:off x="8138160" y="3429000"/>
            <a:ext cx="3474720" cy="251460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3593592"/>
            <a:ext cx="301752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Kiểm toán</a:t>
            </a:r>
          </a:p>
        </p:txBody>
      </p:sp>
      <p:sp>
        <p:nvSpPr>
          <p:cNvPr id="28" name="TextBox 27"/>
          <p:cNvSpPr txBox="1"/>
          <p:nvPr/>
        </p:nvSpPr>
        <p:spPr>
          <a:xfrm>
            <a:off x="8366760" y="4160520"/>
            <a:ext cx="3017520" cy="16459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Lean chấp nhận</a:t>
            </a:r>
          </a:p>
          <a:p>
            <a:pPr marL="292608" indent="-292608">
              <a:lnSpc>
                <a:spcPct val="108000"/>
              </a:lnSpc>
              <a:spcAft>
                <a:spcPts val="600"/>
              </a:spcAft>
              <a:buClr>
                <a:srgbClr val="1E6FE8"/>
              </a:buClr>
              <a:buFont typeface="Helvetica"/>
              <a:buChar char="•"/>
            </a:pPr>
            <a:r>
              <a:rPr sz="2100" b="0" i="0">
                <a:solidFill>
                  <a:srgbClr val="0F1C3F"/>
                </a:solidFill>
                <a:latin typeface="Helvetica"/>
              </a:rPr>
              <a:t>Không sorry / axiom</a:t>
            </a:r>
          </a:p>
          <a:p>
            <a:pPr marL="292608" indent="-292608">
              <a:lnSpc>
                <a:spcPct val="108000"/>
              </a:lnSpc>
              <a:spcAft>
                <a:spcPts val="600"/>
              </a:spcAft>
              <a:buClr>
                <a:srgbClr val="1E6FE8"/>
              </a:buClr>
              <a:buFont typeface="Helvetica"/>
              <a:buChar char="•"/>
            </a:pPr>
            <a:r>
              <a:rPr sz="2100" b="0" i="0">
                <a:solidFill>
                  <a:srgbClr val="0F1C3F"/>
                </a:solidFill>
                <a:latin typeface="Helvetica"/>
              </a:rPr>
              <a:t>Giữ nguyên phát biểu</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9966960" y="4389120"/>
            <a:ext cx="3566160" cy="35661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704320" y="365760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Dự phòng P4 · Luật đúng gần hoàn hảo, luật sai kéo chiến lược lai xuống</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13</a:t>
            </a:r>
          </a:p>
        </p:txBody>
      </p:sp>
      <p:graphicFrame>
        <p:nvGraphicFramePr>
          <p:cNvPr id="6" name="Table 5"/>
          <p:cNvGraphicFramePr>
            <a:graphicFrameLocks noGrp="1"/>
          </p:cNvGraphicFramePr>
          <p:nvPr/>
        </p:nvGraphicFramePr>
        <p:xfrm>
          <a:off x="548640" y="1783080"/>
          <a:ext cx="6309360" cy="2743200"/>
        </p:xfrm>
        <a:graphic>
          <a:graphicData uri="http://schemas.openxmlformats.org/drawingml/2006/table">
            <a:tbl>
              <a:tblPr firstRow="1" bandRow="1">
                <a:tableStyleId>{5C22544A-7EE6-4342-B048-85BDC9FD1C3A}</a:tableStyleId>
              </a:tblPr>
              <a:tblGrid>
                <a:gridCol w="3200400"/>
                <a:gridCol w="1371600"/>
                <a:gridCol w="1737360"/>
              </a:tblGrid>
              <a:tr h="457200">
                <a:tc>
                  <a:txBody>
                    <a:bodyPr/>
                    <a:lstStyle/>
                    <a:p>
                      <a:pPr algn="l"/>
                      <a:r>
                        <a:rPr sz="2000" b="1" i="0">
                          <a:solidFill>
                            <a:srgbClr val="FFFFFF"/>
                          </a:solidFill>
                          <a:latin typeface="Helvetica"/>
                        </a:rPr>
                        <a:t>Luật</a:t>
                      </a:r>
                    </a:p>
                  </a:txBody>
                  <a:tcPr marL="73152" marR="73152" marT="36576" marB="36576" anchor="ctr">
                    <a:solidFill>
                      <a:srgbClr val="1E6FE8"/>
                    </a:solidFill>
                  </a:tcPr>
                </a:tc>
                <a:tc>
                  <a:txBody>
                    <a:bodyPr/>
                    <a:lstStyle/>
                    <a:p>
                      <a:pPr algn="ctr"/>
                      <a:r>
                        <a:rPr sz="2000" b="1" i="0">
                          <a:solidFill>
                            <a:srgbClr val="FFFFFF"/>
                          </a:solidFill>
                          <a:latin typeface="Helvetica"/>
                        </a:rPr>
                        <a:t>Áp dụng</a:t>
                      </a:r>
                    </a:p>
                  </a:txBody>
                  <a:tcPr marL="73152" marR="73152" marT="36576" marB="36576" anchor="ctr">
                    <a:solidFill>
                      <a:srgbClr val="1E6FE8"/>
                    </a:solidFill>
                  </a:tcPr>
                </a:tc>
                <a:tc>
                  <a:txBody>
                    <a:bodyPr/>
                    <a:lstStyle/>
                    <a:p>
                      <a:pPr algn="ctr"/>
                      <a:r>
                        <a:rPr sz="2000" b="1" i="0">
                          <a:solidFill>
                            <a:srgbClr val="FFFFFF"/>
                          </a:solidFill>
                          <a:latin typeface="Helvetica"/>
                        </a:rPr>
                        <a:t>Chính xác</a:t>
                      </a:r>
                    </a:p>
                  </a:txBody>
                  <a:tcPr marL="73152" marR="73152" marT="36576" marB="36576" anchor="ctr">
                    <a:solidFill>
                      <a:srgbClr val="1E6FE8"/>
                    </a:solidFill>
                  </a:tcPr>
                </a:tc>
              </a:tr>
              <a:tr h="457200">
                <a:tc>
                  <a:txBody>
                    <a:bodyPr/>
                    <a:lstStyle/>
                    <a:p>
                      <a:pPr algn="l"/>
                      <a:r>
                        <a:rPr sz="2000" b="0" i="0">
                          <a:solidFill>
                            <a:srgbClr val="0F1C3F"/>
                          </a:solidFill>
                          <a:latin typeface="Helvetica"/>
                        </a:rPr>
                        <a:t>R0 khôi phục import</a:t>
                      </a:r>
                    </a:p>
                  </a:txBody>
                  <a:tcPr marL="73152" marR="73152" marT="36576" marB="36576" anchor="ctr">
                    <a:solidFill>
                      <a:srgbClr val="FFFFFF"/>
                    </a:solidFill>
                  </a:tcPr>
                </a:tc>
                <a:tc>
                  <a:txBody>
                    <a:bodyPr/>
                    <a:lstStyle/>
                    <a:p>
                      <a:pPr algn="ctr"/>
                      <a:r>
                        <a:rPr sz="2000" b="0" i="0">
                          <a:solidFill>
                            <a:srgbClr val="0F1C3F"/>
                          </a:solidFill>
                          <a:latin typeface="Helvetica"/>
                        </a:rPr>
                        <a:t>99</a:t>
                      </a:r>
                    </a:p>
                  </a:txBody>
                  <a:tcPr marL="73152" marR="73152" marT="36576" marB="36576" anchor="ctr">
                    <a:solidFill>
                      <a:srgbClr val="FFFFFF"/>
                    </a:solidFill>
                  </a:tcPr>
                </a:tc>
                <a:tc>
                  <a:txBody>
                    <a:bodyPr/>
                    <a:lstStyle/>
                    <a:p>
                      <a:pPr algn="ctr"/>
                      <a:r>
                        <a:rPr sz="2000" b="0" i="0">
                          <a:solidFill>
                            <a:srgbClr val="0F1C3F"/>
                          </a:solidFill>
                          <a:latin typeface="Helvetica"/>
                        </a:rPr>
                        <a:t>97%</a:t>
                      </a:r>
                    </a:p>
                  </a:txBody>
                  <a:tcPr marL="73152" marR="73152" marT="36576" marB="36576" anchor="ctr">
                    <a:solidFill>
                      <a:srgbClr val="FFFFFF"/>
                    </a:solidFill>
                  </a:tcPr>
                </a:tc>
              </a:tr>
              <a:tr h="457200">
                <a:tc>
                  <a:txBody>
                    <a:bodyPr/>
                    <a:lstStyle/>
                    <a:p>
                      <a:pPr algn="l"/>
                      <a:r>
                        <a:rPr sz="2000" b="0" i="0">
                          <a:solidFill>
                            <a:srgbClr val="0F1C3F"/>
                          </a:solidFill>
                          <a:latin typeface="Helvetica"/>
                        </a:rPr>
                        <a:t>R7 ngân sách heartbeat</a:t>
                      </a:r>
                    </a:p>
                  </a:txBody>
                  <a:tcPr marL="73152" marR="73152" marT="36576" marB="36576" anchor="ctr">
                    <a:solidFill>
                      <a:srgbClr val="FFFFFF"/>
                    </a:solidFill>
                  </a:tcPr>
                </a:tc>
                <a:tc>
                  <a:txBody>
                    <a:bodyPr/>
                    <a:lstStyle/>
                    <a:p>
                      <a:pPr algn="ctr"/>
                      <a:r>
                        <a:rPr sz="2000" b="0" i="0">
                          <a:solidFill>
                            <a:srgbClr val="0F1C3F"/>
                          </a:solidFill>
                          <a:latin typeface="Helvetica"/>
                        </a:rPr>
                        <a:t>81</a:t>
                      </a:r>
                    </a:p>
                  </a:txBody>
                  <a:tcPr marL="73152" marR="73152" marT="36576" marB="36576" anchor="ctr">
                    <a:solidFill>
                      <a:srgbClr val="FFFFFF"/>
                    </a:solidFill>
                  </a:tcPr>
                </a:tc>
                <a:tc>
                  <a:txBody>
                    <a:bodyPr/>
                    <a:lstStyle/>
                    <a:p>
                      <a:pPr algn="ctr"/>
                      <a:r>
                        <a:rPr sz="2000" b="0" i="0">
                          <a:solidFill>
                            <a:srgbClr val="0F1C3F"/>
                          </a:solidFill>
                          <a:latin typeface="Helvetica"/>
                        </a:rPr>
                        <a:t>100%</a:t>
                      </a:r>
                    </a:p>
                  </a:txBody>
                  <a:tcPr marL="73152" marR="73152" marT="36576" marB="36576" anchor="ctr">
                    <a:solidFill>
                      <a:srgbClr val="FFFFFF"/>
                    </a:solidFill>
                  </a:tcPr>
                </a:tc>
              </a:tr>
              <a:tr h="457200">
                <a:tc>
                  <a:txBody>
                    <a:bodyPr/>
                    <a:lstStyle/>
                    <a:p>
                      <a:pPr algn="l"/>
                      <a:r>
                        <a:rPr sz="2000" b="0" i="0">
                          <a:solidFill>
                            <a:srgbClr val="0F1C3F"/>
                          </a:solidFill>
                          <a:latin typeface="Helvetica"/>
                        </a:rPr>
                        <a:t>R1 cân bằng ngoặc</a:t>
                      </a:r>
                    </a:p>
                  </a:txBody>
                  <a:tcPr marL="73152" marR="73152" marT="36576" marB="36576" anchor="ctr">
                    <a:solidFill>
                      <a:srgbClr val="FFFFFF"/>
                    </a:solidFill>
                  </a:tcPr>
                </a:tc>
                <a:tc>
                  <a:txBody>
                    <a:bodyPr/>
                    <a:lstStyle/>
                    <a:p>
                      <a:pPr algn="ctr"/>
                      <a:r>
                        <a:rPr sz="2000" b="0" i="0">
                          <a:solidFill>
                            <a:srgbClr val="0F1C3F"/>
                          </a:solidFill>
                          <a:latin typeface="Helvetica"/>
                        </a:rPr>
                        <a:t>99</a:t>
                      </a:r>
                    </a:p>
                  </a:txBody>
                  <a:tcPr marL="73152" marR="73152" marT="36576" marB="36576" anchor="ctr">
                    <a:solidFill>
                      <a:srgbClr val="FFFFFF"/>
                    </a:solidFill>
                  </a:tcPr>
                </a:tc>
                <a:tc>
                  <a:txBody>
                    <a:bodyPr/>
                    <a:lstStyle/>
                    <a:p>
                      <a:pPr algn="ctr"/>
                      <a:r>
                        <a:rPr sz="2000" b="0" i="0">
                          <a:solidFill>
                            <a:srgbClr val="0F1C3F"/>
                          </a:solidFill>
                          <a:latin typeface="Helvetica"/>
                        </a:rPr>
                        <a:t>27%</a:t>
                      </a:r>
                    </a:p>
                  </a:txBody>
                  <a:tcPr marL="73152" marR="73152" marT="36576" marB="36576" anchor="ctr">
                    <a:solidFill>
                      <a:srgbClr val="FFFFFF"/>
                    </a:solidFill>
                  </a:tcPr>
                </a:tc>
              </a:tr>
              <a:tr h="457200">
                <a:tc>
                  <a:txBody>
                    <a:bodyPr/>
                    <a:lstStyle/>
                    <a:p>
                      <a:pPr algn="l"/>
                      <a:r>
                        <a:rPr sz="2000" b="0" i="0">
                          <a:solidFill>
                            <a:srgbClr val="0F1C3F"/>
                          </a:solidFill>
                          <a:latin typeface="Helvetica"/>
                        </a:rPr>
                        <a:t>R3 bảng import</a:t>
                      </a:r>
                    </a:p>
                  </a:txBody>
                  <a:tcPr marL="73152" marR="73152" marT="36576" marB="36576" anchor="ctr">
                    <a:solidFill>
                      <a:srgbClr val="FFFFFF"/>
                    </a:solidFill>
                  </a:tcPr>
                </a:tc>
                <a:tc>
                  <a:txBody>
                    <a:bodyPr/>
                    <a:lstStyle/>
                    <a:p>
                      <a:pPr algn="ctr"/>
                      <a:r>
                        <a:rPr sz="2000" b="0" i="0">
                          <a:solidFill>
                            <a:srgbClr val="0F1C3F"/>
                          </a:solidFill>
                          <a:latin typeface="Helvetica"/>
                        </a:rPr>
                        <a:t>253</a:t>
                      </a:r>
                    </a:p>
                  </a:txBody>
                  <a:tcPr marL="73152" marR="73152" marT="36576" marB="36576" anchor="ctr">
                    <a:solidFill>
                      <a:srgbClr val="FFFFFF"/>
                    </a:solidFill>
                  </a:tcPr>
                </a:tc>
                <a:tc>
                  <a:txBody>
                    <a:bodyPr/>
                    <a:lstStyle/>
                    <a:p>
                      <a:pPr algn="ctr"/>
                      <a:r>
                        <a:rPr sz="2000" b="0" i="0">
                          <a:solidFill>
                            <a:srgbClr val="0F1C3F"/>
                          </a:solidFill>
                          <a:latin typeface="Helvetica"/>
                        </a:rPr>
                        <a:t>0%</a:t>
                      </a:r>
                    </a:p>
                  </a:txBody>
                  <a:tcPr marL="73152" marR="73152" marT="36576" marB="36576" anchor="ctr">
                    <a:solidFill>
                      <a:srgbClr val="FFFFFF"/>
                    </a:solidFill>
                  </a:tcPr>
                </a:tc>
              </a:tr>
              <a:tr h="457200">
                <a:tc>
                  <a:txBody>
                    <a:bodyPr/>
                    <a:lstStyle/>
                    <a:p>
                      <a:pPr algn="l"/>
                      <a:r>
                        <a:rPr sz="2000" b="0" i="0">
                          <a:solidFill>
                            <a:srgbClr val="0F1C3F"/>
                          </a:solidFill>
                          <a:latin typeface="Helvetica"/>
                        </a:rPr>
                        <a:t>R2 chèn từ khoá</a:t>
                      </a:r>
                    </a:p>
                  </a:txBody>
                  <a:tcPr marL="73152" marR="73152" marT="36576" marB="36576" anchor="ctr">
                    <a:solidFill>
                      <a:srgbClr val="FFFFFF"/>
                    </a:solidFill>
                  </a:tcPr>
                </a:tc>
                <a:tc>
                  <a:txBody>
                    <a:bodyPr/>
                    <a:lstStyle/>
                    <a:p>
                      <a:pPr algn="ctr"/>
                      <a:r>
                        <a:rPr sz="2000" b="0" i="0">
                          <a:solidFill>
                            <a:srgbClr val="0F1C3F"/>
                          </a:solidFill>
                          <a:latin typeface="Helvetica"/>
                        </a:rPr>
                        <a:t>126</a:t>
                      </a:r>
                    </a:p>
                  </a:txBody>
                  <a:tcPr marL="73152" marR="73152" marT="36576" marB="36576" anchor="ctr">
                    <a:solidFill>
                      <a:srgbClr val="FFFFFF"/>
                    </a:solidFill>
                  </a:tcPr>
                </a:tc>
                <a:tc>
                  <a:txBody>
                    <a:bodyPr/>
                    <a:lstStyle/>
                    <a:p>
                      <a:pPr algn="ctr"/>
                      <a:r>
                        <a:rPr sz="2000" b="0" i="0">
                          <a:solidFill>
                            <a:srgbClr val="0F1C3F"/>
                          </a:solidFill>
                          <a:latin typeface="Helvetica"/>
                        </a:rPr>
                        <a:t>0%</a:t>
                      </a:r>
                    </a:p>
                  </a:txBody>
                  <a:tcPr marL="73152" marR="73152" marT="36576" marB="36576" anchor="ctr">
                    <a:solidFill>
                      <a:srgbClr val="FFFFFF"/>
                    </a:solidFill>
                  </a:tcPr>
                </a:tc>
              </a:tr>
            </a:tbl>
          </a:graphicData>
        </a:graphic>
      </p:graphicFrame>
      <p:sp>
        <p:nvSpPr>
          <p:cNvPr id="7" name="Rounded Rectangle 6"/>
          <p:cNvSpPr/>
          <p:nvPr/>
        </p:nvSpPr>
        <p:spPr>
          <a:xfrm>
            <a:off x="7132320" y="1783080"/>
            <a:ext cx="4480560" cy="420624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947672"/>
            <a:ext cx="40233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Ablation bộ phân loại</a:t>
            </a:r>
          </a:p>
        </p:txBody>
      </p:sp>
      <p:sp>
        <p:nvSpPr>
          <p:cNvPr id="9" name="TextBox 8"/>
          <p:cNvSpPr txBox="1"/>
          <p:nvPr/>
        </p:nvSpPr>
        <p:spPr>
          <a:xfrm>
            <a:off x="7360920" y="2514600"/>
            <a:ext cx="4023360" cy="333755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Khớp nhãn 72,3% → 96,3%</a:t>
            </a:r>
          </a:p>
          <a:p>
            <a:pPr marL="292608" indent="-292608">
              <a:lnSpc>
                <a:spcPct val="108000"/>
              </a:lnSpc>
              <a:spcAft>
                <a:spcPts val="600"/>
              </a:spcAft>
              <a:buClr>
                <a:srgbClr val="1E6FE8"/>
              </a:buClr>
              <a:buFont typeface="Helvetica"/>
              <a:buChar char="•"/>
            </a:pPr>
            <a:r>
              <a:rPr sz="2100" b="0" i="0">
                <a:solidFill>
                  <a:srgbClr val="0F1C3F"/>
                </a:solidFill>
                <a:latin typeface="Helvetica"/>
              </a:rPr>
              <a:t>Token giảm 31%</a:t>
            </a:r>
          </a:p>
          <a:p>
            <a:pPr marL="292608" indent="-292608">
              <a:lnSpc>
                <a:spcPct val="108000"/>
              </a:lnSpc>
              <a:spcAft>
                <a:spcPts val="600"/>
              </a:spcAft>
              <a:buClr>
                <a:srgbClr val="1E6FE8"/>
              </a:buClr>
              <a:buFont typeface="Helvetica"/>
              <a:buChar char="•"/>
            </a:pPr>
            <a:r>
              <a:rPr sz="2100" b="0" i="0">
                <a:solidFill>
                  <a:srgbClr val="0F1C3F"/>
                </a:solidFill>
                <a:latin typeface="Helvetica"/>
              </a:rPr>
              <a:t>Lai k=1 lại giảm 34,9% → 30,3%</a:t>
            </a:r>
          </a:p>
          <a:p>
            <a:pPr marL="292608" indent="-292608">
              <a:lnSpc>
                <a:spcPct val="108000"/>
              </a:lnSpc>
              <a:spcAft>
                <a:spcPts val="600"/>
              </a:spcAft>
              <a:buClr>
                <a:srgbClr val="1E6FE8"/>
              </a:buClr>
              <a:buFont typeface="Helvetica"/>
              <a:buChar char="•"/>
            </a:pPr>
            <a:r>
              <a:rPr sz="2100" b="0" i="0">
                <a:solidFill>
                  <a:srgbClr val="0F1C3F"/>
                </a:solidFill>
                <a:latin typeface="Helvetica"/>
              </a:rPr>
              <a:t>Nút thắt: độ chính xác của luật</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0241280" y="-2194560"/>
            <a:ext cx="4023360" cy="40233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24712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Dự phòng P5 · Thiết lập: cùng dữ liệu, phần cứng và seed, chỉ đổi chiến lược</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14</a:t>
            </a:r>
          </a:p>
        </p:txBody>
      </p:sp>
      <p:sp>
        <p:nvSpPr>
          <p:cNvPr id="6" name="Rounded Rectangle 5"/>
          <p:cNvSpPr/>
          <p:nvPr/>
        </p:nvSpPr>
        <p:spPr>
          <a:xfrm>
            <a:off x="548640" y="1737360"/>
            <a:ext cx="3566160" cy="32004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0195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Chiến lược</a:t>
            </a:r>
          </a:p>
        </p:txBody>
      </p:sp>
      <p:sp>
        <p:nvSpPr>
          <p:cNvPr id="8" name="TextBox 7"/>
          <p:cNvSpPr txBox="1"/>
          <p:nvPr/>
        </p:nvSpPr>
        <p:spPr>
          <a:xfrm>
            <a:off x="777240" y="2468880"/>
            <a:ext cx="3108960" cy="23317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Không sửa · chỉ luật</a:t>
            </a:r>
          </a:p>
          <a:p>
            <a:pPr marL="292608" indent="-292608">
              <a:lnSpc>
                <a:spcPct val="108000"/>
              </a:lnSpc>
              <a:spcAft>
                <a:spcPts val="600"/>
              </a:spcAft>
              <a:buClr>
                <a:srgbClr val="1E6FE8"/>
              </a:buClr>
              <a:buFont typeface="Helvetica"/>
              <a:buChar char="•"/>
            </a:pPr>
            <a:r>
              <a:rPr sz="2100" b="0" i="0">
                <a:solidFill>
                  <a:srgbClr val="0F1C3F"/>
                </a:solidFill>
                <a:latin typeface="Helvetica"/>
              </a:rPr>
              <a:t>Blind là baseline</a:t>
            </a:r>
          </a:p>
          <a:p>
            <a:pPr marL="292608" indent="-292608">
              <a:lnSpc>
                <a:spcPct val="108000"/>
              </a:lnSpc>
              <a:spcAft>
                <a:spcPts val="600"/>
              </a:spcAft>
              <a:buClr>
                <a:srgbClr val="1E6FE8"/>
              </a:buClr>
              <a:buFont typeface="Helvetica"/>
              <a:buChar char="•"/>
            </a:pPr>
            <a:r>
              <a:rPr sz="2100" b="0" i="0">
                <a:solidFill>
                  <a:srgbClr val="0F1C3F"/>
                </a:solidFill>
                <a:latin typeface="Helvetica"/>
              </a:rPr>
              <a:t>LLM + chẩn đoán · lai</a:t>
            </a:r>
          </a:p>
        </p:txBody>
      </p:sp>
      <p:sp>
        <p:nvSpPr>
          <p:cNvPr id="9" name="Rounded Rectangle 8"/>
          <p:cNvSpPr/>
          <p:nvPr/>
        </p:nvSpPr>
        <p:spPr>
          <a:xfrm>
            <a:off x="4343400" y="1737360"/>
            <a:ext cx="3566160" cy="32004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0195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Ma trận</a:t>
            </a:r>
          </a:p>
        </p:txBody>
      </p:sp>
      <p:sp>
        <p:nvSpPr>
          <p:cNvPr id="11" name="TextBox 10"/>
          <p:cNvSpPr txBox="1"/>
          <p:nvPr/>
        </p:nvSpPr>
        <p:spPr>
          <a:xfrm>
            <a:off x="4572000" y="2468880"/>
            <a:ext cx="3108960" cy="23317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k = 0 / 1 / 3</a:t>
            </a:r>
          </a:p>
          <a:p>
            <a:pPr marL="292608" indent="-292608">
              <a:lnSpc>
                <a:spcPct val="108000"/>
              </a:lnSpc>
              <a:spcAft>
                <a:spcPts val="600"/>
              </a:spcAft>
              <a:buClr>
                <a:srgbClr val="1E6FE8"/>
              </a:buClr>
              <a:buFont typeface="Helvetica"/>
              <a:buChar char="•"/>
            </a:pPr>
            <a:r>
              <a:rPr sz="2100" b="0" i="0">
                <a:solidFill>
                  <a:srgbClr val="0F1C3F"/>
                </a:solidFill>
                <a:latin typeface="Helvetica"/>
              </a:rPr>
              <a:t>100 / 1K / 10K mẫu</a:t>
            </a:r>
          </a:p>
          <a:p>
            <a:pPr marL="292608" indent="-292608">
              <a:lnSpc>
                <a:spcPct val="108000"/>
              </a:lnSpc>
              <a:spcAft>
                <a:spcPts val="600"/>
              </a:spcAft>
              <a:buClr>
                <a:srgbClr val="1E6FE8"/>
              </a:buClr>
              <a:buFont typeface="Helvetica"/>
              <a:buChar char="•"/>
            </a:pPr>
            <a:r>
              <a:rPr sz="2100" b="0" i="0">
                <a:solidFill>
                  <a:srgbClr val="0F1C3F"/>
                </a:solidFill>
                <a:latin typeface="Helvetica"/>
              </a:rPr>
              <a:t>1 / 2 / 4 worker · 3 lần</a:t>
            </a:r>
          </a:p>
        </p:txBody>
      </p:sp>
      <p:sp>
        <p:nvSpPr>
          <p:cNvPr id="12" name="Rounded Rectangle 11"/>
          <p:cNvSpPr/>
          <p:nvPr/>
        </p:nvSpPr>
        <p:spPr>
          <a:xfrm>
            <a:off x="8138160" y="1737360"/>
            <a:ext cx="3566160" cy="320040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901952"/>
            <a:ext cx="310896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Môi trường</a:t>
            </a:r>
          </a:p>
        </p:txBody>
      </p:sp>
      <p:sp>
        <p:nvSpPr>
          <p:cNvPr id="14" name="TextBox 13"/>
          <p:cNvSpPr txBox="1"/>
          <p:nvPr/>
        </p:nvSpPr>
        <p:spPr>
          <a:xfrm>
            <a:off x="8366760" y="2468880"/>
            <a:ext cx="3108960" cy="23317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Kaggle 4 vCPU, 31 GB</a:t>
            </a:r>
          </a:p>
          <a:p>
            <a:pPr marL="292608" indent="-292608">
              <a:lnSpc>
                <a:spcPct val="108000"/>
              </a:lnSpc>
              <a:spcAft>
                <a:spcPts val="600"/>
              </a:spcAft>
              <a:buClr>
                <a:srgbClr val="1E6FE8"/>
              </a:buClr>
              <a:buFont typeface="Helvetica"/>
              <a:buChar char="•"/>
            </a:pPr>
            <a:r>
              <a:rPr sz="2100" b="0" i="0">
                <a:solidFill>
                  <a:srgbClr val="0F1C3F"/>
                </a:solidFill>
                <a:latin typeface="Helvetica"/>
              </a:rPr>
              <a:t>Lean 4.35 + Mathlib</a:t>
            </a:r>
          </a:p>
          <a:p>
            <a:pPr marL="292608" indent="-292608">
              <a:lnSpc>
                <a:spcPct val="108000"/>
              </a:lnSpc>
              <a:spcAft>
                <a:spcPts val="600"/>
              </a:spcAft>
              <a:buClr>
                <a:srgbClr val="1E6FE8"/>
              </a:buClr>
              <a:buFont typeface="Helvetica"/>
              <a:buChar char="•"/>
            </a:pPr>
            <a:r>
              <a:rPr sz="2100" b="0" i="0">
                <a:solidFill>
                  <a:srgbClr val="0F1C3F"/>
                </a:solidFill>
                <a:latin typeface="Helvetica"/>
              </a:rPr>
              <a:t>Gemini Flash-Lite</a:t>
            </a:r>
          </a:p>
        </p:txBody>
      </p:sp>
      <p:sp>
        <p:nvSpPr>
          <p:cNvPr id="15" name="TextBox 14"/>
          <p:cNvSpPr txBox="1"/>
          <p:nvPr/>
        </p:nvSpPr>
        <p:spPr>
          <a:xfrm>
            <a:off x="548640" y="5212080"/>
            <a:ext cx="11064240" cy="7315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Tổng chi phí API cho toàn bộ thực nghiệm: </a:t>
            </a:r>
            <a:r>
              <a:rPr sz="2200" b="1" i="0">
                <a:solidFill>
                  <a:srgbClr val="0F1C3F"/>
                </a:solidFill>
                <a:latin typeface="Helvetica"/>
              </a:rPr>
              <a:t>$2,97</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737360" y="-201168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54864" y="32918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Dự phòng P6 · Ablation: biên dịch và thành công đã kiểm toán</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15</a:t>
            </a:r>
          </a:p>
        </p:txBody>
      </p:sp>
      <p:pic>
        <p:nvPicPr>
          <p:cNvPr id="6" name="Picture 5" descr="fig_ablation_slide.png"/>
          <p:cNvPicPr>
            <a:picLocks noChangeAspect="1"/>
          </p:cNvPicPr>
          <p:nvPr/>
        </p:nvPicPr>
        <p:blipFill>
          <a:blip r:embed="rId3"/>
          <a:stretch>
            <a:fillRect/>
          </a:stretch>
        </p:blipFill>
        <p:spPr>
          <a:xfrm>
            <a:off x="502920" y="1600200"/>
            <a:ext cx="11155680" cy="447749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9875520" y="429768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11704320" y="34747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Dự phòng P7 · Độ trễ phục vụ P50 và P95 ở 3 mức dữ liệu</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16</a:t>
            </a:r>
          </a:p>
        </p:txBody>
      </p:sp>
      <p:pic>
        <p:nvPicPr>
          <p:cNvPr id="6" name="Picture 5" descr="fig_scale_latency_slide.png"/>
          <p:cNvPicPr>
            <a:picLocks noChangeAspect="1"/>
          </p:cNvPicPr>
          <p:nvPr/>
        </p:nvPicPr>
        <p:blipFill>
          <a:blip r:embed="rId3"/>
          <a:stretch>
            <a:fillRect/>
          </a:stretch>
        </p:blipFill>
        <p:spPr>
          <a:xfrm>
            <a:off x="1280160" y="1600200"/>
            <a:ext cx="9609116" cy="47548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