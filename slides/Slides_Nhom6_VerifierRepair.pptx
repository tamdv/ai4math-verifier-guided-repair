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Tâm: giới thiệu đề tài, môn học, giảng viên, nhóm. Một câu: hệ thống sửa chứng minh Lean 4 hàng loạt, chỉ chấp nhận bản sửa được Lean kiểm chứng và giữ nguyên đề, dưới giới hạn chi phí và độ trễ.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Tâm: vị trí Nhóm 6 trong chuỗi AI4Math, nhận ứng viên lỗi từ Nhóm 5, trả chứng minh đã kiểm chứng cho Nhóm 7/8. Thử lại nguyên prompt bỏ qua thông tin quý nhất: thông báo lỗi của Lean.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Tâm: bốn con số làm nên bài toán Big Data. Kiểm chứng nguội nạp Mathlib ~6 GB mỗi tệp; số ứng viên 10^4; mỗi lần gọi LLM tốn token; log phải phát lại được để kiểm toán.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Nounou: 5.000 chứng minh Lean Workbook, MIT kiểm chứng lại với Lean 4.35 → 3.666 seed; 1.110 chứng minh cũ hỏng do Mathlib đổi tên = lỗi tự nhiên; 9 toán tử gây lỗi; nhãn từ thông báo Lean thật; chia train/hold-out theo định lý gốc.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Khamsing + Trung + Tùng: parser lấy lỗi gốc từ thông báo Lean, taxonomy 7 nhóm, thêm TAC_07; router gửi lỗi đơn giản cho luật 0 token, còn lại cho LLM có chẩn đoán; Lean REPL kiểm chứng; kiểm toán chặn sorry/axiom/đổi đề; vòng lặp tối đa k lần, dừng khi ứng viên lặp lại.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Dũng: mỗi worker nạp Mathlib một lần rồi kiểm từng định lý trong môi trường gốc, cô lập; khớp 74/74 với chạy nguội. Bài học vận hành: lake sinh tiến trình repl con, huỷ lake khi timeout làm rò repl 100% CPU; sửa bằng process group.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Tâm: Kaggle CPU 4 vCPU / 31 GB; Gemini 3.5 Flash-Lite nhiệt độ 0; baseline bắt buộc = thử lại nguyên prompt đúng 1 lần; 3 lần lặp, báo trung vị và min–max; trần chi phí $8/tháng, tổng chi thực tế $2,97.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Tùng: cùng 284 mẫu hold-out, k = 1. Không có chẩn đoán, mô hình viết lại cả tệp, 783 token ra/lần nên đắt hơn; có chẩn đoán, mô hình sửa cục bộ, 389 token. Lợi ích lớn nhất ở SYN_01 47 → 85%, TMO_05 10 → 69%.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Tùng/Tâm: cột xanh là biên dịch, cột cam là thành công đã kiểm toán. k = 3 thêm 11 điểm % so với k = 1; 82,7% thành công đến ngay lần thử đầu, 12,4% ở lần 2. Hybrid kém LLM thuần ở cùng k, xem slide sau.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Tâm: trục x là chi phí LLM cho 1.000 mẫu, trục y là tỷ lệ thành công. Biên đi từ chỉ luật $0 qua hybrid k=1, LLM k=1, hybrid k=3 tới LLM k=3. Blind và mô hình 3.6 Flash nằm dưới biên: đắt hơn mà kém hơn.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Trung: luật được thử trước trên 203/284 mẫu nhưng chỉ đúng 33%; với k = 1 luật sai là hết lượt. R0, khôi phục import 97%, R7, heartbeat 100%; R2–R6 0% trên tệp hoàn chỉnh. Cải tiến: chỉ dùng luật chính xác, đo trên train.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Khamsing/Tâm: trong các mẫu thất bại, 17–26% bản sửa của LLM đổi phát biểu và 10–24% chèn sorry hoặc cấu trúc cấm. LLM k = 3: biên dịch 75,0% nhưng thành công thật 65,1%.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Dũng: 3 mức × 3 mức worker × 3 lần lặp, spread ≤ 4%. Từ 2 lên 4 worker chỉ thêm 7–11% thông lượng, P95 phục vụ tăng gấp đôi, 3,1 → 6,5 s ở 10K: 4 REPL tranh 4 vCPU. Bộ nhớ USS 12,6 → 21,1 GB. Mở rộng tiếp cần nhiều máy.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Trung/Tùng/Khamsing: chạy slides/demo_script.md, phát lại log, $0. E000880: luật R0, 0 token. E000003: cùng loại lỗi, chỉ LLM, lần 1 lách bằng sorry bị chặn, lần 3 đúng, 4.583 token. E000197: đúng ở lần 2.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Tâm: trả lời RQ1–RQ3 bằng số; hạn chế trung thực; hướng phát triển.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Tâm: giới thiệu người trả lời từng mảng khi hỏi đáp, contributions.md, slides/defense_qa.md.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Cả nhóm: cảm ơn, mời hỏi đáp; Tâm điều phối người trả lời theo bảng phân công.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2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3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!!orb"/>
          <p:cNvSpPr/>
          <p:nvPr/>
        </p:nvSpPr>
        <p:spPr>
          <a:xfrm>
            <a:off x="6949440" y="-1097280"/>
            <a:ext cx="6766560" cy="6766560"/>
          </a:xfrm>
          <a:prstGeom prst="ellipse">
            <a:avLst/>
          </a:prstGeom>
          <a:solidFill>
            <a:srgbClr val="EAF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!!dot"/>
          <p:cNvSpPr/>
          <p:nvPr/>
        </p:nvSpPr>
        <p:spPr>
          <a:xfrm>
            <a:off x="10607040" y="5212080"/>
            <a:ext cx="822960" cy="822960"/>
          </a:xfrm>
          <a:prstGeom prst="ellipse">
            <a:avLst/>
          </a:prstGeom>
          <a:solidFill>
            <a:srgbClr val="1E6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!!title"/>
          <p:cNvSpPr txBox="1"/>
          <p:nvPr/>
        </p:nvSpPr>
        <p:spPr>
          <a:xfrm>
            <a:off x="731520" y="914400"/>
            <a:ext cx="7680960" cy="4572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0000"/>
              </a:lnSpc>
            </a:pPr>
            <a:r>
              <a:rPr sz="2000" b="1" i="0">
                <a:solidFill>
                  <a:srgbClr val="1E6FE8"/>
                </a:solidFill>
                <a:latin typeface="Helvetica"/>
              </a:rPr>
              <a:t>DỮ LIỆU LỚN, INT4418 · NHÓM 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554480"/>
            <a:ext cx="7863840" cy="2560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4400" b="1" i="0">
                <a:solidFill>
                  <a:srgbClr val="0F1C3F"/>
                </a:solidFill>
                <a:latin typeface="Helvetica"/>
              </a:rPr>
              <a:t>Verifier-Guided Repair</a:t>
            </a:r>
          </a:p>
          <a:p>
            <a:pPr algn="l">
              <a:lnSpc>
                <a:spcPct val="105000"/>
              </a:lnSpc>
            </a:pPr>
            <a:r>
              <a:rPr sz="2800" b="0" i="0">
                <a:solidFill>
                  <a:srgbClr val="144FB0"/>
                </a:solidFill>
                <a:latin typeface="Helvetica"/>
              </a:rPr>
              <a:t>Sửa chứng minh Lean 4 có kiểm chứng dưới ràng buộc chi phí và độ trễ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4160520"/>
            <a:ext cx="7863840" cy="19202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0000"/>
              </a:lnSpc>
            </a:pPr>
            <a:r>
              <a:rPr sz="2000" b="0" i="0">
                <a:solidFill>
                  <a:srgbClr val="5B6B82"/>
                </a:solidFill>
                <a:latin typeface="Helvetica"/>
              </a:rPr>
              <a:t>Giảng viên: TS. Nguyễn Kiều Linh</a:t>
            </a:r>
          </a:p>
          <a:p>
            <a:pPr algn="l">
              <a:lnSpc>
                <a:spcPct val="110000"/>
              </a:lnSpc>
            </a:pPr>
            <a:r>
              <a:rPr sz="2000" b="0" i="0">
                <a:solidFill>
                  <a:srgbClr val="5B6B82"/>
                </a:solidFill>
                <a:latin typeface="Helvetica"/>
              </a:rPr>
              <a:t>Đào Văn Tâm · Trần Quang Đức Dũng · Lâm Thành Trung</a:t>
            </a:r>
          </a:p>
          <a:p>
            <a:pPr algn="l">
              <a:lnSpc>
                <a:spcPct val="110000"/>
              </a:lnSpc>
            </a:pPr>
            <a:r>
              <a:rPr sz="2000" b="0" i="0">
                <a:solidFill>
                  <a:srgbClr val="5B6B82"/>
                </a:solidFill>
                <a:latin typeface="Helvetica"/>
              </a:rPr>
              <a:t>Nguyễn Xuân Tùng · Khamsing OUTHAIHUENG · Mekdala Nounou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spd="slow" p14:dur="1200">
        <p159:morph option="byObject"/>
      </p:transition>
    </mc:Choice>
    <mc:Fallback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!!orb"/>
          <p:cNvSpPr/>
          <p:nvPr/>
        </p:nvSpPr>
        <p:spPr>
          <a:xfrm>
            <a:off x="9692640" y="-2194560"/>
            <a:ext cx="4206240" cy="4206240"/>
          </a:xfrm>
          <a:prstGeom prst="ellipse">
            <a:avLst/>
          </a:prstGeom>
          <a:solidFill>
            <a:srgbClr val="EAF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!!dot"/>
          <p:cNvSpPr/>
          <p:nvPr/>
        </p:nvSpPr>
        <p:spPr>
          <a:xfrm>
            <a:off x="11201400" y="502920"/>
            <a:ext cx="411480" cy="411480"/>
          </a:xfrm>
          <a:prstGeom prst="ellipse">
            <a:avLst/>
          </a:prstGeom>
          <a:solidFill>
            <a:srgbClr val="1E6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!!title"/>
          <p:cNvSpPr txBox="1"/>
          <p:nvPr/>
        </p:nvSpPr>
        <p:spPr>
          <a:xfrm>
            <a:off x="548640" y="347472"/>
            <a:ext cx="10424160" cy="11430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10000"/>
              </a:lnSpc>
            </a:pPr>
            <a:r>
              <a:rPr sz="3200" b="1" i="0">
                <a:solidFill>
                  <a:srgbClr val="0F1C3F"/>
                </a:solidFill>
                <a:latin typeface="Helvetica"/>
              </a:rPr>
              <a:t>Hàng nghìn chứng minh Lean 4 lỗi cần được sửa tự động và đáng tin</a:t>
            </a:r>
          </a:p>
        </p:txBody>
      </p:sp>
      <p:sp>
        <p:nvSpPr>
          <p:cNvPr id="5" name="!!num"/>
          <p:cNvSpPr txBox="1"/>
          <p:nvPr/>
        </p:nvSpPr>
        <p:spPr>
          <a:xfrm>
            <a:off x="10881360" y="6236208"/>
            <a:ext cx="914400" cy="4572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10000"/>
              </a:lnSpc>
            </a:pPr>
            <a:r>
              <a:rPr sz="2000" b="0" i="0">
                <a:solidFill>
                  <a:srgbClr val="5B6B82"/>
                </a:solidFill>
                <a:latin typeface="Helvetica"/>
              </a:rPr>
              <a:t>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828800"/>
            <a:ext cx="2331720" cy="1143000"/>
          </a:xfrm>
          <a:prstGeom prst="roundRect">
            <a:avLst>
              <a:gd name="adj" fmla="val 8000"/>
            </a:avLst>
          </a:prstGeom>
          <a:solidFill>
            <a:srgbClr val="EAF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21792" y="1901952"/>
            <a:ext cx="2185415" cy="996696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10000"/>
              </a:lnSpc>
            </a:pPr>
            <a:r>
              <a:rPr sz="2000" b="1" i="0">
                <a:solidFill>
                  <a:srgbClr val="144FB0"/>
                </a:solidFill>
                <a:latin typeface="Helvetica"/>
              </a:rPr>
              <a:t>Nhóm 5</a:t>
            </a:r>
          </a:p>
          <a:p>
            <a:pPr algn="ctr">
              <a:lnSpc>
                <a:spcPct val="110000"/>
              </a:lnSpc>
            </a:pPr>
            <a:r>
              <a:rPr sz="2000" b="1" i="0">
                <a:solidFill>
                  <a:srgbClr val="144FB0"/>
                </a:solidFill>
                <a:latin typeface="Helvetica"/>
              </a:rPr>
              <a:t>ứng viên Lean</a:t>
            </a:r>
          </a:p>
        </p:txBody>
      </p:sp>
      <p:sp>
        <p:nvSpPr>
          <p:cNvPr id="8" name="Right Arrow 7"/>
          <p:cNvSpPr/>
          <p:nvPr/>
        </p:nvSpPr>
        <p:spPr>
          <a:xfrm>
            <a:off x="2935224" y="2253996"/>
            <a:ext cx="393192" cy="292608"/>
          </a:xfrm>
          <a:prstGeom prst="rightArrow">
            <a:avLst/>
          </a:prstGeom>
          <a:solidFill>
            <a:srgbClr val="1E6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3383279" y="1828800"/>
            <a:ext cx="2331720" cy="1143000"/>
          </a:xfrm>
          <a:prstGeom prst="roundRect">
            <a:avLst>
              <a:gd name="adj" fmla="val 8000"/>
            </a:avLst>
          </a:prstGeom>
          <a:solidFill>
            <a:srgbClr val="D6E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456432" y="1901952"/>
            <a:ext cx="2185415" cy="996696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10000"/>
              </a:lnSpc>
            </a:pPr>
            <a:r>
              <a:rPr sz="2000" b="1" i="0">
                <a:solidFill>
                  <a:srgbClr val="144FB0"/>
                </a:solidFill>
                <a:latin typeface="Helvetica"/>
              </a:rPr>
              <a:t>Nhóm 6</a:t>
            </a:r>
          </a:p>
          <a:p>
            <a:pPr algn="ctr">
              <a:lnSpc>
                <a:spcPct val="110000"/>
              </a:lnSpc>
            </a:pPr>
            <a:r>
              <a:rPr sz="2000" b="1" i="0">
                <a:solidFill>
                  <a:srgbClr val="144FB0"/>
                </a:solidFill>
                <a:latin typeface="Helvetica"/>
              </a:rPr>
              <a:t>phân loại + sửa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5769864" y="2253996"/>
            <a:ext cx="393192" cy="292608"/>
          </a:xfrm>
          <a:prstGeom prst="rightArrow">
            <a:avLst/>
          </a:prstGeom>
          <a:solidFill>
            <a:srgbClr val="1E6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217919" y="1828800"/>
            <a:ext cx="2331720" cy="1143000"/>
          </a:xfrm>
          <a:prstGeom prst="roundRect">
            <a:avLst>
              <a:gd name="adj" fmla="val 8000"/>
            </a:avLst>
          </a:prstGeom>
          <a:solidFill>
            <a:srgbClr val="EAF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291071" y="1901952"/>
            <a:ext cx="2185415" cy="996696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10000"/>
              </a:lnSpc>
            </a:pPr>
            <a:r>
              <a:rPr sz="2000" b="1" i="0">
                <a:solidFill>
                  <a:srgbClr val="144FB0"/>
                </a:solidFill>
                <a:latin typeface="Helvetica"/>
              </a:rPr>
              <a:t>Lean</a:t>
            </a:r>
          </a:p>
          <a:p>
            <a:pPr algn="ctr">
              <a:lnSpc>
                <a:spcPct val="110000"/>
              </a:lnSpc>
            </a:pPr>
            <a:r>
              <a:rPr sz="2000" b="1" i="0">
                <a:solidFill>
                  <a:srgbClr val="144FB0"/>
                </a:solidFill>
                <a:latin typeface="Helvetica"/>
              </a:rPr>
              <a:t>kiểm chứng</a:t>
            </a:r>
          </a:p>
        </p:txBody>
      </p:sp>
      <p:sp>
        <p:nvSpPr>
          <p:cNvPr id="14" name="Right Arrow 13"/>
          <p:cNvSpPr/>
          <p:nvPr/>
        </p:nvSpPr>
        <p:spPr>
          <a:xfrm>
            <a:off x="8604503" y="2253996"/>
            <a:ext cx="393192" cy="292608"/>
          </a:xfrm>
          <a:prstGeom prst="rightArrow">
            <a:avLst/>
          </a:prstGeom>
          <a:solidFill>
            <a:srgbClr val="1E6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9052559" y="1828800"/>
            <a:ext cx="2331720" cy="1143000"/>
          </a:xfrm>
          <a:prstGeom prst="roundRect">
            <a:avLst>
              <a:gd name="adj" fmla="val 8000"/>
            </a:avLst>
          </a:prstGeom>
          <a:solidFill>
            <a:srgbClr val="EAF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25711" y="1901952"/>
            <a:ext cx="2185415" cy="996696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10000"/>
              </a:lnSpc>
            </a:pPr>
            <a:r>
              <a:rPr sz="2000" b="1" i="0">
                <a:solidFill>
                  <a:srgbClr val="144FB0"/>
                </a:solidFill>
                <a:latin typeface="Helvetica"/>
              </a:rPr>
              <a:t>Nhóm 7 / 8</a:t>
            </a:r>
          </a:p>
          <a:p>
            <a:pPr algn="ctr">
              <a:lnSpc>
                <a:spcPct val="110000"/>
              </a:lnSpc>
            </a:pPr>
            <a:r>
              <a:rPr sz="2000" b="1" i="0">
                <a:solidFill>
                  <a:srgbClr val="144FB0"/>
                </a:solidFill>
                <a:latin typeface="Helvetica"/>
              </a:rPr>
              <a:t>chứng minh đúng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48640" y="3429000"/>
            <a:ext cx="11064240" cy="2468880"/>
          </a:xfrm>
          <a:prstGeom prst="roundRect">
            <a:avLst>
              <a:gd name="adj" fmla="val 8000"/>
            </a:avLst>
          </a:prstGeom>
          <a:solidFill>
            <a:srgbClr val="EAF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77240" y="3593592"/>
            <a:ext cx="10607040" cy="5029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0000"/>
              </a:lnSpc>
            </a:pPr>
            <a:r>
              <a:rPr sz="2200" b="1" i="0">
                <a:solidFill>
                  <a:srgbClr val="144FB0"/>
                </a:solidFill>
                <a:latin typeface="Helvetica"/>
              </a:rPr>
              <a:t>Ba câu hỏi nghiên cứu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7240" y="4160520"/>
            <a:ext cx="10607040" cy="1600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92608" indent="-292608">
              <a:lnSpc>
                <a:spcPct val="108000"/>
              </a:lnSpc>
              <a:spcAft>
                <a:spcPts val="600"/>
              </a:spcAft>
              <a:buClr>
                <a:srgbClr val="1E6FE8"/>
              </a:buClr>
              <a:buFont typeface="Helvetica"/>
              <a:buChar char="•"/>
            </a:pPr>
            <a:r>
              <a:rPr sz="2100" b="1" i="0">
                <a:solidFill>
                  <a:srgbClr val="0F1C3F"/>
                </a:solidFill>
                <a:latin typeface="Helvetica"/>
              </a:rPr>
              <a:t>RQ1 </a:t>
            </a:r>
            <a:r>
              <a:rPr sz="2100" b="0" i="0">
                <a:solidFill>
                  <a:srgbClr val="0F1C3F"/>
                </a:solidFill>
                <a:latin typeface="Helvetica"/>
              </a:rPr>
              <a:t>Thông báo lỗi có cấu trúc có tốt hơn thử lại nguyên prompt?</a:t>
            </a:r>
          </a:p>
          <a:p>
            <a:pPr marL="292608" indent="-292608">
              <a:lnSpc>
                <a:spcPct val="108000"/>
              </a:lnSpc>
              <a:spcAft>
                <a:spcPts val="600"/>
              </a:spcAft>
              <a:buClr>
                <a:srgbClr val="1E6FE8"/>
              </a:buClr>
              <a:buFont typeface="Helvetica"/>
              <a:buChar char="•"/>
            </a:pPr>
            <a:r>
              <a:rPr sz="2100" b="1" i="0">
                <a:solidFill>
                  <a:srgbClr val="0F1C3F"/>
                </a:solidFill>
                <a:latin typeface="Helvetica"/>
              </a:rPr>
              <a:t>RQ2 </a:t>
            </a:r>
            <a:r>
              <a:rPr sz="2100" b="0" i="0">
                <a:solidFill>
                  <a:srgbClr val="0F1C3F"/>
                </a:solidFill>
                <a:latin typeface="Helvetica"/>
              </a:rPr>
              <a:t>Luật hay LLM, thử bao nhiêu lần, dưới ngân sách token và thời gian?</a:t>
            </a:r>
          </a:p>
          <a:p>
            <a:pPr marL="292608" indent="-292608">
              <a:lnSpc>
                <a:spcPct val="108000"/>
              </a:lnSpc>
              <a:spcAft>
                <a:spcPts val="600"/>
              </a:spcAft>
              <a:buClr>
                <a:srgbClr val="1E6FE8"/>
              </a:buClr>
              <a:buFont typeface="Helvetica"/>
              <a:buChar char="•"/>
            </a:pPr>
            <a:r>
              <a:rPr sz="2100" b="1" i="0">
                <a:solidFill>
                  <a:srgbClr val="0F1C3F"/>
                </a:solidFill>
                <a:latin typeface="Helvetica"/>
              </a:rPr>
              <a:t>RQ3 </a:t>
            </a:r>
            <a:r>
              <a:rPr sz="2100" b="0" i="0">
                <a:solidFill>
                  <a:srgbClr val="0F1C3F"/>
                </a:solidFill>
                <a:latin typeface="Helvetica"/>
              </a:rPr>
              <a:t>Mở rộng thế nào theo 100 → 1K → 10K ứng viên và 1/2/4 worker?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spd="slow" p14:dur="1200">
        <p159:morph option="byObject"/>
      </p:transition>
    </mc:Choice>
    <mc:Fallback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!!orb"/>
          <p:cNvSpPr/>
          <p:nvPr/>
        </p:nvSpPr>
        <p:spPr>
          <a:xfrm>
            <a:off x="-1463040" y="4023360"/>
            <a:ext cx="3840480" cy="3840480"/>
          </a:xfrm>
          <a:prstGeom prst="ellipse">
            <a:avLst/>
          </a:prstGeom>
          <a:solidFill>
            <a:srgbClr val="EAF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!!dot"/>
          <p:cNvSpPr/>
          <p:nvPr/>
        </p:nvSpPr>
        <p:spPr>
          <a:xfrm>
            <a:off x="54864" y="6035040"/>
            <a:ext cx="411480" cy="411480"/>
          </a:xfrm>
          <a:prstGeom prst="ellipse">
            <a:avLst/>
          </a:prstGeom>
          <a:solidFill>
            <a:srgbClr val="1E6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!!title"/>
          <p:cNvSpPr txBox="1"/>
          <p:nvPr/>
        </p:nvSpPr>
        <p:spPr>
          <a:xfrm>
            <a:off x="548640" y="347472"/>
            <a:ext cx="10424160" cy="11430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10000"/>
              </a:lnSpc>
            </a:pPr>
            <a:r>
              <a:rPr sz="3200" b="1" i="0">
                <a:solidFill>
                  <a:srgbClr val="0F1C3F"/>
                </a:solidFill>
                <a:latin typeface="Helvetica"/>
              </a:rPr>
              <a:t>Nút thắt nằm ở quy mô, lập lịch và chi phí, không ở một phép tính</a:t>
            </a:r>
          </a:p>
        </p:txBody>
      </p:sp>
      <p:sp>
        <p:nvSpPr>
          <p:cNvPr id="5" name="!!num"/>
          <p:cNvSpPr txBox="1"/>
          <p:nvPr/>
        </p:nvSpPr>
        <p:spPr>
          <a:xfrm>
            <a:off x="10881360" y="6236208"/>
            <a:ext cx="914400" cy="4572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10000"/>
              </a:lnSpc>
            </a:pPr>
            <a:r>
              <a:rPr sz="2000" b="0" i="0">
                <a:solidFill>
                  <a:srgbClr val="5B6B82"/>
                </a:solidFill>
                <a:latin typeface="Helvetica"/>
              </a:rPr>
              <a:t>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828800"/>
            <a:ext cx="2743200" cy="8686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0000"/>
              </a:lnSpc>
            </a:pPr>
            <a:r>
              <a:rPr sz="4800" b="1" i="0">
                <a:solidFill>
                  <a:srgbClr val="1E6FE8"/>
                </a:solidFill>
                <a:latin typeface="Helvetica"/>
              </a:rPr>
              <a:t>63–107 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697480"/>
            <a:ext cx="2743200" cy="7772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0000"/>
              </a:lnSpc>
            </a:pPr>
            <a:r>
              <a:rPr sz="2000" b="0" i="0">
                <a:solidFill>
                  <a:srgbClr val="5B6B82"/>
                </a:solidFill>
                <a:latin typeface="Helvetica"/>
              </a:rPr>
              <a:t>kiểm chứng nguội 1 tệp, nạp Mathlib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11880" y="1828800"/>
            <a:ext cx="2651760" cy="8686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0000"/>
              </a:lnSpc>
            </a:pPr>
            <a:r>
              <a:rPr sz="4800" b="1" i="0">
                <a:solidFill>
                  <a:srgbClr val="1E6FE8"/>
                </a:solidFill>
                <a:latin typeface="Helvetica"/>
              </a:rPr>
              <a:t>10.000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11880" y="2697480"/>
            <a:ext cx="2651760" cy="7772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0000"/>
              </a:lnSpc>
            </a:pPr>
            <a:r>
              <a:rPr sz="2000" b="0" i="0">
                <a:solidFill>
                  <a:srgbClr val="5B6B82"/>
                </a:solidFill>
                <a:latin typeface="Helvetica"/>
              </a:rPr>
              <a:t>ứng viên ở mức lớn nhất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1828800"/>
            <a:ext cx="2560320" cy="8686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0000"/>
              </a:lnSpc>
            </a:pPr>
            <a:r>
              <a:rPr sz="4800" b="1" i="0">
                <a:solidFill>
                  <a:srgbClr val="1E6FE8"/>
                </a:solidFill>
                <a:latin typeface="Helvetica"/>
              </a:rPr>
              <a:t>~1.000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2697480"/>
            <a:ext cx="2560320" cy="7772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0000"/>
              </a:lnSpc>
            </a:pPr>
            <a:r>
              <a:rPr sz="2000" b="0" i="0">
                <a:solidFill>
                  <a:srgbClr val="5B6B82"/>
                </a:solidFill>
                <a:latin typeface="Helvetica"/>
              </a:rPr>
              <a:t>token mỗi lần LLM sửa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0" y="1828800"/>
            <a:ext cx="2651760" cy="8686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0000"/>
              </a:lnSpc>
            </a:pPr>
            <a:r>
              <a:rPr sz="4800" b="1" i="0">
                <a:solidFill>
                  <a:srgbClr val="144FB0"/>
                </a:solidFill>
                <a:latin typeface="Helvetica"/>
              </a:rPr>
              <a:t>48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0" y="2697480"/>
            <a:ext cx="2651760" cy="7772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0000"/>
              </a:lnSpc>
            </a:pPr>
            <a:r>
              <a:rPr sz="2000" b="0" i="0">
                <a:solidFill>
                  <a:srgbClr val="5B6B82"/>
                </a:solidFill>
                <a:latin typeface="Helvetica"/>
              </a:rPr>
              <a:t>run record + log phát lại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4023360"/>
            <a:ext cx="10881360" cy="1874519"/>
          </a:xfrm>
          <a:prstGeom prst="roundRect">
            <a:avLst>
              <a:gd name="adj" fmla="val 8000"/>
            </a:avLst>
          </a:prstGeom>
          <a:solidFill>
            <a:srgbClr val="EAF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0120" y="4187952"/>
            <a:ext cx="10424160" cy="5029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0000"/>
              </a:lnSpc>
            </a:pPr>
            <a:r>
              <a:rPr sz="2200" b="1" i="0">
                <a:solidFill>
                  <a:srgbClr val="144FB0"/>
                </a:solidFill>
                <a:latin typeface="Helvetica"/>
              </a:rPr>
              <a:t>Mục tiêu hệ thống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60120" y="4754880"/>
            <a:ext cx="10424160" cy="10058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92608" indent="-292608">
              <a:lnSpc>
                <a:spcPct val="108000"/>
              </a:lnSpc>
              <a:spcAft>
                <a:spcPts val="600"/>
              </a:spcAft>
              <a:buClr>
                <a:srgbClr val="1E6FE8"/>
              </a:buClr>
              <a:buFont typeface="Helvetica"/>
              <a:buChar char="•"/>
            </a:pPr>
            <a:r>
              <a:rPr sz="2100" b="0" i="0">
                <a:solidFill>
                  <a:srgbClr val="0F1C3F"/>
                </a:solidFill>
                <a:latin typeface="Helvetica"/>
              </a:rPr>
              <a:t>Thông lượng cao, độ trễ đuôi P95 thấp trên vài worker CPU</a:t>
            </a:r>
          </a:p>
          <a:p>
            <a:pPr marL="292608" indent="-292608">
              <a:lnSpc>
                <a:spcPct val="108000"/>
              </a:lnSpc>
              <a:spcAft>
                <a:spcPts val="600"/>
              </a:spcAft>
              <a:buClr>
                <a:srgbClr val="1E6FE8"/>
              </a:buClr>
              <a:buFont typeface="Helvetica"/>
              <a:buChar char="•"/>
            </a:pPr>
            <a:r>
              <a:rPr sz="2100" b="0" i="0">
                <a:solidFill>
                  <a:srgbClr val="0F1C3F"/>
                </a:solidFill>
                <a:latin typeface="Helvetica"/>
              </a:rPr>
              <a:t>Chi phí token có trần cứng; kết quả tái lập được từ dữ liệu thô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spd="slow" p14:dur="1200">
        <p159:morph option="byObject"/>
      </p:transition>
    </mc:Choice>
    <mc:Fallback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!!orb"/>
          <p:cNvSpPr/>
          <p:nvPr/>
        </p:nvSpPr>
        <p:spPr>
          <a:xfrm>
            <a:off x="9966960" y="4206240"/>
            <a:ext cx="3657600" cy="3657600"/>
          </a:xfrm>
          <a:prstGeom prst="ellipse">
            <a:avLst/>
          </a:prstGeom>
          <a:solidFill>
            <a:srgbClr val="EAF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!!dot"/>
          <p:cNvSpPr/>
          <p:nvPr/>
        </p:nvSpPr>
        <p:spPr>
          <a:xfrm>
            <a:off x="11704320" y="3291840"/>
            <a:ext cx="411480" cy="411480"/>
          </a:xfrm>
          <a:prstGeom prst="ellipse">
            <a:avLst/>
          </a:prstGeom>
          <a:solidFill>
            <a:srgbClr val="1E6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!!title"/>
          <p:cNvSpPr txBox="1"/>
          <p:nvPr/>
        </p:nvSpPr>
        <p:spPr>
          <a:xfrm>
            <a:off x="548640" y="347472"/>
            <a:ext cx="10424160" cy="11430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10000"/>
              </a:lnSpc>
            </a:pPr>
            <a:r>
              <a:rPr sz="3200" b="1" i="0">
                <a:solidFill>
                  <a:srgbClr val="0F1C3F"/>
                </a:solidFill>
                <a:latin typeface="Helvetica"/>
              </a:rPr>
              <a:t>Dataset 17.031 lỗi có nhãn lấy từ chính Lean, không viết tay</a:t>
            </a:r>
          </a:p>
        </p:txBody>
      </p:sp>
      <p:sp>
        <p:nvSpPr>
          <p:cNvPr id="5" name="!!num"/>
          <p:cNvSpPr txBox="1"/>
          <p:nvPr/>
        </p:nvSpPr>
        <p:spPr>
          <a:xfrm>
            <a:off x="10881360" y="6236208"/>
            <a:ext cx="914400" cy="4572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10000"/>
              </a:lnSpc>
            </a:pPr>
            <a:r>
              <a:rPr sz="2000" b="0" i="0">
                <a:solidFill>
                  <a:srgbClr val="5B6B82"/>
                </a:solidFill>
                <a:latin typeface="Helvetica"/>
              </a:rPr>
              <a:t>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783080"/>
            <a:ext cx="2651760" cy="8686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0000"/>
              </a:lnSpc>
            </a:pPr>
            <a:r>
              <a:rPr sz="4800" b="1" i="0">
                <a:solidFill>
                  <a:srgbClr val="1E6FE8"/>
                </a:solidFill>
                <a:latin typeface="Helvetica"/>
              </a:rPr>
              <a:t>17.031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651760"/>
            <a:ext cx="2651760" cy="7772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0000"/>
              </a:lnSpc>
            </a:pPr>
            <a:r>
              <a:rPr sz="2000" b="0" i="0">
                <a:solidFill>
                  <a:srgbClr val="5B6B82"/>
                </a:solidFill>
                <a:latin typeface="Helvetica"/>
              </a:rPr>
              <a:t>mẫu lỗi, dataset v1.0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520440" y="1783080"/>
            <a:ext cx="2651760" cy="8686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0000"/>
              </a:lnSpc>
            </a:pPr>
            <a:r>
              <a:rPr sz="4800" b="1" i="0">
                <a:solidFill>
                  <a:srgbClr val="1E6FE8"/>
                </a:solidFill>
                <a:latin typeface="Helvetica"/>
              </a:rPr>
              <a:t>3.666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520440" y="2651760"/>
            <a:ext cx="2651760" cy="7772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0000"/>
              </a:lnSpc>
            </a:pPr>
            <a:r>
              <a:rPr sz="2000" b="0" i="0">
                <a:solidFill>
                  <a:srgbClr val="5B6B82"/>
                </a:solidFill>
                <a:latin typeface="Helvetica"/>
              </a:rPr>
              <a:t>định lý gốc đã kiểm chứng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09360" y="1783080"/>
            <a:ext cx="2651760" cy="8686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0000"/>
              </a:lnSpc>
            </a:pPr>
            <a:r>
              <a:rPr sz="4800" b="1" i="0">
                <a:solidFill>
                  <a:srgbClr val="1E6FE8"/>
                </a:solidFill>
                <a:latin typeface="Helvetica"/>
              </a:rPr>
              <a:t>1.110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09360" y="2651760"/>
            <a:ext cx="2651760" cy="7772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0000"/>
              </a:lnSpc>
            </a:pPr>
            <a:r>
              <a:rPr sz="2000" b="0" i="0">
                <a:solidFill>
                  <a:srgbClr val="5B6B82"/>
                </a:solidFill>
                <a:latin typeface="Helvetica"/>
              </a:rPr>
              <a:t>lỗi tự nhiên do Mathlib đổi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98280" y="1783080"/>
            <a:ext cx="2651760" cy="8686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0000"/>
              </a:lnSpc>
            </a:pPr>
            <a:r>
              <a:rPr sz="4800" b="1" i="0">
                <a:solidFill>
                  <a:srgbClr val="144FB0"/>
                </a:solidFill>
                <a:latin typeface="Helvetica"/>
              </a:rPr>
              <a:t>94,4%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098280" y="2651760"/>
            <a:ext cx="2651760" cy="7772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0000"/>
              </a:lnSpc>
            </a:pPr>
            <a:r>
              <a:rPr sz="2000" b="0" i="0">
                <a:solidFill>
                  <a:srgbClr val="5B6B82"/>
                </a:solidFill>
                <a:latin typeface="Helvetica"/>
              </a:rPr>
              <a:t>nhãn khớp loại lỗi dự kiến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3977639"/>
            <a:ext cx="5303520" cy="1965960"/>
          </a:xfrm>
          <a:prstGeom prst="roundRect">
            <a:avLst>
              <a:gd name="adj" fmla="val 8000"/>
            </a:avLst>
          </a:prstGeom>
          <a:solidFill>
            <a:srgbClr val="EAF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0120" y="4142231"/>
            <a:ext cx="4846320" cy="5029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0000"/>
              </a:lnSpc>
            </a:pPr>
            <a:r>
              <a:rPr sz="2200" b="1" i="0">
                <a:solidFill>
                  <a:srgbClr val="144FB0"/>
                </a:solidFill>
                <a:latin typeface="Helvetica"/>
              </a:rPr>
              <a:t>Chống rò rỉ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60120" y="4709159"/>
            <a:ext cx="48463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92608" indent="-292608">
              <a:lnSpc>
                <a:spcPct val="108000"/>
              </a:lnSpc>
              <a:spcAft>
                <a:spcPts val="600"/>
              </a:spcAft>
              <a:buClr>
                <a:srgbClr val="1E6FE8"/>
              </a:buClr>
              <a:buFont typeface="Helvetica"/>
              <a:buChar char="•"/>
            </a:pPr>
            <a:r>
              <a:rPr sz="2100" b="0" i="0">
                <a:solidFill>
                  <a:srgbClr val="0F1C3F"/>
                </a:solidFill>
                <a:latin typeface="Helvetica"/>
              </a:rPr>
              <a:t>Chia 70/30 theo định lý gốc</a:t>
            </a:r>
          </a:p>
          <a:p>
            <a:pPr marL="292608" indent="-292608">
              <a:lnSpc>
                <a:spcPct val="108000"/>
              </a:lnSpc>
              <a:spcAft>
                <a:spcPts val="600"/>
              </a:spcAft>
              <a:buClr>
                <a:srgbClr val="1E6FE8"/>
              </a:buClr>
              <a:buFont typeface="Helvetica"/>
              <a:buChar char="•"/>
            </a:pPr>
            <a:r>
              <a:rPr sz="2100" b="0" i="0">
                <a:solidFill>
                  <a:srgbClr val="0F1C3F"/>
                </a:solidFill>
                <a:latin typeface="Helvetica"/>
              </a:rPr>
              <a:t>0 định lý ở cả hai phía, 0 bản trùng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63640" y="3977639"/>
            <a:ext cx="5349240" cy="1965960"/>
          </a:xfrm>
          <a:prstGeom prst="roundRect">
            <a:avLst>
              <a:gd name="adj" fmla="val 8000"/>
            </a:avLst>
          </a:prstGeom>
          <a:solidFill>
            <a:srgbClr val="D6E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92240" y="4142231"/>
            <a:ext cx="4892040" cy="5029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0000"/>
              </a:lnSpc>
            </a:pPr>
            <a:r>
              <a:rPr sz="2200" b="1" i="0">
                <a:solidFill>
                  <a:srgbClr val="144FB0"/>
                </a:solidFill>
                <a:latin typeface="Helvetica"/>
              </a:rPr>
              <a:t>Ba mức quy mô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92240" y="4709159"/>
            <a:ext cx="48920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92608" indent="-292608">
              <a:lnSpc>
                <a:spcPct val="108000"/>
              </a:lnSpc>
              <a:spcAft>
                <a:spcPts val="600"/>
              </a:spcAft>
              <a:buClr>
                <a:srgbClr val="1E6FE8"/>
              </a:buClr>
              <a:buFont typeface="Helvetica"/>
              <a:buChar char="•"/>
            </a:pPr>
            <a:r>
              <a:rPr sz="2100" b="0" i="0">
                <a:solidFill>
                  <a:srgbClr val="0F1C3F"/>
                </a:solidFill>
                <a:latin typeface="Helvetica"/>
              </a:rPr>
              <a:t>100 ⊂ 1.000 ⊂ 10.000 mẫu</a:t>
            </a:r>
          </a:p>
          <a:p>
            <a:pPr marL="292608" indent="-292608">
              <a:lnSpc>
                <a:spcPct val="108000"/>
              </a:lnSpc>
              <a:spcAft>
                <a:spcPts val="600"/>
              </a:spcAft>
              <a:buClr>
                <a:srgbClr val="1E6FE8"/>
              </a:buClr>
              <a:buFont typeface="Helvetica"/>
              <a:buChar char="•"/>
            </a:pPr>
            <a:r>
              <a:rPr sz="2100" b="0" i="0">
                <a:solidFill>
                  <a:srgbClr val="0F1C3F"/>
                </a:solidFill>
                <a:latin typeface="Helvetica"/>
              </a:rPr>
              <a:t>Hold-out 1K: 284 · 10K: 2.907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spd="slow" p14:dur="1200">
        <p159:morph option="byObject"/>
      </p:transition>
    </mc:Choice>
    <mc:Fallback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!!orb"/>
          <p:cNvSpPr/>
          <p:nvPr/>
        </p:nvSpPr>
        <p:spPr>
          <a:xfrm>
            <a:off x="9692640" y="-2194560"/>
            <a:ext cx="4206240" cy="4206240"/>
          </a:xfrm>
          <a:prstGeom prst="ellipse">
            <a:avLst/>
          </a:prstGeom>
          <a:solidFill>
            <a:srgbClr val="EAF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!!dot"/>
          <p:cNvSpPr/>
          <p:nvPr/>
        </p:nvSpPr>
        <p:spPr>
          <a:xfrm>
            <a:off x="11201400" y="502920"/>
            <a:ext cx="411480" cy="411480"/>
          </a:xfrm>
          <a:prstGeom prst="ellipse">
            <a:avLst/>
          </a:prstGeom>
          <a:solidFill>
            <a:srgbClr val="1E6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!!title"/>
          <p:cNvSpPr txBox="1"/>
          <p:nvPr/>
        </p:nvSpPr>
        <p:spPr>
          <a:xfrm>
            <a:off x="548640" y="347472"/>
            <a:ext cx="10424160" cy="11430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10000"/>
              </a:lnSpc>
            </a:pPr>
            <a:r>
              <a:rPr sz="3200" b="1" i="0">
                <a:solidFill>
                  <a:srgbClr val="0F1C3F"/>
                </a:solidFill>
                <a:latin typeface="Helvetica"/>
              </a:rPr>
              <a:t>Mỗi bản sửa phải qua Lean và kiểm toán trước khi được chấp nhận</a:t>
            </a:r>
          </a:p>
        </p:txBody>
      </p:sp>
      <p:sp>
        <p:nvSpPr>
          <p:cNvPr id="5" name="!!num"/>
          <p:cNvSpPr txBox="1"/>
          <p:nvPr/>
        </p:nvSpPr>
        <p:spPr>
          <a:xfrm>
            <a:off x="10881360" y="6236208"/>
            <a:ext cx="914400" cy="4572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10000"/>
              </a:lnSpc>
            </a:pPr>
            <a:r>
              <a:rPr sz="2000" b="0" i="0">
                <a:solidFill>
                  <a:srgbClr val="5B6B82"/>
                </a:solidFill>
                <a:latin typeface="Helvetica"/>
              </a:rPr>
              <a:t>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874519"/>
            <a:ext cx="1828800" cy="1143000"/>
          </a:xfrm>
          <a:prstGeom prst="roundRect">
            <a:avLst>
              <a:gd name="adj" fmla="val 8000"/>
            </a:avLst>
          </a:prstGeom>
          <a:solidFill>
            <a:srgbClr val="EAF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21792" y="1947672"/>
            <a:ext cx="1682496" cy="996696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10000"/>
              </a:lnSpc>
            </a:pPr>
            <a:r>
              <a:rPr sz="2000" b="1" i="0">
                <a:solidFill>
                  <a:srgbClr val="144FB0"/>
                </a:solidFill>
                <a:latin typeface="Helvetica"/>
              </a:rPr>
              <a:t>Parser +</a:t>
            </a:r>
          </a:p>
          <a:p>
            <a:pPr algn="ctr">
              <a:lnSpc>
                <a:spcPct val="110000"/>
              </a:lnSpc>
            </a:pPr>
            <a:r>
              <a:rPr sz="2000" b="1" i="0">
                <a:solidFill>
                  <a:srgbClr val="144FB0"/>
                </a:solidFill>
                <a:latin typeface="Helvetica"/>
              </a:rPr>
              <a:t>taxonomy</a:t>
            </a:r>
          </a:p>
        </p:txBody>
      </p:sp>
      <p:sp>
        <p:nvSpPr>
          <p:cNvPr id="8" name="Right Arrow 7"/>
          <p:cNvSpPr/>
          <p:nvPr/>
        </p:nvSpPr>
        <p:spPr>
          <a:xfrm>
            <a:off x="2432304" y="2299715"/>
            <a:ext cx="347472" cy="292608"/>
          </a:xfrm>
          <a:prstGeom prst="rightArrow">
            <a:avLst/>
          </a:prstGeom>
          <a:solidFill>
            <a:srgbClr val="1E6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2834640" y="1874519"/>
            <a:ext cx="1828800" cy="1143000"/>
          </a:xfrm>
          <a:prstGeom prst="roundRect">
            <a:avLst>
              <a:gd name="adj" fmla="val 8000"/>
            </a:avLst>
          </a:prstGeom>
          <a:solidFill>
            <a:srgbClr val="EAF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907792" y="1947672"/>
            <a:ext cx="1682496" cy="996696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10000"/>
              </a:lnSpc>
            </a:pPr>
            <a:r>
              <a:rPr sz="2000" b="1" i="0">
                <a:solidFill>
                  <a:srgbClr val="144FB0"/>
                </a:solidFill>
                <a:latin typeface="Helvetica"/>
              </a:rPr>
              <a:t>Router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4718303" y="2299715"/>
            <a:ext cx="347472" cy="292608"/>
          </a:xfrm>
          <a:prstGeom prst="rightArrow">
            <a:avLst/>
          </a:prstGeom>
          <a:solidFill>
            <a:srgbClr val="1E6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5120640" y="1874519"/>
            <a:ext cx="1828800" cy="1143000"/>
          </a:xfrm>
          <a:prstGeom prst="roundRect">
            <a:avLst>
              <a:gd name="adj" fmla="val 8000"/>
            </a:avLst>
          </a:prstGeom>
          <a:solidFill>
            <a:srgbClr val="EAF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193792" y="1947672"/>
            <a:ext cx="1682496" cy="996696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10000"/>
              </a:lnSpc>
            </a:pPr>
            <a:r>
              <a:rPr sz="2000" b="1" i="0">
                <a:solidFill>
                  <a:srgbClr val="144FB0"/>
                </a:solidFill>
                <a:latin typeface="Helvetica"/>
              </a:rPr>
              <a:t>Luật / LLM</a:t>
            </a:r>
          </a:p>
        </p:txBody>
      </p:sp>
      <p:sp>
        <p:nvSpPr>
          <p:cNvPr id="14" name="Right Arrow 13"/>
          <p:cNvSpPr/>
          <p:nvPr/>
        </p:nvSpPr>
        <p:spPr>
          <a:xfrm>
            <a:off x="7004303" y="2299715"/>
            <a:ext cx="347472" cy="292608"/>
          </a:xfrm>
          <a:prstGeom prst="rightArrow">
            <a:avLst/>
          </a:prstGeom>
          <a:solidFill>
            <a:srgbClr val="1E6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7406640" y="1874519"/>
            <a:ext cx="1828800" cy="1143000"/>
          </a:xfrm>
          <a:prstGeom prst="roundRect">
            <a:avLst>
              <a:gd name="adj" fmla="val 8000"/>
            </a:avLst>
          </a:prstGeom>
          <a:solidFill>
            <a:srgbClr val="EAF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479792" y="1947672"/>
            <a:ext cx="1682496" cy="996696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10000"/>
              </a:lnSpc>
            </a:pPr>
            <a:r>
              <a:rPr sz="2000" b="1" i="0">
                <a:solidFill>
                  <a:srgbClr val="144FB0"/>
                </a:solidFill>
                <a:latin typeface="Helvetica"/>
              </a:rPr>
              <a:t>Lean REPL</a:t>
            </a:r>
          </a:p>
        </p:txBody>
      </p:sp>
      <p:sp>
        <p:nvSpPr>
          <p:cNvPr id="17" name="Right Arrow 16"/>
          <p:cNvSpPr/>
          <p:nvPr/>
        </p:nvSpPr>
        <p:spPr>
          <a:xfrm>
            <a:off x="9290304" y="2299715"/>
            <a:ext cx="347472" cy="292608"/>
          </a:xfrm>
          <a:prstGeom prst="rightArrow">
            <a:avLst/>
          </a:prstGeom>
          <a:solidFill>
            <a:srgbClr val="1E6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9692640" y="1874519"/>
            <a:ext cx="1828800" cy="1143000"/>
          </a:xfrm>
          <a:prstGeom prst="roundRect">
            <a:avLst>
              <a:gd name="adj" fmla="val 8000"/>
            </a:avLst>
          </a:prstGeom>
          <a:solidFill>
            <a:srgbClr val="D6E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765792" y="1947672"/>
            <a:ext cx="1682496" cy="996696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10000"/>
              </a:lnSpc>
            </a:pPr>
            <a:r>
              <a:rPr sz="2000" b="1" i="0">
                <a:solidFill>
                  <a:srgbClr val="144FB0"/>
                </a:solidFill>
                <a:latin typeface="Helvetica"/>
              </a:rPr>
              <a:t>Kiểm toán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48640" y="3429000"/>
            <a:ext cx="3566160" cy="2514600"/>
          </a:xfrm>
          <a:prstGeom prst="roundRect">
            <a:avLst>
              <a:gd name="adj" fmla="val 8000"/>
            </a:avLst>
          </a:prstGeom>
          <a:solidFill>
            <a:srgbClr val="EAF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77240" y="3593592"/>
            <a:ext cx="3108960" cy="5029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0000"/>
              </a:lnSpc>
            </a:pPr>
            <a:r>
              <a:rPr sz="2200" b="1" i="0">
                <a:solidFill>
                  <a:srgbClr val="144FB0"/>
                </a:solidFill>
                <a:latin typeface="Helvetica"/>
              </a:rPr>
              <a:t>7 nhóm lỗi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77240" y="4160520"/>
            <a:ext cx="310896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92608" indent="-292608">
              <a:lnSpc>
                <a:spcPct val="108000"/>
              </a:lnSpc>
              <a:spcAft>
                <a:spcPts val="600"/>
              </a:spcAft>
              <a:buClr>
                <a:srgbClr val="1E6FE8"/>
              </a:buClr>
              <a:buFont typeface="Helvetica"/>
              <a:buChar char="•"/>
            </a:pPr>
            <a:r>
              <a:rPr sz="2100" b="0" i="0">
                <a:solidFill>
                  <a:srgbClr val="0F1C3F"/>
                </a:solidFill>
                <a:latin typeface="Helvetica"/>
              </a:rPr>
              <a:t>Cú pháp, import, định danh</a:t>
            </a:r>
          </a:p>
          <a:p>
            <a:pPr marL="292608" indent="-292608">
              <a:lnSpc>
                <a:spcPct val="108000"/>
              </a:lnSpc>
              <a:spcAft>
                <a:spcPts val="600"/>
              </a:spcAft>
              <a:buClr>
                <a:srgbClr val="1E6FE8"/>
              </a:buClr>
              <a:buFont typeface="Helvetica"/>
              <a:buChar char="•"/>
            </a:pPr>
            <a:r>
              <a:rPr sz="2100" b="0" i="0">
                <a:solidFill>
                  <a:srgbClr val="0F1C3F"/>
                </a:solidFill>
                <a:latin typeface="Helvetica"/>
              </a:rPr>
              <a:t>Kiểu, timeout, sorry</a:t>
            </a:r>
          </a:p>
          <a:p>
            <a:pPr marL="292608" indent="-292608">
              <a:lnSpc>
                <a:spcPct val="108000"/>
              </a:lnSpc>
              <a:spcAft>
                <a:spcPts val="600"/>
              </a:spcAft>
              <a:buClr>
                <a:srgbClr val="1E6FE8"/>
              </a:buClr>
              <a:buFont typeface="Helvetica"/>
              <a:buChar char="•"/>
            </a:pPr>
            <a:r>
              <a:rPr sz="2100" b="0" i="0">
                <a:solidFill>
                  <a:srgbClr val="0F1C3F"/>
                </a:solidFill>
                <a:latin typeface="Helvetica"/>
              </a:rPr>
              <a:t>Tactic thất bại, nhóm mới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343400" y="3429000"/>
            <a:ext cx="3566160" cy="2514600"/>
          </a:xfrm>
          <a:prstGeom prst="roundRect">
            <a:avLst>
              <a:gd name="adj" fmla="val 8000"/>
            </a:avLst>
          </a:prstGeom>
          <a:solidFill>
            <a:srgbClr val="EAF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572000" y="3593592"/>
            <a:ext cx="3108960" cy="5029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0000"/>
              </a:lnSpc>
            </a:pPr>
            <a:r>
              <a:rPr sz="2200" b="1" i="0">
                <a:solidFill>
                  <a:srgbClr val="144FB0"/>
                </a:solidFill>
                <a:latin typeface="Helvetica"/>
              </a:rPr>
              <a:t>Vòng lặp có giới hạn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0" y="4160520"/>
            <a:ext cx="310896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92608" indent="-292608">
              <a:lnSpc>
                <a:spcPct val="108000"/>
              </a:lnSpc>
              <a:spcAft>
                <a:spcPts val="600"/>
              </a:spcAft>
              <a:buClr>
                <a:srgbClr val="1E6FE8"/>
              </a:buClr>
              <a:buFont typeface="Helvetica"/>
              <a:buChar char="•"/>
            </a:pPr>
            <a:r>
              <a:rPr sz="2100" b="0" i="0">
                <a:solidFill>
                  <a:srgbClr val="0F1C3F"/>
                </a:solidFill>
                <a:latin typeface="Helvetica"/>
              </a:rPr>
              <a:t>Tối đa k = 1 hoặc 3 lần</a:t>
            </a:r>
          </a:p>
          <a:p>
            <a:pPr marL="292608" indent="-292608">
              <a:lnSpc>
                <a:spcPct val="108000"/>
              </a:lnSpc>
              <a:spcAft>
                <a:spcPts val="600"/>
              </a:spcAft>
              <a:buClr>
                <a:srgbClr val="1E6FE8"/>
              </a:buClr>
              <a:buFont typeface="Helvetica"/>
              <a:buChar char="•"/>
            </a:pPr>
            <a:r>
              <a:rPr sz="2100" b="0" i="0">
                <a:solidFill>
                  <a:srgbClr val="0F1C3F"/>
                </a:solidFill>
                <a:latin typeface="Helvetica"/>
              </a:rPr>
              <a:t>300 s mỗi mẫu</a:t>
            </a:r>
          </a:p>
          <a:p>
            <a:pPr marL="292608" indent="-292608">
              <a:lnSpc>
                <a:spcPct val="108000"/>
              </a:lnSpc>
              <a:spcAft>
                <a:spcPts val="600"/>
              </a:spcAft>
              <a:buClr>
                <a:srgbClr val="1E6FE8"/>
              </a:buClr>
              <a:buFont typeface="Helvetica"/>
              <a:buChar char="•"/>
            </a:pPr>
            <a:r>
              <a:rPr sz="2100" b="0" i="0">
                <a:solidFill>
                  <a:srgbClr val="0F1C3F"/>
                </a:solidFill>
                <a:latin typeface="Helvetica"/>
              </a:rPr>
              <a:t>Dừng nếu ứng viên lặp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138160" y="3429000"/>
            <a:ext cx="3474720" cy="2514600"/>
          </a:xfrm>
          <a:prstGeom prst="roundRect">
            <a:avLst>
              <a:gd name="adj" fmla="val 8000"/>
            </a:avLst>
          </a:prstGeom>
          <a:solidFill>
            <a:srgbClr val="D6E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366760" y="3593592"/>
            <a:ext cx="3017520" cy="5029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0000"/>
              </a:lnSpc>
            </a:pPr>
            <a:r>
              <a:rPr sz="2200" b="1" i="0">
                <a:solidFill>
                  <a:srgbClr val="144FB0"/>
                </a:solidFill>
                <a:latin typeface="Helvetica"/>
              </a:rPr>
              <a:t>Kiểm toán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366760" y="4160520"/>
            <a:ext cx="30175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92608" indent="-292608">
              <a:lnSpc>
                <a:spcPct val="108000"/>
              </a:lnSpc>
              <a:spcAft>
                <a:spcPts val="600"/>
              </a:spcAft>
              <a:buClr>
                <a:srgbClr val="1E6FE8"/>
              </a:buClr>
              <a:buFont typeface="Helvetica"/>
              <a:buChar char="•"/>
            </a:pPr>
            <a:r>
              <a:rPr sz="2100" b="0" i="0">
                <a:solidFill>
                  <a:srgbClr val="0F1C3F"/>
                </a:solidFill>
                <a:latin typeface="Helvetica"/>
              </a:rPr>
              <a:t>Lean chấp nhận</a:t>
            </a:r>
          </a:p>
          <a:p>
            <a:pPr marL="292608" indent="-292608">
              <a:lnSpc>
                <a:spcPct val="108000"/>
              </a:lnSpc>
              <a:spcAft>
                <a:spcPts val="600"/>
              </a:spcAft>
              <a:buClr>
                <a:srgbClr val="1E6FE8"/>
              </a:buClr>
              <a:buFont typeface="Helvetica"/>
              <a:buChar char="•"/>
            </a:pPr>
            <a:r>
              <a:rPr sz="2100" b="0" i="0">
                <a:solidFill>
                  <a:srgbClr val="0F1C3F"/>
                </a:solidFill>
                <a:latin typeface="Helvetica"/>
              </a:rPr>
              <a:t>Không sorry / axiom</a:t>
            </a:r>
          </a:p>
          <a:p>
            <a:pPr marL="292608" indent="-292608">
              <a:lnSpc>
                <a:spcPct val="108000"/>
              </a:lnSpc>
              <a:spcAft>
                <a:spcPts val="600"/>
              </a:spcAft>
              <a:buClr>
                <a:srgbClr val="1E6FE8"/>
              </a:buClr>
              <a:buFont typeface="Helvetica"/>
              <a:buChar char="•"/>
            </a:pPr>
            <a:r>
              <a:rPr sz="2100" b="0" i="0">
                <a:solidFill>
                  <a:srgbClr val="0F1C3F"/>
                </a:solidFill>
                <a:latin typeface="Helvetica"/>
              </a:rPr>
              <a:t>Giữ nguyên phát biểu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spd="slow" p14:dur="1200">
        <p159:morph option="byObject"/>
      </p:transition>
    </mc:Choice>
    <mc:Fallback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!!orb"/>
          <p:cNvSpPr/>
          <p:nvPr/>
        </p:nvSpPr>
        <p:spPr>
          <a:xfrm>
            <a:off x="-1828800" y="-1828800"/>
            <a:ext cx="3657600" cy="3657600"/>
          </a:xfrm>
          <a:prstGeom prst="ellipse">
            <a:avLst/>
          </a:prstGeom>
          <a:solidFill>
            <a:srgbClr val="EAF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!!dot"/>
          <p:cNvSpPr/>
          <p:nvPr/>
        </p:nvSpPr>
        <p:spPr>
          <a:xfrm>
            <a:off x="54864" y="3108960"/>
            <a:ext cx="411480" cy="411480"/>
          </a:xfrm>
          <a:prstGeom prst="ellipse">
            <a:avLst/>
          </a:prstGeom>
          <a:solidFill>
            <a:srgbClr val="1E6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!!title"/>
          <p:cNvSpPr txBox="1"/>
          <p:nvPr/>
        </p:nvSpPr>
        <p:spPr>
          <a:xfrm>
            <a:off x="548640" y="347472"/>
            <a:ext cx="10424160" cy="11430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10000"/>
              </a:lnSpc>
            </a:pPr>
            <a:r>
              <a:rPr sz="3200" b="1" i="0">
                <a:solidFill>
                  <a:srgbClr val="0F1C3F"/>
                </a:solidFill>
                <a:latin typeface="Helvetica"/>
              </a:rPr>
              <a:t>Giữ Lean chạy thường trú: nhanh hơn 3–4 bậc độ lớn</a:t>
            </a:r>
          </a:p>
        </p:txBody>
      </p:sp>
      <p:sp>
        <p:nvSpPr>
          <p:cNvPr id="5" name="!!num"/>
          <p:cNvSpPr txBox="1"/>
          <p:nvPr/>
        </p:nvSpPr>
        <p:spPr>
          <a:xfrm>
            <a:off x="10881360" y="6236208"/>
            <a:ext cx="914400" cy="4572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10000"/>
              </a:lnSpc>
            </a:pPr>
            <a:r>
              <a:rPr sz="2000" b="0" i="0">
                <a:solidFill>
                  <a:srgbClr val="5B6B82"/>
                </a:solidFill>
                <a:latin typeface="Helvetica"/>
              </a:rPr>
              <a:t>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828800"/>
            <a:ext cx="3474720" cy="8686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0000"/>
              </a:lnSpc>
            </a:pPr>
            <a:r>
              <a:rPr sz="4800" b="1" i="0">
                <a:solidFill>
                  <a:srgbClr val="1E6FE8"/>
                </a:solidFill>
                <a:latin typeface="Helvetica"/>
              </a:rPr>
              <a:t>63–107 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697480"/>
            <a:ext cx="3474720" cy="7772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0000"/>
              </a:lnSpc>
            </a:pPr>
            <a:r>
              <a:rPr sz="2000" b="0" i="0">
                <a:solidFill>
                  <a:srgbClr val="5B6B82"/>
                </a:solidFill>
                <a:latin typeface="Helvetica"/>
              </a:rPr>
              <a:t>mỗi tệp, chạy lean nguội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89120" y="1828800"/>
            <a:ext cx="3474720" cy="8686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0000"/>
              </a:lnSpc>
            </a:pPr>
            <a:r>
              <a:rPr sz="4800" b="1" i="0">
                <a:solidFill>
                  <a:srgbClr val="144FB0"/>
                </a:solidFill>
                <a:latin typeface="Helvetica"/>
              </a:rPr>
              <a:t>3 ms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389120" y="2697480"/>
            <a:ext cx="3474720" cy="7772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0000"/>
              </a:lnSpc>
            </a:pPr>
            <a:r>
              <a:rPr sz="2000" b="0" i="0">
                <a:solidFill>
                  <a:srgbClr val="5B6B82"/>
                </a:solidFill>
                <a:latin typeface="Helvetica"/>
              </a:rPr>
              <a:t>P50 mỗi định lý với REPL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46720" y="1828800"/>
            <a:ext cx="3474720" cy="8686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0000"/>
              </a:lnSpc>
            </a:pPr>
            <a:r>
              <a:rPr sz="4800" b="1" i="0">
                <a:solidFill>
                  <a:srgbClr val="144FB0"/>
                </a:solidFill>
                <a:latin typeface="Helvetica"/>
              </a:rPr>
              <a:t>23 ms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46720" y="2697480"/>
            <a:ext cx="3474720" cy="7772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0000"/>
              </a:lnSpc>
            </a:pPr>
            <a:r>
              <a:rPr sz="2000" b="0" i="0">
                <a:solidFill>
                  <a:srgbClr val="5B6B82"/>
                </a:solidFill>
                <a:latin typeface="Helvetica"/>
              </a:rPr>
              <a:t>P95 mỗi định lý với REPL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3977639"/>
            <a:ext cx="5303520" cy="1965960"/>
          </a:xfrm>
          <a:prstGeom prst="roundRect">
            <a:avLst>
              <a:gd name="adj" fmla="val 8000"/>
            </a:avLst>
          </a:prstGeom>
          <a:solidFill>
            <a:srgbClr val="EAF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4142231"/>
            <a:ext cx="4846320" cy="5029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0000"/>
              </a:lnSpc>
            </a:pPr>
            <a:r>
              <a:rPr sz="2200" b="1" i="0">
                <a:solidFill>
                  <a:srgbClr val="144FB0"/>
                </a:solidFill>
                <a:latin typeface="Helvetica"/>
              </a:rPr>
              <a:t>Đúng như chạy nguội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60120" y="4709159"/>
            <a:ext cx="48463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92608" indent="-292608">
              <a:lnSpc>
                <a:spcPct val="108000"/>
              </a:lnSpc>
              <a:spcAft>
                <a:spcPts val="600"/>
              </a:spcAft>
              <a:buClr>
                <a:srgbClr val="1E6FE8"/>
              </a:buClr>
              <a:buFont typeface="Helvetica"/>
              <a:buChar char="•"/>
            </a:pPr>
            <a:r>
              <a:rPr sz="2100" b="0" i="0">
                <a:solidFill>
                  <a:srgbClr val="0F1C3F"/>
                </a:solidFill>
                <a:latin typeface="Helvetica"/>
              </a:rPr>
              <a:t>Khớp 74/74 lần kiểm</a:t>
            </a:r>
          </a:p>
          <a:p>
            <a:pPr marL="292608" indent="-292608">
              <a:lnSpc>
                <a:spcPct val="108000"/>
              </a:lnSpc>
              <a:spcAft>
                <a:spcPts val="600"/>
              </a:spcAft>
              <a:buClr>
                <a:srgbClr val="1E6FE8"/>
              </a:buClr>
              <a:buFont typeface="Helvetica"/>
              <a:buChar char="•"/>
            </a:pPr>
            <a:r>
              <a:rPr sz="2100" b="0" i="0">
                <a:solidFill>
                  <a:srgbClr val="0F1C3F"/>
                </a:solidFill>
                <a:latin typeface="Helvetica"/>
              </a:rPr>
              <a:t>Mỗi lần kiểm cô lập trạng thái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63640" y="3977639"/>
            <a:ext cx="5349240" cy="1965960"/>
          </a:xfrm>
          <a:prstGeom prst="roundRect">
            <a:avLst>
              <a:gd name="adj" fmla="val 8000"/>
            </a:avLst>
          </a:prstGeom>
          <a:solidFill>
            <a:srgbClr val="D6E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92240" y="4142231"/>
            <a:ext cx="4892040" cy="5029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0000"/>
              </a:lnSpc>
            </a:pPr>
            <a:r>
              <a:rPr sz="2200" b="1" i="0">
                <a:solidFill>
                  <a:srgbClr val="144FB0"/>
                </a:solidFill>
                <a:latin typeface="Helvetica"/>
              </a:rPr>
              <a:t>Bài học vận hành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92240" y="4709159"/>
            <a:ext cx="48920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92608" indent="-292608">
              <a:lnSpc>
                <a:spcPct val="108000"/>
              </a:lnSpc>
              <a:spcAft>
                <a:spcPts val="600"/>
              </a:spcAft>
              <a:buClr>
                <a:srgbClr val="1E6FE8"/>
              </a:buClr>
              <a:buFont typeface="Helvetica"/>
              <a:buChar char="•"/>
            </a:pPr>
            <a:r>
              <a:rPr sz="2100" b="0" i="0">
                <a:solidFill>
                  <a:srgbClr val="0F1C3F"/>
                </a:solidFill>
                <a:latin typeface="Helvetica"/>
              </a:rPr>
              <a:t>Rò tiến trình repl khi timeout</a:t>
            </a:r>
          </a:p>
          <a:p>
            <a:pPr marL="292608" indent="-292608">
              <a:lnSpc>
                <a:spcPct val="108000"/>
              </a:lnSpc>
              <a:spcAft>
                <a:spcPts val="600"/>
              </a:spcAft>
              <a:buClr>
                <a:srgbClr val="1E6FE8"/>
              </a:buClr>
              <a:buFont typeface="Helvetica"/>
              <a:buChar char="•"/>
            </a:pPr>
            <a:r>
              <a:rPr sz="2100" b="0" i="0">
                <a:solidFill>
                  <a:srgbClr val="0F1C3F"/>
                </a:solidFill>
                <a:latin typeface="Helvetica"/>
              </a:rPr>
              <a:t>Sửa: huỷ cả process group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spd="slow" p14:dur="1200">
        <p159:morph option="byObject"/>
      </p:transition>
    </mc:Choice>
    <mc:Fallback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!!orb"/>
          <p:cNvSpPr/>
          <p:nvPr/>
        </p:nvSpPr>
        <p:spPr>
          <a:xfrm>
            <a:off x="9966960" y="4389120"/>
            <a:ext cx="3474720" cy="3474720"/>
          </a:xfrm>
          <a:prstGeom prst="ellipse">
            <a:avLst/>
          </a:prstGeom>
          <a:solidFill>
            <a:srgbClr val="EAF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!!dot"/>
          <p:cNvSpPr/>
          <p:nvPr/>
        </p:nvSpPr>
        <p:spPr>
          <a:xfrm>
            <a:off x="11704320" y="3840480"/>
            <a:ext cx="411480" cy="411480"/>
          </a:xfrm>
          <a:prstGeom prst="ellipse">
            <a:avLst/>
          </a:prstGeom>
          <a:solidFill>
            <a:srgbClr val="1E6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!!title"/>
          <p:cNvSpPr txBox="1"/>
          <p:nvPr/>
        </p:nvSpPr>
        <p:spPr>
          <a:xfrm>
            <a:off x="548640" y="347472"/>
            <a:ext cx="10424160" cy="11430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10000"/>
              </a:lnSpc>
            </a:pPr>
            <a:r>
              <a:rPr sz="3200" b="1" i="0">
                <a:solidFill>
                  <a:srgbClr val="0F1C3F"/>
                </a:solidFill>
                <a:latin typeface="Helvetica"/>
              </a:rPr>
              <a:t>Cùng dữ liệu, phần cứng và seed, chỉ đổi chiến lược</a:t>
            </a:r>
          </a:p>
        </p:txBody>
      </p:sp>
      <p:sp>
        <p:nvSpPr>
          <p:cNvPr id="5" name="!!num"/>
          <p:cNvSpPr txBox="1"/>
          <p:nvPr/>
        </p:nvSpPr>
        <p:spPr>
          <a:xfrm>
            <a:off x="10881360" y="6236208"/>
            <a:ext cx="914400" cy="4572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10000"/>
              </a:lnSpc>
            </a:pPr>
            <a:r>
              <a:rPr sz="2000" b="0" i="0">
                <a:solidFill>
                  <a:srgbClr val="5B6B82"/>
                </a:solidFill>
                <a:latin typeface="Helvetica"/>
              </a:rPr>
              <a:t>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737360"/>
            <a:ext cx="3566160" cy="3200400"/>
          </a:xfrm>
          <a:prstGeom prst="roundRect">
            <a:avLst>
              <a:gd name="adj" fmla="val 8000"/>
            </a:avLst>
          </a:prstGeom>
          <a:solidFill>
            <a:srgbClr val="EAF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901952"/>
            <a:ext cx="3108960" cy="5029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0000"/>
              </a:lnSpc>
            </a:pPr>
            <a:r>
              <a:rPr sz="2200" b="1" i="0">
                <a:solidFill>
                  <a:srgbClr val="144FB0"/>
                </a:solidFill>
                <a:latin typeface="Helvetica"/>
              </a:rPr>
              <a:t>Chiến lược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468880"/>
            <a:ext cx="3108960" cy="2331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92608" indent="-292608">
              <a:lnSpc>
                <a:spcPct val="108000"/>
              </a:lnSpc>
              <a:spcAft>
                <a:spcPts val="600"/>
              </a:spcAft>
              <a:buClr>
                <a:srgbClr val="1E6FE8"/>
              </a:buClr>
              <a:buFont typeface="Helvetica"/>
              <a:buChar char="•"/>
            </a:pPr>
            <a:r>
              <a:rPr sz="2100" b="0" i="0">
                <a:solidFill>
                  <a:srgbClr val="0F1C3F"/>
                </a:solidFill>
                <a:latin typeface="Helvetica"/>
              </a:rPr>
              <a:t>Không sửa · chỉ luật</a:t>
            </a:r>
          </a:p>
          <a:p>
            <a:pPr marL="292608" indent="-292608">
              <a:lnSpc>
                <a:spcPct val="108000"/>
              </a:lnSpc>
              <a:spcAft>
                <a:spcPts val="600"/>
              </a:spcAft>
              <a:buClr>
                <a:srgbClr val="1E6FE8"/>
              </a:buClr>
              <a:buFont typeface="Helvetica"/>
              <a:buChar char="•"/>
            </a:pPr>
            <a:r>
              <a:rPr sz="2100" b="0" i="0">
                <a:solidFill>
                  <a:srgbClr val="0F1C3F"/>
                </a:solidFill>
                <a:latin typeface="Helvetica"/>
              </a:rPr>
              <a:t>Blind là baseline</a:t>
            </a:r>
          </a:p>
          <a:p>
            <a:pPr marL="292608" indent="-292608">
              <a:lnSpc>
                <a:spcPct val="108000"/>
              </a:lnSpc>
              <a:spcAft>
                <a:spcPts val="600"/>
              </a:spcAft>
              <a:buClr>
                <a:srgbClr val="1E6FE8"/>
              </a:buClr>
              <a:buFont typeface="Helvetica"/>
              <a:buChar char="•"/>
            </a:pPr>
            <a:r>
              <a:rPr sz="2100" b="0" i="0">
                <a:solidFill>
                  <a:srgbClr val="0F1C3F"/>
                </a:solidFill>
                <a:latin typeface="Helvetica"/>
              </a:rPr>
              <a:t>LLM + chẩn đoán · lai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43400" y="1737360"/>
            <a:ext cx="3566160" cy="3200400"/>
          </a:xfrm>
          <a:prstGeom prst="roundRect">
            <a:avLst>
              <a:gd name="adj" fmla="val 8000"/>
            </a:avLst>
          </a:prstGeom>
          <a:solidFill>
            <a:srgbClr val="EAF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0" y="1901952"/>
            <a:ext cx="3108960" cy="5029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0000"/>
              </a:lnSpc>
            </a:pPr>
            <a:r>
              <a:rPr sz="2200" b="1" i="0">
                <a:solidFill>
                  <a:srgbClr val="144FB0"/>
                </a:solidFill>
                <a:latin typeface="Helvetica"/>
              </a:rPr>
              <a:t>Ma trận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2468880"/>
            <a:ext cx="3108960" cy="2331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92608" indent="-292608">
              <a:lnSpc>
                <a:spcPct val="108000"/>
              </a:lnSpc>
              <a:spcAft>
                <a:spcPts val="600"/>
              </a:spcAft>
              <a:buClr>
                <a:srgbClr val="1E6FE8"/>
              </a:buClr>
              <a:buFont typeface="Helvetica"/>
              <a:buChar char="•"/>
            </a:pPr>
            <a:r>
              <a:rPr sz="2100" b="0" i="0">
                <a:solidFill>
                  <a:srgbClr val="0F1C3F"/>
                </a:solidFill>
                <a:latin typeface="Helvetica"/>
              </a:rPr>
              <a:t>k = 0 / 1 / 3</a:t>
            </a:r>
          </a:p>
          <a:p>
            <a:pPr marL="292608" indent="-292608">
              <a:lnSpc>
                <a:spcPct val="108000"/>
              </a:lnSpc>
              <a:spcAft>
                <a:spcPts val="600"/>
              </a:spcAft>
              <a:buClr>
                <a:srgbClr val="1E6FE8"/>
              </a:buClr>
              <a:buFont typeface="Helvetica"/>
              <a:buChar char="•"/>
            </a:pPr>
            <a:r>
              <a:rPr sz="2100" b="0" i="0">
                <a:solidFill>
                  <a:srgbClr val="0F1C3F"/>
                </a:solidFill>
                <a:latin typeface="Helvetica"/>
              </a:rPr>
              <a:t>100 / 1K / 10K mẫu</a:t>
            </a:r>
          </a:p>
          <a:p>
            <a:pPr marL="292608" indent="-292608">
              <a:lnSpc>
                <a:spcPct val="108000"/>
              </a:lnSpc>
              <a:spcAft>
                <a:spcPts val="600"/>
              </a:spcAft>
              <a:buClr>
                <a:srgbClr val="1E6FE8"/>
              </a:buClr>
              <a:buFont typeface="Helvetica"/>
              <a:buChar char="•"/>
            </a:pPr>
            <a:r>
              <a:rPr sz="2100" b="0" i="0">
                <a:solidFill>
                  <a:srgbClr val="0F1C3F"/>
                </a:solidFill>
                <a:latin typeface="Helvetica"/>
              </a:rPr>
              <a:t>1 / 2 / 4 worker · 3 lần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138160" y="1737360"/>
            <a:ext cx="3566160" cy="3200400"/>
          </a:xfrm>
          <a:prstGeom prst="roundRect">
            <a:avLst>
              <a:gd name="adj" fmla="val 8000"/>
            </a:avLst>
          </a:prstGeom>
          <a:solidFill>
            <a:srgbClr val="D6E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366760" y="1901952"/>
            <a:ext cx="3108960" cy="5029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0000"/>
              </a:lnSpc>
            </a:pPr>
            <a:r>
              <a:rPr sz="2200" b="1" i="0">
                <a:solidFill>
                  <a:srgbClr val="144FB0"/>
                </a:solidFill>
                <a:latin typeface="Helvetica"/>
              </a:rPr>
              <a:t>Môi trường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66760" y="2468880"/>
            <a:ext cx="3108960" cy="2331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92608" indent="-292608">
              <a:lnSpc>
                <a:spcPct val="108000"/>
              </a:lnSpc>
              <a:spcAft>
                <a:spcPts val="600"/>
              </a:spcAft>
              <a:buClr>
                <a:srgbClr val="1E6FE8"/>
              </a:buClr>
              <a:buFont typeface="Helvetica"/>
              <a:buChar char="•"/>
            </a:pPr>
            <a:r>
              <a:rPr sz="2100" b="0" i="0">
                <a:solidFill>
                  <a:srgbClr val="0F1C3F"/>
                </a:solidFill>
                <a:latin typeface="Helvetica"/>
              </a:rPr>
              <a:t>Kaggle 4 vCPU, 31 GB</a:t>
            </a:r>
          </a:p>
          <a:p>
            <a:pPr marL="292608" indent="-292608">
              <a:lnSpc>
                <a:spcPct val="108000"/>
              </a:lnSpc>
              <a:spcAft>
                <a:spcPts val="600"/>
              </a:spcAft>
              <a:buClr>
                <a:srgbClr val="1E6FE8"/>
              </a:buClr>
              <a:buFont typeface="Helvetica"/>
              <a:buChar char="•"/>
            </a:pPr>
            <a:r>
              <a:rPr sz="2100" b="0" i="0">
                <a:solidFill>
                  <a:srgbClr val="0F1C3F"/>
                </a:solidFill>
                <a:latin typeface="Helvetica"/>
              </a:rPr>
              <a:t>Lean 4.35 + Mathlib</a:t>
            </a:r>
          </a:p>
          <a:p>
            <a:pPr marL="292608" indent="-292608">
              <a:lnSpc>
                <a:spcPct val="108000"/>
              </a:lnSpc>
              <a:spcAft>
                <a:spcPts val="600"/>
              </a:spcAft>
              <a:buClr>
                <a:srgbClr val="1E6FE8"/>
              </a:buClr>
              <a:buFont typeface="Helvetica"/>
              <a:buChar char="•"/>
            </a:pPr>
            <a:r>
              <a:rPr sz="2100" b="0" i="0">
                <a:solidFill>
                  <a:srgbClr val="0F1C3F"/>
                </a:solidFill>
                <a:latin typeface="Helvetica"/>
              </a:rPr>
              <a:t>Gemini Flash-Lite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5212080"/>
            <a:ext cx="11064240" cy="7315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0000"/>
              </a:lnSpc>
            </a:pPr>
            <a:r>
              <a:rPr sz="2200" b="1" i="0">
                <a:solidFill>
                  <a:srgbClr val="144FB0"/>
                </a:solidFill>
                <a:latin typeface="Helvetica"/>
              </a:rPr>
              <a:t>Tổng chi phí API cho toàn bộ thực nghiệm: </a:t>
            </a:r>
            <a:r>
              <a:rPr sz="2200" b="1" i="0">
                <a:solidFill>
                  <a:srgbClr val="0F1C3F"/>
                </a:solidFill>
                <a:latin typeface="Helvetica"/>
              </a:rPr>
              <a:t>$2,97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spd="slow" p14:dur="1200">
        <p159:morph option="byObject"/>
      </p:transition>
    </mc:Choice>
    <mc:Fallback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!!orb"/>
          <p:cNvSpPr/>
          <p:nvPr/>
        </p:nvSpPr>
        <p:spPr>
          <a:xfrm>
            <a:off x="10241280" y="-2011680"/>
            <a:ext cx="3840480" cy="3840480"/>
          </a:xfrm>
          <a:prstGeom prst="ellipse">
            <a:avLst/>
          </a:prstGeom>
          <a:solidFill>
            <a:srgbClr val="EAF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!!dot"/>
          <p:cNvSpPr/>
          <p:nvPr/>
        </p:nvSpPr>
        <p:spPr>
          <a:xfrm>
            <a:off x="11247120" y="502920"/>
            <a:ext cx="411480" cy="411480"/>
          </a:xfrm>
          <a:prstGeom prst="ellipse">
            <a:avLst/>
          </a:prstGeom>
          <a:solidFill>
            <a:srgbClr val="1E6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!!title"/>
          <p:cNvSpPr txBox="1"/>
          <p:nvPr/>
        </p:nvSpPr>
        <p:spPr>
          <a:xfrm>
            <a:off x="548640" y="347472"/>
            <a:ext cx="10424160" cy="11430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10000"/>
              </a:lnSpc>
            </a:pPr>
            <a:r>
              <a:rPr sz="3200" b="1" i="0">
                <a:solidFill>
                  <a:srgbClr val="0F1C3F"/>
                </a:solidFill>
                <a:latin typeface="Helvetica"/>
              </a:rPr>
              <a:t>RQ1: thông báo lỗi tăng 22 điểm % và còn rẻ hơn 45%</a:t>
            </a:r>
          </a:p>
        </p:txBody>
      </p:sp>
      <p:sp>
        <p:nvSpPr>
          <p:cNvPr id="5" name="!!num"/>
          <p:cNvSpPr txBox="1"/>
          <p:nvPr/>
        </p:nvSpPr>
        <p:spPr>
          <a:xfrm>
            <a:off x="10881360" y="6236208"/>
            <a:ext cx="914400" cy="4572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10000"/>
              </a:lnSpc>
            </a:pPr>
            <a:r>
              <a:rPr sz="2000" b="0" i="0">
                <a:solidFill>
                  <a:srgbClr val="5B6B82"/>
                </a:solidFill>
                <a:latin typeface="Helvetica"/>
              </a:rPr>
              <a:t>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828800"/>
            <a:ext cx="3291840" cy="8686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0000"/>
              </a:lnSpc>
            </a:pPr>
            <a:r>
              <a:rPr sz="4800" b="1" i="0">
                <a:solidFill>
                  <a:srgbClr val="5B6B82"/>
                </a:solidFill>
                <a:latin typeface="Helvetica"/>
              </a:rPr>
              <a:t>31,7%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697480"/>
            <a:ext cx="3291840" cy="7772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0000"/>
              </a:lnSpc>
            </a:pPr>
            <a:r>
              <a:rPr sz="2000" b="0" i="0">
                <a:solidFill>
                  <a:srgbClr val="5B6B82"/>
                </a:solidFill>
                <a:latin typeface="Helvetica"/>
              </a:rPr>
              <a:t>baseline thử lại nguyên prompt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06240" y="1828800"/>
            <a:ext cx="3291840" cy="8686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0000"/>
              </a:lnSpc>
            </a:pPr>
            <a:r>
              <a:rPr sz="4800" b="1" i="0">
                <a:solidFill>
                  <a:srgbClr val="144FB0"/>
                </a:solidFill>
                <a:latin typeface="Helvetica"/>
              </a:rPr>
              <a:t>53,9%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206240" y="2697480"/>
            <a:ext cx="3291840" cy="7772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0000"/>
              </a:lnSpc>
            </a:pPr>
            <a:r>
              <a:rPr sz="2000" b="0" i="0">
                <a:solidFill>
                  <a:srgbClr val="5B6B82"/>
                </a:solidFill>
                <a:latin typeface="Helvetica"/>
              </a:rPr>
              <a:t>LLM + chẩn đoán Lean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80960" y="1828800"/>
            <a:ext cx="3931920" cy="8686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0000"/>
              </a:lnSpc>
            </a:pPr>
            <a:r>
              <a:rPr sz="4800" b="1" i="0">
                <a:solidFill>
                  <a:srgbClr val="1E6FE8"/>
                </a:solidFill>
                <a:latin typeface="Helvetica"/>
              </a:rPr>
              <a:t>$1,13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680960" y="2697480"/>
            <a:ext cx="3931920" cy="7772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0000"/>
              </a:lnSpc>
            </a:pPr>
            <a:r>
              <a:rPr sz="2000" b="0" i="0">
                <a:solidFill>
                  <a:srgbClr val="5B6B82"/>
                </a:solidFill>
                <a:latin typeface="Helvetica"/>
              </a:rPr>
              <a:t>chi phí/1.000 mẫu, baseline $2,05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3977639"/>
            <a:ext cx="10881360" cy="1965960"/>
          </a:xfrm>
          <a:prstGeom prst="roundRect">
            <a:avLst>
              <a:gd name="adj" fmla="val 8000"/>
            </a:avLst>
          </a:prstGeom>
          <a:solidFill>
            <a:srgbClr val="EAF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4142231"/>
            <a:ext cx="10424160" cy="5029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0000"/>
              </a:lnSpc>
            </a:pPr>
            <a:r>
              <a:rPr sz="2200" b="1" i="0">
                <a:solidFill>
                  <a:srgbClr val="144FB0"/>
                </a:solidFill>
                <a:latin typeface="Helvetica"/>
              </a:rPr>
              <a:t>Vì sao rẻ hơn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60120" y="4709159"/>
            <a:ext cx="104241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92608" indent="-292608">
              <a:lnSpc>
                <a:spcPct val="108000"/>
              </a:lnSpc>
              <a:spcAft>
                <a:spcPts val="600"/>
              </a:spcAft>
              <a:buClr>
                <a:srgbClr val="1E6FE8"/>
              </a:buClr>
              <a:buFont typeface="Helvetica"/>
              <a:buChar char="•"/>
            </a:pPr>
            <a:r>
              <a:rPr sz="2100" b="0" i="0">
                <a:solidFill>
                  <a:srgbClr val="0F1C3F"/>
                </a:solidFill>
                <a:latin typeface="Helvetica"/>
              </a:rPr>
              <a:t>Prompt dài hơn 68% nhưng câu trả lời ngắn bằng một nửa</a:t>
            </a:r>
          </a:p>
          <a:p>
            <a:pPr marL="292608" indent="-292608">
              <a:lnSpc>
                <a:spcPct val="108000"/>
              </a:lnSpc>
              <a:spcAft>
                <a:spcPts val="600"/>
              </a:spcAft>
              <a:buClr>
                <a:srgbClr val="1E6FE8"/>
              </a:buClr>
              <a:buFont typeface="Helvetica"/>
              <a:buChar char="•"/>
            </a:pPr>
            <a:r>
              <a:rPr sz="2100" b="0" i="0">
                <a:solidFill>
                  <a:srgbClr val="0F1C3F"/>
                </a:solidFill>
                <a:latin typeface="Helvetica"/>
              </a:rPr>
              <a:t>Token ra đắt gấp 8,3 lần token vào → tổng chi phí giảm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spd="slow" p14:dur="1200">
        <p159:morph option="byObject"/>
      </p:transition>
    </mc:Choice>
    <mc:Fallback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!!orb"/>
          <p:cNvSpPr/>
          <p:nvPr/>
        </p:nvSpPr>
        <p:spPr>
          <a:xfrm>
            <a:off x="-1645920" y="4206240"/>
            <a:ext cx="3657600" cy="3657600"/>
          </a:xfrm>
          <a:prstGeom prst="ellipse">
            <a:avLst/>
          </a:prstGeom>
          <a:solidFill>
            <a:srgbClr val="EAF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!!dot"/>
          <p:cNvSpPr/>
          <p:nvPr/>
        </p:nvSpPr>
        <p:spPr>
          <a:xfrm>
            <a:off x="54864" y="6035040"/>
            <a:ext cx="411480" cy="411480"/>
          </a:xfrm>
          <a:prstGeom prst="ellipse">
            <a:avLst/>
          </a:prstGeom>
          <a:solidFill>
            <a:srgbClr val="1E6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!!title"/>
          <p:cNvSpPr txBox="1"/>
          <p:nvPr/>
        </p:nvSpPr>
        <p:spPr>
          <a:xfrm>
            <a:off x="548640" y="347472"/>
            <a:ext cx="10424160" cy="11430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10000"/>
              </a:lnSpc>
            </a:pPr>
            <a:r>
              <a:rPr sz="3200" b="1" i="0">
                <a:solidFill>
                  <a:srgbClr val="0F1C3F"/>
                </a:solidFill>
                <a:latin typeface="Helvetica"/>
              </a:rPr>
              <a:t>RQ2: thử 3 lần đạt 65,1%, gấp đôi baseline</a:t>
            </a:r>
          </a:p>
        </p:txBody>
      </p:sp>
      <p:sp>
        <p:nvSpPr>
          <p:cNvPr id="5" name="!!num"/>
          <p:cNvSpPr txBox="1"/>
          <p:nvPr/>
        </p:nvSpPr>
        <p:spPr>
          <a:xfrm>
            <a:off x="10881360" y="6236208"/>
            <a:ext cx="914400" cy="4572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10000"/>
              </a:lnSpc>
            </a:pPr>
            <a:r>
              <a:rPr sz="2000" b="0" i="0">
                <a:solidFill>
                  <a:srgbClr val="5B6B82"/>
                </a:solidFill>
                <a:latin typeface="Helvetica"/>
              </a:rPr>
              <a:t>9</a:t>
            </a:r>
          </a:p>
        </p:txBody>
      </p:sp>
      <p:pic>
        <p:nvPicPr>
          <p:cNvPr id="6" name="Picture 5" descr="fig_ablation_slid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1600200"/>
            <a:ext cx="11155680" cy="447749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spd="slow" p14:dur="1200">
        <p159:morph option="byObject"/>
      </p:transition>
    </mc:Choice>
    <mc:Fallback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!!orb"/>
          <p:cNvSpPr/>
          <p:nvPr/>
        </p:nvSpPr>
        <p:spPr>
          <a:xfrm>
            <a:off x="9875520" y="4480560"/>
            <a:ext cx="3474720" cy="3474720"/>
          </a:xfrm>
          <a:prstGeom prst="ellipse">
            <a:avLst/>
          </a:prstGeom>
          <a:solidFill>
            <a:srgbClr val="EAF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!!dot"/>
          <p:cNvSpPr/>
          <p:nvPr/>
        </p:nvSpPr>
        <p:spPr>
          <a:xfrm>
            <a:off x="11704320" y="3108960"/>
            <a:ext cx="411480" cy="411480"/>
          </a:xfrm>
          <a:prstGeom prst="ellipse">
            <a:avLst/>
          </a:prstGeom>
          <a:solidFill>
            <a:srgbClr val="1E6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!!title"/>
          <p:cNvSpPr txBox="1"/>
          <p:nvPr/>
        </p:nvSpPr>
        <p:spPr>
          <a:xfrm>
            <a:off x="548640" y="347472"/>
            <a:ext cx="10424160" cy="11430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10000"/>
              </a:lnSpc>
            </a:pPr>
            <a:r>
              <a:rPr sz="3200" b="1" i="0">
                <a:solidFill>
                  <a:srgbClr val="0F1C3F"/>
                </a:solidFill>
                <a:latin typeface="Helvetica"/>
              </a:rPr>
              <a:t>Chẩn đoán vừa tốt hơn vừa rẻ hơn, nằm trên biên Pareto</a:t>
            </a:r>
          </a:p>
        </p:txBody>
      </p:sp>
      <p:sp>
        <p:nvSpPr>
          <p:cNvPr id="5" name="!!num"/>
          <p:cNvSpPr txBox="1"/>
          <p:nvPr/>
        </p:nvSpPr>
        <p:spPr>
          <a:xfrm>
            <a:off x="10881360" y="6236208"/>
            <a:ext cx="914400" cy="4572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10000"/>
              </a:lnSpc>
            </a:pPr>
            <a:r>
              <a:rPr sz="2000" b="0" i="0">
                <a:solidFill>
                  <a:srgbClr val="5B6B82"/>
                </a:solidFill>
                <a:latin typeface="Helvetica"/>
              </a:rPr>
              <a:t>10</a:t>
            </a:r>
          </a:p>
        </p:txBody>
      </p:sp>
      <p:pic>
        <p:nvPicPr>
          <p:cNvPr id="6" name="Picture 5" descr="fig_cost_quality_slid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600200"/>
            <a:ext cx="6949440" cy="3995659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7772400" y="1737360"/>
            <a:ext cx="3840480" cy="4206240"/>
          </a:xfrm>
          <a:prstGeom prst="roundRect">
            <a:avLst>
              <a:gd name="adj" fmla="val 8000"/>
            </a:avLst>
          </a:prstGeom>
          <a:solidFill>
            <a:srgbClr val="D6E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001000" y="1901952"/>
            <a:ext cx="3383280" cy="5029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0000"/>
              </a:lnSpc>
            </a:pPr>
            <a:r>
              <a:rPr sz="2200" b="1" i="0">
                <a:solidFill>
                  <a:srgbClr val="144FB0"/>
                </a:solidFill>
                <a:latin typeface="Helvetica"/>
              </a:rPr>
              <a:t>Đọc biểu đồ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01000" y="2468880"/>
            <a:ext cx="3383280" cy="33375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92608" indent="-292608">
              <a:lnSpc>
                <a:spcPct val="108000"/>
              </a:lnSpc>
              <a:spcAft>
                <a:spcPts val="600"/>
              </a:spcAft>
              <a:buClr>
                <a:srgbClr val="1E6FE8"/>
              </a:buClr>
              <a:buFont typeface="Helvetica"/>
              <a:buChar char="•"/>
            </a:pPr>
            <a:r>
              <a:rPr sz="2100" b="0" i="0">
                <a:solidFill>
                  <a:srgbClr val="0F1C3F"/>
                </a:solidFill>
                <a:latin typeface="Helvetica"/>
              </a:rPr>
              <a:t>$0: chỉ luật, 23,9%</a:t>
            </a:r>
          </a:p>
          <a:p>
            <a:pPr marL="292608" indent="-292608">
              <a:lnSpc>
                <a:spcPct val="108000"/>
              </a:lnSpc>
              <a:spcAft>
                <a:spcPts val="600"/>
              </a:spcAft>
              <a:buClr>
                <a:srgbClr val="1E6FE8"/>
              </a:buClr>
              <a:buFont typeface="Helvetica"/>
              <a:buChar char="•"/>
            </a:pPr>
            <a:r>
              <a:rPr sz="2100" b="0" i="0">
                <a:solidFill>
                  <a:srgbClr val="0F1C3F"/>
                </a:solidFill>
                <a:latin typeface="Helvetica"/>
              </a:rPr>
              <a:t>$1,13: LLM k=1, 53,9%</a:t>
            </a:r>
          </a:p>
          <a:p>
            <a:pPr marL="292608" indent="-292608">
              <a:lnSpc>
                <a:spcPct val="108000"/>
              </a:lnSpc>
              <a:spcAft>
                <a:spcPts val="600"/>
              </a:spcAft>
              <a:buClr>
                <a:srgbClr val="1E6FE8"/>
              </a:buClr>
              <a:buFont typeface="Helvetica"/>
              <a:buChar char="•"/>
            </a:pPr>
            <a:r>
              <a:rPr sz="2100" b="0" i="0">
                <a:solidFill>
                  <a:srgbClr val="0F1C3F"/>
                </a:solidFill>
                <a:latin typeface="Helvetica"/>
              </a:rPr>
              <a:t>$2,45: LLM k=3, 65,1%</a:t>
            </a:r>
          </a:p>
          <a:p>
            <a:pPr marL="292608" indent="-292608">
              <a:lnSpc>
                <a:spcPct val="108000"/>
              </a:lnSpc>
              <a:spcAft>
                <a:spcPts val="600"/>
              </a:spcAft>
              <a:buClr>
                <a:srgbClr val="1E6FE8"/>
              </a:buClr>
              <a:buFont typeface="Helvetica"/>
              <a:buChar char="•"/>
            </a:pPr>
            <a:r>
              <a:rPr sz="2100" b="0" i="0">
                <a:solidFill>
                  <a:srgbClr val="0F1C3F"/>
                </a:solidFill>
                <a:latin typeface="Helvetica"/>
              </a:rPr>
              <a:t>Blind: $2,05, 31,7%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spd="slow" p14:dur="1200">
        <p159:morph option="byObject"/>
      </p:transition>
    </mc:Choice>
    <mc:Fallback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!!orb"/>
          <p:cNvSpPr/>
          <p:nvPr/>
        </p:nvSpPr>
        <p:spPr>
          <a:xfrm>
            <a:off x="10058400" y="-2103120"/>
            <a:ext cx="4023360" cy="4023360"/>
          </a:xfrm>
          <a:prstGeom prst="ellipse">
            <a:avLst/>
          </a:prstGeom>
          <a:solidFill>
            <a:srgbClr val="EAF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!!dot"/>
          <p:cNvSpPr/>
          <p:nvPr/>
        </p:nvSpPr>
        <p:spPr>
          <a:xfrm>
            <a:off x="11247120" y="502920"/>
            <a:ext cx="411480" cy="411480"/>
          </a:xfrm>
          <a:prstGeom prst="ellipse">
            <a:avLst/>
          </a:prstGeom>
          <a:solidFill>
            <a:srgbClr val="1E6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!!title"/>
          <p:cNvSpPr txBox="1"/>
          <p:nvPr/>
        </p:nvSpPr>
        <p:spPr>
          <a:xfrm>
            <a:off x="548640" y="347472"/>
            <a:ext cx="10424160" cy="11430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10000"/>
              </a:lnSpc>
            </a:pPr>
            <a:r>
              <a:rPr sz="3200" b="1" i="0">
                <a:solidFill>
                  <a:srgbClr val="0F1C3F"/>
                </a:solidFill>
                <a:latin typeface="Helvetica"/>
              </a:rPr>
              <a:t>Luật đúng thì gần hoàn hảo, luật sai kéo hybrid xuống</a:t>
            </a:r>
          </a:p>
        </p:txBody>
      </p:sp>
      <p:sp>
        <p:nvSpPr>
          <p:cNvPr id="5" name="!!num"/>
          <p:cNvSpPr txBox="1"/>
          <p:nvPr/>
        </p:nvSpPr>
        <p:spPr>
          <a:xfrm>
            <a:off x="10881360" y="6236208"/>
            <a:ext cx="914400" cy="4572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10000"/>
              </a:lnSpc>
            </a:pPr>
            <a:r>
              <a:rPr sz="2000" b="0" i="0">
                <a:solidFill>
                  <a:srgbClr val="5B6B82"/>
                </a:solidFill>
                <a:latin typeface="Helvetica"/>
              </a:rPr>
              <a:t>11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48640" y="1783080"/>
          <a:ext cx="6766560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474720"/>
                <a:gridCol w="1463040"/>
                <a:gridCol w="1828800"/>
              </a:tblGrid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2000" b="1" i="0">
                          <a:solidFill>
                            <a:srgbClr val="FFFFFF"/>
                          </a:solidFill>
                          <a:latin typeface="Helvetica"/>
                        </a:rPr>
                        <a:t>Luật</a:t>
                      </a:r>
                    </a:p>
                  </a:txBody>
                  <a:tcPr marL="73152" marR="73152" marT="36576" marB="36576" anchor="ctr">
                    <a:solidFill>
                      <a:srgbClr val="1E6FE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 b="1" i="0">
                          <a:solidFill>
                            <a:srgbClr val="FFFFFF"/>
                          </a:solidFill>
                          <a:latin typeface="Helvetica"/>
                        </a:rPr>
                        <a:t>Áp dụng</a:t>
                      </a:r>
                    </a:p>
                  </a:txBody>
                  <a:tcPr marL="73152" marR="73152" marT="36576" marB="36576" anchor="ctr">
                    <a:solidFill>
                      <a:srgbClr val="1E6FE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 b="1" i="0">
                          <a:solidFill>
                            <a:srgbClr val="FFFFFF"/>
                          </a:solidFill>
                          <a:latin typeface="Helvetica"/>
                        </a:rPr>
                        <a:t>Chính xác</a:t>
                      </a:r>
                    </a:p>
                  </a:txBody>
                  <a:tcPr marL="73152" marR="73152" marT="36576" marB="36576" anchor="ctr">
                    <a:solidFill>
                      <a:srgbClr val="1E6FE8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2000" b="0" i="0">
                          <a:solidFill>
                            <a:srgbClr val="0F1C3F"/>
                          </a:solidFill>
                          <a:latin typeface="Helvetica"/>
                        </a:rPr>
                        <a:t>R0 khôi phục import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 b="0" i="0">
                          <a:solidFill>
                            <a:srgbClr val="0F1C3F"/>
                          </a:solidFill>
                          <a:latin typeface="Helvetica"/>
                        </a:rPr>
                        <a:t>99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 b="0" i="0">
                          <a:solidFill>
                            <a:srgbClr val="0F1C3F"/>
                          </a:solidFill>
                          <a:latin typeface="Helvetica"/>
                        </a:rPr>
                        <a:t>97%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2000" b="0" i="0">
                          <a:solidFill>
                            <a:srgbClr val="0F1C3F"/>
                          </a:solidFill>
                          <a:latin typeface="Helvetica"/>
                        </a:rPr>
                        <a:t>R7 ngân sách heartbeat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 b="0" i="0">
                          <a:solidFill>
                            <a:srgbClr val="0F1C3F"/>
                          </a:solidFill>
                          <a:latin typeface="Helvetica"/>
                        </a:rPr>
                        <a:t>81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 b="0" i="0">
                          <a:solidFill>
                            <a:srgbClr val="0F1C3F"/>
                          </a:solidFill>
                          <a:latin typeface="Helvetica"/>
                        </a:rPr>
                        <a:t>100%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2000" b="0" i="0">
                          <a:solidFill>
                            <a:srgbClr val="0F1C3F"/>
                          </a:solidFill>
                          <a:latin typeface="Helvetica"/>
                        </a:rPr>
                        <a:t>R1 cân bằng ngoặc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 b="0" i="0">
                          <a:solidFill>
                            <a:srgbClr val="0F1C3F"/>
                          </a:solidFill>
                          <a:latin typeface="Helvetica"/>
                        </a:rPr>
                        <a:t>99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 b="0" i="0">
                          <a:solidFill>
                            <a:srgbClr val="0F1C3F"/>
                          </a:solidFill>
                          <a:latin typeface="Helvetica"/>
                        </a:rPr>
                        <a:t>27%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2000" b="0" i="0">
                          <a:solidFill>
                            <a:srgbClr val="0F1C3F"/>
                          </a:solidFill>
                          <a:latin typeface="Helvetica"/>
                        </a:rPr>
                        <a:t>R3 bảng import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 b="0" i="0">
                          <a:solidFill>
                            <a:srgbClr val="0F1C3F"/>
                          </a:solidFill>
                          <a:latin typeface="Helvetica"/>
                        </a:rPr>
                        <a:t>253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 b="0" i="0">
                          <a:solidFill>
                            <a:srgbClr val="0F1C3F"/>
                          </a:solidFill>
                          <a:latin typeface="Helvetica"/>
                        </a:rPr>
                        <a:t>0%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2000" b="0" i="0">
                          <a:solidFill>
                            <a:srgbClr val="0F1C3F"/>
                          </a:solidFill>
                          <a:latin typeface="Helvetica"/>
                        </a:rPr>
                        <a:t>R2 chèn từ khoá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 b="0" i="0">
                          <a:solidFill>
                            <a:srgbClr val="0F1C3F"/>
                          </a:solidFill>
                          <a:latin typeface="Helvetica"/>
                        </a:rPr>
                        <a:t>126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 b="0" i="0">
                          <a:solidFill>
                            <a:srgbClr val="0F1C3F"/>
                          </a:solidFill>
                          <a:latin typeface="Helvetica"/>
                        </a:rPr>
                        <a:t>0%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7589520" y="1783080"/>
            <a:ext cx="4023360" cy="4160520"/>
          </a:xfrm>
          <a:prstGeom prst="roundRect">
            <a:avLst>
              <a:gd name="adj" fmla="val 8000"/>
            </a:avLst>
          </a:prstGeom>
          <a:solidFill>
            <a:srgbClr val="D6E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818120" y="1947672"/>
            <a:ext cx="3566160" cy="5029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0000"/>
              </a:lnSpc>
            </a:pPr>
            <a:r>
              <a:rPr sz="2200" b="1" i="0">
                <a:solidFill>
                  <a:srgbClr val="144FB0"/>
                </a:solidFill>
                <a:latin typeface="Helvetica"/>
              </a:rPr>
              <a:t>Hệ quả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818120" y="2514600"/>
            <a:ext cx="3566160" cy="32918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92608" indent="-292608">
              <a:lnSpc>
                <a:spcPct val="108000"/>
              </a:lnSpc>
              <a:spcAft>
                <a:spcPts val="600"/>
              </a:spcAft>
              <a:buClr>
                <a:srgbClr val="1E6FE8"/>
              </a:buClr>
              <a:buFont typeface="Helvetica"/>
              <a:buChar char="•"/>
            </a:pPr>
            <a:r>
              <a:rPr sz="2100" b="0" i="0">
                <a:solidFill>
                  <a:srgbClr val="0F1C3F"/>
                </a:solidFill>
                <a:latin typeface="Helvetica"/>
              </a:rPr>
              <a:t>Hybrid k=1: 30,3%</a:t>
            </a:r>
          </a:p>
          <a:p>
            <a:pPr marL="292608" indent="-292608">
              <a:lnSpc>
                <a:spcPct val="108000"/>
              </a:lnSpc>
              <a:spcAft>
                <a:spcPts val="600"/>
              </a:spcAft>
              <a:buClr>
                <a:srgbClr val="1E6FE8"/>
              </a:buClr>
              <a:buFont typeface="Helvetica"/>
              <a:buChar char="•"/>
            </a:pPr>
            <a:r>
              <a:rPr sz="2100" b="0" i="0">
                <a:solidFill>
                  <a:srgbClr val="0F1C3F"/>
                </a:solidFill>
                <a:latin typeface="Helvetica"/>
              </a:rPr>
              <a:t>LLM k=1: 53,9%</a:t>
            </a:r>
          </a:p>
          <a:p>
            <a:pPr marL="292608" indent="-292608">
              <a:lnSpc>
                <a:spcPct val="108000"/>
              </a:lnSpc>
              <a:spcAft>
                <a:spcPts val="600"/>
              </a:spcAft>
              <a:buClr>
                <a:srgbClr val="1E6FE8"/>
              </a:buClr>
              <a:buFont typeface="Helvetica"/>
              <a:buChar char="•"/>
            </a:pPr>
            <a:r>
              <a:rPr sz="2100" b="0" i="0">
                <a:solidFill>
                  <a:srgbClr val="0F1C3F"/>
                </a:solidFill>
                <a:latin typeface="Helvetica"/>
              </a:rPr>
              <a:t>Router chỉ nên dùng luật chính xác cao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spd="slow" p14:dur="1200">
        <p159:morph option="byObject"/>
      </p:transition>
    </mc:Choice>
    <mc:Fallback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!!orb"/>
          <p:cNvSpPr/>
          <p:nvPr/>
        </p:nvSpPr>
        <p:spPr>
          <a:xfrm>
            <a:off x="-1828800" y="4114800"/>
            <a:ext cx="3840480" cy="3840480"/>
          </a:xfrm>
          <a:prstGeom prst="ellipse">
            <a:avLst/>
          </a:prstGeom>
          <a:solidFill>
            <a:srgbClr val="EAF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!!dot"/>
          <p:cNvSpPr/>
          <p:nvPr/>
        </p:nvSpPr>
        <p:spPr>
          <a:xfrm>
            <a:off x="54864" y="6035040"/>
            <a:ext cx="411480" cy="411480"/>
          </a:xfrm>
          <a:prstGeom prst="ellipse">
            <a:avLst/>
          </a:prstGeom>
          <a:solidFill>
            <a:srgbClr val="1E6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!!title"/>
          <p:cNvSpPr txBox="1"/>
          <p:nvPr/>
        </p:nvSpPr>
        <p:spPr>
          <a:xfrm>
            <a:off x="548640" y="347472"/>
            <a:ext cx="10424160" cy="11430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10000"/>
              </a:lnSpc>
            </a:pPr>
            <a:r>
              <a:rPr sz="3200" b="1" i="0">
                <a:solidFill>
                  <a:srgbClr val="0F1C3F"/>
                </a:solidFill>
                <a:latin typeface="Helvetica"/>
              </a:rPr>
              <a:t>Không có kiểm toán, tỷ lệ thành công bị thổi phồng</a:t>
            </a:r>
          </a:p>
        </p:txBody>
      </p:sp>
      <p:sp>
        <p:nvSpPr>
          <p:cNvPr id="5" name="!!num"/>
          <p:cNvSpPr txBox="1"/>
          <p:nvPr/>
        </p:nvSpPr>
        <p:spPr>
          <a:xfrm>
            <a:off x="10881360" y="6236208"/>
            <a:ext cx="914400" cy="4572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10000"/>
              </a:lnSpc>
            </a:pPr>
            <a:r>
              <a:rPr sz="2000" b="0" i="0">
                <a:solidFill>
                  <a:srgbClr val="5B6B82"/>
                </a:solidFill>
                <a:latin typeface="Helvetica"/>
              </a:rPr>
              <a:t>12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828800"/>
            <a:ext cx="3474720" cy="8686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0000"/>
              </a:lnSpc>
            </a:pPr>
            <a:r>
              <a:rPr sz="4800" b="1" i="0">
                <a:solidFill>
                  <a:srgbClr val="5B6B82"/>
                </a:solidFill>
                <a:latin typeface="Helvetica"/>
              </a:rPr>
              <a:t>75,0%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697480"/>
            <a:ext cx="3474720" cy="7772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0000"/>
              </a:lnSpc>
            </a:pPr>
            <a:r>
              <a:rPr sz="2000" b="0" i="0">
                <a:solidFill>
                  <a:srgbClr val="5B6B82"/>
                </a:solidFill>
                <a:latin typeface="Helvetica"/>
              </a:rPr>
              <a:t>biên dịch được với LLM k=3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89120" y="1828800"/>
            <a:ext cx="3474720" cy="8686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0000"/>
              </a:lnSpc>
            </a:pPr>
            <a:r>
              <a:rPr sz="4800" b="1" i="0">
                <a:solidFill>
                  <a:srgbClr val="144FB0"/>
                </a:solidFill>
                <a:latin typeface="Helvetica"/>
              </a:rPr>
              <a:t>65,1%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389120" y="2697480"/>
            <a:ext cx="3474720" cy="7772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0000"/>
              </a:lnSpc>
            </a:pPr>
            <a:r>
              <a:rPr sz="2000" b="0" i="0">
                <a:solidFill>
                  <a:srgbClr val="5B6B82"/>
                </a:solidFill>
                <a:latin typeface="Helvetica"/>
              </a:rPr>
              <a:t>thành công đã kiểm toán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46720" y="1828800"/>
            <a:ext cx="3566160" cy="8686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0000"/>
              </a:lnSpc>
            </a:pPr>
            <a:r>
              <a:rPr sz="4800" b="1" i="0">
                <a:solidFill>
                  <a:srgbClr val="1E6FE8"/>
                </a:solidFill>
                <a:latin typeface="Helvetica"/>
              </a:rPr>
              <a:t>17–26%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46720" y="2697480"/>
            <a:ext cx="3566160" cy="7772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0000"/>
              </a:lnSpc>
            </a:pPr>
            <a:r>
              <a:rPr sz="2000" b="0" i="0">
                <a:solidFill>
                  <a:srgbClr val="5B6B82"/>
                </a:solidFill>
                <a:latin typeface="Helvetica"/>
              </a:rPr>
              <a:t>bản sửa lỗi đã đổi đề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3977639"/>
            <a:ext cx="10881360" cy="1965960"/>
          </a:xfrm>
          <a:prstGeom prst="roundRect">
            <a:avLst>
              <a:gd name="adj" fmla="val 8000"/>
            </a:avLst>
          </a:prstGeom>
          <a:solidFill>
            <a:srgbClr val="EAF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4142231"/>
            <a:ext cx="10424160" cy="5029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0000"/>
              </a:lnSpc>
            </a:pPr>
            <a:r>
              <a:rPr sz="2200" b="1" i="0">
                <a:solidFill>
                  <a:srgbClr val="144FB0"/>
                </a:solidFill>
                <a:latin typeface="Helvetica"/>
              </a:rPr>
              <a:t>Kiểm toán chặn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60120" y="4709159"/>
            <a:ext cx="104241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92608" indent="-292608">
              <a:lnSpc>
                <a:spcPct val="108000"/>
              </a:lnSpc>
              <a:spcAft>
                <a:spcPts val="600"/>
              </a:spcAft>
              <a:buClr>
                <a:srgbClr val="1E6FE8"/>
              </a:buClr>
              <a:buFont typeface="Helvetica"/>
              <a:buChar char="•"/>
            </a:pPr>
            <a:r>
              <a:rPr sz="2100" b="0" i="0">
                <a:solidFill>
                  <a:srgbClr val="0F1C3F"/>
                </a:solidFill>
                <a:latin typeface="Helvetica"/>
              </a:rPr>
              <a:t>sorry, admit, axiom, native_decide</a:t>
            </a:r>
          </a:p>
          <a:p>
            <a:pPr marL="292608" indent="-292608">
              <a:lnSpc>
                <a:spcPct val="108000"/>
              </a:lnSpc>
              <a:spcAft>
                <a:spcPts val="600"/>
              </a:spcAft>
              <a:buClr>
                <a:srgbClr val="1E6FE8"/>
              </a:buClr>
              <a:buFont typeface="Helvetica"/>
              <a:buChar char="•"/>
            </a:pPr>
            <a:r>
              <a:rPr sz="2100" b="0" i="0">
                <a:solidFill>
                  <a:srgbClr val="0F1C3F"/>
                </a:solidFill>
                <a:latin typeface="Helvetica"/>
              </a:rPr>
              <a:t>Thay đổi tên, giả thiết hoặc kết luận của định lý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spd="slow" p14:dur="1200">
        <p159:morph option="byObject"/>
      </p:transition>
    </mc:Choice>
    <mc:Fallback>
      <p:transition spd="slow">
        <p:fade/>
      </p:transition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!!orb"/>
          <p:cNvSpPr/>
          <p:nvPr/>
        </p:nvSpPr>
        <p:spPr>
          <a:xfrm>
            <a:off x="9966960" y="4389120"/>
            <a:ext cx="3566160" cy="3566160"/>
          </a:xfrm>
          <a:prstGeom prst="ellipse">
            <a:avLst/>
          </a:prstGeom>
          <a:solidFill>
            <a:srgbClr val="EAF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!!dot"/>
          <p:cNvSpPr/>
          <p:nvPr/>
        </p:nvSpPr>
        <p:spPr>
          <a:xfrm>
            <a:off x="11704320" y="3657600"/>
            <a:ext cx="411480" cy="411480"/>
          </a:xfrm>
          <a:prstGeom prst="ellipse">
            <a:avLst/>
          </a:prstGeom>
          <a:solidFill>
            <a:srgbClr val="1E6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!!title"/>
          <p:cNvSpPr txBox="1"/>
          <p:nvPr/>
        </p:nvSpPr>
        <p:spPr>
          <a:xfrm>
            <a:off x="548640" y="347472"/>
            <a:ext cx="10424160" cy="11430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10000"/>
              </a:lnSpc>
            </a:pPr>
            <a:r>
              <a:rPr sz="3200" b="1" i="0">
                <a:solidFill>
                  <a:srgbClr val="0F1C3F"/>
                </a:solidFill>
                <a:latin typeface="Helvetica"/>
              </a:rPr>
              <a:t>RQ3: 2 worker nhanh 1,76×, 4 worker chỉ 1,88× vì nghẽn CPU</a:t>
            </a:r>
          </a:p>
        </p:txBody>
      </p:sp>
      <p:sp>
        <p:nvSpPr>
          <p:cNvPr id="5" name="!!num"/>
          <p:cNvSpPr txBox="1"/>
          <p:nvPr/>
        </p:nvSpPr>
        <p:spPr>
          <a:xfrm>
            <a:off x="10881360" y="6236208"/>
            <a:ext cx="914400" cy="4572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10000"/>
              </a:lnSpc>
            </a:pPr>
            <a:r>
              <a:rPr sz="2000" b="0" i="0">
                <a:solidFill>
                  <a:srgbClr val="5B6B82"/>
                </a:solidFill>
                <a:latin typeface="Helvetica"/>
              </a:rPr>
              <a:t>13</a:t>
            </a:r>
          </a:p>
        </p:txBody>
      </p:sp>
      <p:pic>
        <p:nvPicPr>
          <p:cNvPr id="6" name="Picture 5" descr="fig_scale_speedup_slid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645920"/>
            <a:ext cx="5760720" cy="4470723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400800" y="1828800"/>
            <a:ext cx="5120640" cy="8686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0000"/>
              </a:lnSpc>
            </a:pPr>
            <a:r>
              <a:rPr sz="4800" b="1" i="0">
                <a:solidFill>
                  <a:srgbClr val="1E6FE8"/>
                </a:solidFill>
                <a:latin typeface="Helvetica"/>
              </a:rPr>
              <a:t>1,52 → 2,86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0" y="2697480"/>
            <a:ext cx="5120640" cy="7772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0000"/>
              </a:lnSpc>
            </a:pPr>
            <a:r>
              <a:rPr sz="2000" b="0" i="0">
                <a:solidFill>
                  <a:srgbClr val="5B6B82"/>
                </a:solidFill>
                <a:latin typeface="Helvetica"/>
              </a:rPr>
              <a:t>mẫu/s ở 10K, từ 1 lên 4 worker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3474720"/>
            <a:ext cx="5120640" cy="8686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0000"/>
              </a:lnSpc>
            </a:pPr>
            <a:r>
              <a:rPr sz="4800" b="1" i="0">
                <a:solidFill>
                  <a:srgbClr val="144FB0"/>
                </a:solidFill>
                <a:latin typeface="Helvetica"/>
              </a:rPr>
              <a:t>3,1 → 6,5 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4343400"/>
            <a:ext cx="5120640" cy="7772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0000"/>
              </a:lnSpc>
            </a:pPr>
            <a:r>
              <a:rPr sz="2000" b="0" i="0">
                <a:solidFill>
                  <a:srgbClr val="5B6B82"/>
                </a:solidFill>
                <a:latin typeface="Helvetica"/>
              </a:rPr>
              <a:t>P95 thời gian phục vụ, từ 1 lên 4 worker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spd="slow" p14:dur="1200">
        <p159:morph option="byObject"/>
      </p:transition>
    </mc:Choice>
    <mc:Fallback>
      <p:transition spd="slow">
        <p:fade/>
      </p:transition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!!orb"/>
          <p:cNvSpPr/>
          <p:nvPr/>
        </p:nvSpPr>
        <p:spPr>
          <a:xfrm>
            <a:off x="10241280" y="-2194560"/>
            <a:ext cx="4023360" cy="4023360"/>
          </a:xfrm>
          <a:prstGeom prst="ellipse">
            <a:avLst/>
          </a:prstGeom>
          <a:solidFill>
            <a:srgbClr val="EAF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!!dot"/>
          <p:cNvSpPr/>
          <p:nvPr/>
        </p:nvSpPr>
        <p:spPr>
          <a:xfrm>
            <a:off x="11247120" y="502920"/>
            <a:ext cx="411480" cy="411480"/>
          </a:xfrm>
          <a:prstGeom prst="ellipse">
            <a:avLst/>
          </a:prstGeom>
          <a:solidFill>
            <a:srgbClr val="1E6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!!title"/>
          <p:cNvSpPr txBox="1"/>
          <p:nvPr/>
        </p:nvSpPr>
        <p:spPr>
          <a:xfrm>
            <a:off x="548640" y="347472"/>
            <a:ext cx="10424160" cy="11430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10000"/>
              </a:lnSpc>
            </a:pPr>
            <a:r>
              <a:rPr sz="3200" b="1" i="0">
                <a:solidFill>
                  <a:srgbClr val="0F1C3F"/>
                </a:solidFill>
                <a:latin typeface="Helvetica"/>
              </a:rPr>
              <a:t>Demo: lỗi → phân loại → sửa → Lean kiểm tra → kiểm toán</a:t>
            </a:r>
          </a:p>
        </p:txBody>
      </p:sp>
      <p:sp>
        <p:nvSpPr>
          <p:cNvPr id="5" name="!!num"/>
          <p:cNvSpPr txBox="1"/>
          <p:nvPr/>
        </p:nvSpPr>
        <p:spPr>
          <a:xfrm>
            <a:off x="10881360" y="6236208"/>
            <a:ext cx="914400" cy="4572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10000"/>
              </a:lnSpc>
            </a:pPr>
            <a:r>
              <a:rPr sz="2000" b="0" i="0">
                <a:solidFill>
                  <a:srgbClr val="5B6B82"/>
                </a:solidFill>
                <a:latin typeface="Helvetica"/>
              </a:rPr>
              <a:t>14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737360"/>
            <a:ext cx="3566160" cy="4206240"/>
          </a:xfrm>
          <a:prstGeom prst="roundRect">
            <a:avLst>
              <a:gd name="adj" fmla="val 8000"/>
            </a:avLst>
          </a:prstGeom>
          <a:solidFill>
            <a:srgbClr val="EAF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901952"/>
            <a:ext cx="3108960" cy="5029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0000"/>
              </a:lnSpc>
            </a:pPr>
            <a:r>
              <a:rPr sz="2200" b="1" i="0">
                <a:solidFill>
                  <a:srgbClr val="144FB0"/>
                </a:solidFill>
                <a:latin typeface="Helvetica"/>
              </a:rPr>
              <a:t>E000880 · luật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468880"/>
            <a:ext cx="3108960" cy="33375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92608" indent="-292608">
              <a:lnSpc>
                <a:spcPct val="108000"/>
              </a:lnSpc>
              <a:spcAft>
                <a:spcPts val="600"/>
              </a:spcAft>
              <a:buClr>
                <a:srgbClr val="1E6FE8"/>
              </a:buClr>
              <a:buFont typeface="Helvetica"/>
              <a:buChar char="•"/>
            </a:pPr>
            <a:r>
              <a:rPr sz="2100" b="0" i="0">
                <a:solidFill>
                  <a:srgbClr val="0F1C3F"/>
                </a:solidFill>
                <a:latin typeface="Helvetica"/>
              </a:rPr>
              <a:t>Thiếu import Mathlib</a:t>
            </a:r>
          </a:p>
          <a:p>
            <a:pPr marL="292608" indent="-292608">
              <a:lnSpc>
                <a:spcPct val="108000"/>
              </a:lnSpc>
              <a:spcAft>
                <a:spcPts val="600"/>
              </a:spcAft>
              <a:buClr>
                <a:srgbClr val="1E6FE8"/>
              </a:buClr>
              <a:buFont typeface="Helvetica"/>
              <a:buChar char="•"/>
            </a:pPr>
            <a:r>
              <a:rPr sz="2100" b="0" i="0">
                <a:solidFill>
                  <a:srgbClr val="0F1C3F"/>
                </a:solidFill>
                <a:latin typeface="Helvetica"/>
              </a:rPr>
              <a:t>R0 sửa, Lean OK</a:t>
            </a:r>
          </a:p>
          <a:p>
            <a:pPr marL="292608" indent="-292608">
              <a:lnSpc>
                <a:spcPct val="108000"/>
              </a:lnSpc>
              <a:spcAft>
                <a:spcPts val="600"/>
              </a:spcAft>
              <a:buClr>
                <a:srgbClr val="1E6FE8"/>
              </a:buClr>
              <a:buFont typeface="Helvetica"/>
              <a:buChar char="•"/>
            </a:pPr>
            <a:r>
              <a:rPr sz="2100" b="0" i="0">
                <a:solidFill>
                  <a:srgbClr val="0F1C3F"/>
                </a:solidFill>
                <a:latin typeface="Helvetica"/>
              </a:rPr>
              <a:t>0 token · 73 ms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43400" y="1737360"/>
            <a:ext cx="3566160" cy="4206240"/>
          </a:xfrm>
          <a:prstGeom prst="roundRect">
            <a:avLst>
              <a:gd name="adj" fmla="val 8000"/>
            </a:avLst>
          </a:prstGeom>
          <a:solidFill>
            <a:srgbClr val="D6E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0" y="1901952"/>
            <a:ext cx="3108960" cy="5029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0000"/>
              </a:lnSpc>
            </a:pPr>
            <a:r>
              <a:rPr sz="2200" b="1" i="0">
                <a:solidFill>
                  <a:srgbClr val="144FB0"/>
                </a:solidFill>
                <a:latin typeface="Helvetica"/>
              </a:rPr>
              <a:t>E000003 · LLM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2468880"/>
            <a:ext cx="3108960" cy="33375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92608" indent="-292608">
              <a:lnSpc>
                <a:spcPct val="108000"/>
              </a:lnSpc>
              <a:spcAft>
                <a:spcPts val="600"/>
              </a:spcAft>
              <a:buClr>
                <a:srgbClr val="1E6FE8"/>
              </a:buClr>
              <a:buFont typeface="Helvetica"/>
              <a:buChar char="•"/>
            </a:pPr>
            <a:r>
              <a:rPr sz="2100" b="0" i="0">
                <a:solidFill>
                  <a:srgbClr val="0F1C3F"/>
                </a:solidFill>
                <a:latin typeface="Helvetica"/>
              </a:rPr>
              <a:t>Lần 1: dùng sorry → bị chặn</a:t>
            </a:r>
          </a:p>
          <a:p>
            <a:pPr marL="292608" indent="-292608">
              <a:lnSpc>
                <a:spcPct val="108000"/>
              </a:lnSpc>
              <a:spcAft>
                <a:spcPts val="600"/>
              </a:spcAft>
              <a:buClr>
                <a:srgbClr val="1E6FE8"/>
              </a:buClr>
              <a:buFont typeface="Helvetica"/>
              <a:buChar char="•"/>
            </a:pPr>
            <a:r>
              <a:rPr sz="2100" b="0" i="0">
                <a:solidFill>
                  <a:srgbClr val="0F1C3F"/>
                </a:solidFill>
                <a:latin typeface="Helvetica"/>
              </a:rPr>
              <a:t>Lần 2: không biên dịch</a:t>
            </a:r>
          </a:p>
          <a:p>
            <a:pPr marL="292608" indent="-292608">
              <a:lnSpc>
                <a:spcPct val="108000"/>
              </a:lnSpc>
              <a:spcAft>
                <a:spcPts val="600"/>
              </a:spcAft>
              <a:buClr>
                <a:srgbClr val="1E6FE8"/>
              </a:buClr>
              <a:buFont typeface="Helvetica"/>
              <a:buChar char="•"/>
            </a:pPr>
            <a:r>
              <a:rPr sz="2100" b="0" i="0">
                <a:solidFill>
                  <a:srgbClr val="0F1C3F"/>
                </a:solidFill>
                <a:latin typeface="Helvetica"/>
              </a:rPr>
              <a:t>Lần 3: đúng · 4.583 token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138160" y="1737360"/>
            <a:ext cx="3566160" cy="4206240"/>
          </a:xfrm>
          <a:prstGeom prst="roundRect">
            <a:avLst>
              <a:gd name="adj" fmla="val 8000"/>
            </a:avLst>
          </a:prstGeom>
          <a:solidFill>
            <a:srgbClr val="EAF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366760" y="1901952"/>
            <a:ext cx="3108960" cy="5029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0000"/>
              </a:lnSpc>
            </a:pPr>
            <a:r>
              <a:rPr sz="2200" b="1" i="0">
                <a:solidFill>
                  <a:srgbClr val="144FB0"/>
                </a:solidFill>
                <a:latin typeface="Helvetica"/>
              </a:rPr>
              <a:t>E000197 · vòng lặp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66760" y="2468880"/>
            <a:ext cx="3108960" cy="33375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92608" indent="-292608">
              <a:lnSpc>
                <a:spcPct val="108000"/>
              </a:lnSpc>
              <a:spcAft>
                <a:spcPts val="600"/>
              </a:spcAft>
              <a:buClr>
                <a:srgbClr val="1E6FE8"/>
              </a:buClr>
              <a:buFont typeface="Helvetica"/>
              <a:buChar char="•"/>
            </a:pPr>
            <a:r>
              <a:rPr sz="2100" b="0" i="0">
                <a:solidFill>
                  <a:srgbClr val="0F1C3F"/>
                </a:solidFill>
                <a:latin typeface="Helvetica"/>
              </a:rPr>
              <a:t>Chứng minh là sorry</a:t>
            </a:r>
          </a:p>
          <a:p>
            <a:pPr marL="292608" indent="-292608">
              <a:lnSpc>
                <a:spcPct val="108000"/>
              </a:lnSpc>
              <a:spcAft>
                <a:spcPts val="600"/>
              </a:spcAft>
              <a:buClr>
                <a:srgbClr val="1E6FE8"/>
              </a:buClr>
              <a:buFont typeface="Helvetica"/>
              <a:buChar char="•"/>
            </a:pPr>
            <a:r>
              <a:rPr sz="2100" b="0" i="0">
                <a:solidFill>
                  <a:srgbClr val="0F1C3F"/>
                </a:solidFill>
                <a:latin typeface="Helvetica"/>
              </a:rPr>
              <a:t>Lần 1 sai, lần 2 đúng</a:t>
            </a:r>
          </a:p>
          <a:p>
            <a:pPr marL="292608" indent="-292608">
              <a:lnSpc>
                <a:spcPct val="108000"/>
              </a:lnSpc>
              <a:spcAft>
                <a:spcPts val="600"/>
              </a:spcAft>
              <a:buClr>
                <a:srgbClr val="1E6FE8"/>
              </a:buClr>
              <a:buFont typeface="Helvetica"/>
              <a:buChar char="•"/>
            </a:pPr>
            <a:r>
              <a:rPr sz="2100" b="0" i="0">
                <a:solidFill>
                  <a:srgbClr val="0F1C3F"/>
                </a:solidFill>
                <a:latin typeface="Helvetica"/>
              </a:rPr>
              <a:t>779 token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spd="slow" p14:dur="1200">
        <p159:morph option="byObject"/>
      </p:transition>
    </mc:Choice>
    <mc:Fallback>
      <p:transition spd="slow">
        <p:fade/>
      </p:transition>
    </mc:Fallback>
  </mc:AlternateContent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!!orb"/>
          <p:cNvSpPr/>
          <p:nvPr/>
        </p:nvSpPr>
        <p:spPr>
          <a:xfrm>
            <a:off x="-1737360" y="-2011680"/>
            <a:ext cx="3657600" cy="3657600"/>
          </a:xfrm>
          <a:prstGeom prst="ellipse">
            <a:avLst/>
          </a:prstGeom>
          <a:solidFill>
            <a:srgbClr val="EAF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!!dot"/>
          <p:cNvSpPr/>
          <p:nvPr/>
        </p:nvSpPr>
        <p:spPr>
          <a:xfrm>
            <a:off x="54864" y="3291840"/>
            <a:ext cx="411480" cy="411480"/>
          </a:xfrm>
          <a:prstGeom prst="ellipse">
            <a:avLst/>
          </a:prstGeom>
          <a:solidFill>
            <a:srgbClr val="1E6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!!title"/>
          <p:cNvSpPr txBox="1"/>
          <p:nvPr/>
        </p:nvSpPr>
        <p:spPr>
          <a:xfrm>
            <a:off x="548640" y="347472"/>
            <a:ext cx="10424160" cy="11430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10000"/>
              </a:lnSpc>
            </a:pPr>
            <a:r>
              <a:rPr sz="3200" b="1" i="0">
                <a:solidFill>
                  <a:srgbClr val="0F1C3F"/>
                </a:solidFill>
                <a:latin typeface="Helvetica"/>
              </a:rPr>
              <a:t>Kết luận: chẩn đoán + kiểm toán + REPL thường trú</a:t>
            </a:r>
          </a:p>
        </p:txBody>
      </p:sp>
      <p:sp>
        <p:nvSpPr>
          <p:cNvPr id="5" name="!!num"/>
          <p:cNvSpPr txBox="1"/>
          <p:nvPr/>
        </p:nvSpPr>
        <p:spPr>
          <a:xfrm>
            <a:off x="10881360" y="6236208"/>
            <a:ext cx="914400" cy="4572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10000"/>
              </a:lnSpc>
            </a:pPr>
            <a:r>
              <a:rPr sz="2000" b="0" i="0">
                <a:solidFill>
                  <a:srgbClr val="5B6B82"/>
                </a:solidFill>
                <a:latin typeface="Helvetica"/>
              </a:rPr>
              <a:t>15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737360"/>
            <a:ext cx="5486400" cy="4206240"/>
          </a:xfrm>
          <a:prstGeom prst="roundRect">
            <a:avLst>
              <a:gd name="adj" fmla="val 8000"/>
            </a:avLst>
          </a:prstGeom>
          <a:solidFill>
            <a:srgbClr val="EAF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901952"/>
            <a:ext cx="5029200" cy="5029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0000"/>
              </a:lnSpc>
            </a:pPr>
            <a:r>
              <a:rPr sz="2200" b="1" i="0">
                <a:solidFill>
                  <a:srgbClr val="144FB0"/>
                </a:solidFill>
                <a:latin typeface="Helvetica"/>
              </a:rPr>
              <a:t>Kết luận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468880"/>
            <a:ext cx="5029200" cy="33375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92608" indent="-292608">
              <a:lnSpc>
                <a:spcPct val="108000"/>
              </a:lnSpc>
              <a:spcAft>
                <a:spcPts val="600"/>
              </a:spcAft>
              <a:buClr>
                <a:srgbClr val="1E6FE8"/>
              </a:buClr>
              <a:buFont typeface="Helvetica"/>
              <a:buChar char="•"/>
            </a:pPr>
            <a:r>
              <a:rPr sz="2100" b="0" i="0">
                <a:solidFill>
                  <a:srgbClr val="0F1C3F"/>
                </a:solidFill>
                <a:latin typeface="Helvetica"/>
              </a:rPr>
              <a:t>RQ1: 31,7% → 53,9%, rẻ hơn 45%</a:t>
            </a:r>
          </a:p>
          <a:p>
            <a:pPr marL="292608" indent="-292608">
              <a:lnSpc>
                <a:spcPct val="108000"/>
              </a:lnSpc>
              <a:spcAft>
                <a:spcPts val="600"/>
              </a:spcAft>
              <a:buClr>
                <a:srgbClr val="1E6FE8"/>
              </a:buClr>
              <a:buFont typeface="Helvetica"/>
              <a:buChar char="•"/>
            </a:pPr>
            <a:r>
              <a:rPr sz="2100" b="0" i="0">
                <a:solidFill>
                  <a:srgbClr val="0F1C3F"/>
                </a:solidFill>
                <a:latin typeface="Helvetica"/>
              </a:rPr>
              <a:t>RQ2: k=3 đạt 65,1%; luật cần chọn lọc</a:t>
            </a:r>
          </a:p>
          <a:p>
            <a:pPr marL="292608" indent="-292608">
              <a:lnSpc>
                <a:spcPct val="108000"/>
              </a:lnSpc>
              <a:spcAft>
                <a:spcPts val="600"/>
              </a:spcAft>
              <a:buClr>
                <a:srgbClr val="1E6FE8"/>
              </a:buClr>
              <a:buFont typeface="Helvetica"/>
              <a:buChar char="•"/>
            </a:pPr>
            <a:r>
              <a:rPr sz="2100" b="0" i="0">
                <a:solidFill>
                  <a:srgbClr val="0F1C3F"/>
                </a:solidFill>
                <a:latin typeface="Helvetica"/>
              </a:rPr>
              <a:t>RQ3: REPL nhanh 3–4 bậc; bão hoà CPU ở 2 worker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63640" y="1737360"/>
            <a:ext cx="5349240" cy="4206240"/>
          </a:xfrm>
          <a:prstGeom prst="roundRect">
            <a:avLst>
              <a:gd name="adj" fmla="val 8000"/>
            </a:avLst>
          </a:prstGeom>
          <a:solidFill>
            <a:srgbClr val="D6E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92240" y="1901952"/>
            <a:ext cx="4892040" cy="5029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0000"/>
              </a:lnSpc>
            </a:pPr>
            <a:r>
              <a:rPr sz="2200" b="1" i="0">
                <a:solidFill>
                  <a:srgbClr val="144FB0"/>
                </a:solidFill>
                <a:latin typeface="Helvetica"/>
              </a:rPr>
              <a:t>Hạn chế → hướng phát triển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92240" y="2468880"/>
            <a:ext cx="4892040" cy="33375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92608" indent="-292608">
              <a:lnSpc>
                <a:spcPct val="108000"/>
              </a:lnSpc>
              <a:spcAft>
                <a:spcPts val="600"/>
              </a:spcAft>
              <a:buClr>
                <a:srgbClr val="1E6FE8"/>
              </a:buClr>
              <a:buFont typeface="Helvetica"/>
              <a:buChar char="•"/>
            </a:pPr>
            <a:r>
              <a:rPr sz="2100" b="0" i="0">
                <a:solidFill>
                  <a:srgbClr val="0F1C3F"/>
                </a:solidFill>
                <a:latin typeface="Helvetica"/>
              </a:rPr>
              <a:t>Lỗi tổng hợp → dữ liệu thật Nhóm 5</a:t>
            </a:r>
          </a:p>
          <a:p>
            <a:pPr marL="292608" indent="-292608">
              <a:lnSpc>
                <a:spcPct val="108000"/>
              </a:lnSpc>
              <a:spcAft>
                <a:spcPts val="600"/>
              </a:spcAft>
              <a:buClr>
                <a:srgbClr val="1E6FE8"/>
              </a:buClr>
              <a:buFont typeface="Helvetica"/>
              <a:buChar char="•"/>
            </a:pPr>
            <a:r>
              <a:rPr sz="2100" b="0" i="0">
                <a:solidFill>
                  <a:srgbClr val="0F1C3F"/>
                </a:solidFill>
                <a:latin typeface="Helvetica"/>
              </a:rPr>
              <a:t>Một họ LLM → mô hình chuyên Lean</a:t>
            </a:r>
          </a:p>
          <a:p>
            <a:pPr marL="292608" indent="-292608">
              <a:lnSpc>
                <a:spcPct val="108000"/>
              </a:lnSpc>
              <a:spcAft>
                <a:spcPts val="600"/>
              </a:spcAft>
              <a:buClr>
                <a:srgbClr val="1E6FE8"/>
              </a:buClr>
              <a:buFont typeface="Helvetica"/>
              <a:buChar char="•"/>
            </a:pPr>
            <a:r>
              <a:rPr sz="2100" b="0" i="0">
                <a:solidFill>
                  <a:srgbClr val="0F1C3F"/>
                </a:solidFill>
                <a:latin typeface="Helvetica"/>
              </a:rPr>
              <a:t>Một máy → worker phân tán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spd="slow" p14:dur="1200">
        <p159:morph option="byObject"/>
      </p:transition>
    </mc:Choice>
    <mc:Fallback>
      <p:transition spd="slow">
        <p:fade/>
      </p:transition>
    </mc:Fallback>
  </mc:AlternateContent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!!orb"/>
          <p:cNvSpPr/>
          <p:nvPr/>
        </p:nvSpPr>
        <p:spPr>
          <a:xfrm>
            <a:off x="9875520" y="4297680"/>
            <a:ext cx="3657600" cy="3657600"/>
          </a:xfrm>
          <a:prstGeom prst="ellipse">
            <a:avLst/>
          </a:prstGeom>
          <a:solidFill>
            <a:srgbClr val="EAF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!!dot"/>
          <p:cNvSpPr/>
          <p:nvPr/>
        </p:nvSpPr>
        <p:spPr>
          <a:xfrm>
            <a:off x="11704320" y="3474720"/>
            <a:ext cx="411480" cy="411480"/>
          </a:xfrm>
          <a:prstGeom prst="ellipse">
            <a:avLst/>
          </a:prstGeom>
          <a:solidFill>
            <a:srgbClr val="1E6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!!title"/>
          <p:cNvSpPr txBox="1"/>
          <p:nvPr/>
        </p:nvSpPr>
        <p:spPr>
          <a:xfrm>
            <a:off x="548640" y="347472"/>
            <a:ext cx="10424160" cy="11430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10000"/>
              </a:lnSpc>
            </a:pPr>
            <a:r>
              <a:rPr sz="3200" b="1" i="0">
                <a:solidFill>
                  <a:srgbClr val="0F1C3F"/>
                </a:solidFill>
                <a:latin typeface="Helvetica"/>
              </a:rPr>
              <a:t>Phân công bảo vệ: mỗi người một mảng, ai cũng nắm toàn pipeline</a:t>
            </a:r>
          </a:p>
        </p:txBody>
      </p:sp>
      <p:sp>
        <p:nvSpPr>
          <p:cNvPr id="5" name="!!num"/>
          <p:cNvSpPr txBox="1"/>
          <p:nvPr/>
        </p:nvSpPr>
        <p:spPr>
          <a:xfrm>
            <a:off x="10881360" y="6236208"/>
            <a:ext cx="914400" cy="4572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10000"/>
              </a:lnSpc>
            </a:pPr>
            <a:r>
              <a:rPr sz="2000" b="0" i="0">
                <a:solidFill>
                  <a:srgbClr val="5B6B82"/>
                </a:solidFill>
                <a:latin typeface="Helvetica"/>
              </a:rPr>
              <a:t>16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48640" y="1783080"/>
          <a:ext cx="11064240" cy="3200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23360"/>
                <a:gridCol w="7040880"/>
              </a:tblGrid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2000" b="1" i="0">
                          <a:solidFill>
                            <a:srgbClr val="FFFFFF"/>
                          </a:solidFill>
                          <a:latin typeface="Helvetica"/>
                        </a:rPr>
                        <a:t>Thành viên</a:t>
                      </a:r>
                    </a:p>
                  </a:txBody>
                  <a:tcPr marL="73152" marR="73152" marT="36576" marB="36576" anchor="ctr">
                    <a:solidFill>
                      <a:srgbClr val="1E6FE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 b="1" i="0">
                          <a:solidFill>
                            <a:srgbClr val="FFFFFF"/>
                          </a:solidFill>
                          <a:latin typeface="Helvetica"/>
                        </a:rPr>
                        <a:t>Mảng trình bày và trả lời</a:t>
                      </a:r>
                    </a:p>
                  </a:txBody>
                  <a:tcPr marL="73152" marR="73152" marT="36576" marB="36576" anchor="ctr">
                    <a:solidFill>
                      <a:srgbClr val="1E6FE8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2000" b="0" i="0">
                          <a:solidFill>
                            <a:srgbClr val="0F1C3F"/>
                          </a:solidFill>
                          <a:latin typeface="Helvetica"/>
                        </a:rPr>
                        <a:t>Đào Văn Tâm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 b="0" i="0">
                          <a:solidFill>
                            <a:srgbClr val="0F1C3F"/>
                          </a:solidFill>
                          <a:latin typeface="Helvetica"/>
                        </a:rPr>
                        <a:t>Câu hỏi nghiên cứu, đánh giá, chi phí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2000" b="0" i="0">
                          <a:solidFill>
                            <a:srgbClr val="0F1C3F"/>
                          </a:solidFill>
                          <a:latin typeface="Helvetica"/>
                        </a:rPr>
                        <a:t>Trần Quang Đức Dũng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 b="0" i="0">
                          <a:solidFill>
                            <a:srgbClr val="0F1C3F"/>
                          </a:solidFill>
                          <a:latin typeface="Helvetica"/>
                        </a:rPr>
                        <a:t>Worker pool, REPL, khả năng mở rộng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2000" b="0" i="0">
                          <a:solidFill>
                            <a:srgbClr val="0F1C3F"/>
                          </a:solidFill>
                          <a:latin typeface="Helvetica"/>
                        </a:rPr>
                        <a:t>Lâm Thành Trung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 b="0" i="0">
                          <a:solidFill>
                            <a:srgbClr val="0F1C3F"/>
                          </a:solidFill>
                          <a:latin typeface="Helvetica"/>
                        </a:rPr>
                        <a:t>Luật sửa, độ chính xác từng luật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2000" b="0" i="0">
                          <a:solidFill>
                            <a:srgbClr val="0F1C3F"/>
                          </a:solidFill>
                          <a:latin typeface="Helvetica"/>
                        </a:rPr>
                        <a:t>Nguyễn Xuân Tùng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 b="0" i="0">
                          <a:solidFill>
                            <a:srgbClr val="0F1C3F"/>
                          </a:solidFill>
                          <a:latin typeface="Helvetica"/>
                        </a:rPr>
                        <a:t>LLM: blind vs chẩn đoán, prompt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2000" b="0" i="0">
                          <a:solidFill>
                            <a:srgbClr val="0F1C3F"/>
                          </a:solidFill>
                          <a:latin typeface="Helvetica"/>
                        </a:rPr>
                        <a:t>Khamsing OUTHAIHUENG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 b="0" i="0">
                          <a:solidFill>
                            <a:srgbClr val="0F1C3F"/>
                          </a:solidFill>
                          <a:latin typeface="Helvetica"/>
                        </a:rPr>
                        <a:t>Parser, taxonomy, kiểm toán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2000" b="0" i="0">
                          <a:solidFill>
                            <a:srgbClr val="0F1C3F"/>
                          </a:solidFill>
                          <a:latin typeface="Helvetica"/>
                        </a:rPr>
                        <a:t>Mekdala Nounou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 b="0" i="0">
                          <a:solidFill>
                            <a:srgbClr val="0F1C3F"/>
                          </a:solidFill>
                          <a:latin typeface="Helvetica"/>
                        </a:rPr>
                        <a:t>Dataset, chia tập, data card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spd="slow" p14:dur="1200">
        <p159:morph option="byObject"/>
      </p:transition>
    </mc:Choice>
    <mc:Fallback>
      <p:transition spd="slow">
        <p:fade/>
      </p:transition>
    </mc:Fallback>
  </mc:AlternateContent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!!orb"/>
          <p:cNvSpPr/>
          <p:nvPr/>
        </p:nvSpPr>
        <p:spPr>
          <a:xfrm>
            <a:off x="6309360" y="-548640"/>
            <a:ext cx="7498079" cy="7498079"/>
          </a:xfrm>
          <a:prstGeom prst="ellipse">
            <a:avLst/>
          </a:prstGeom>
          <a:solidFill>
            <a:srgbClr val="EAF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!!dot"/>
          <p:cNvSpPr/>
          <p:nvPr/>
        </p:nvSpPr>
        <p:spPr>
          <a:xfrm>
            <a:off x="5852160" y="4937760"/>
            <a:ext cx="914400" cy="914400"/>
          </a:xfrm>
          <a:prstGeom prst="ellipse">
            <a:avLst/>
          </a:prstGeom>
          <a:solidFill>
            <a:srgbClr val="1E6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!!title"/>
          <p:cNvSpPr txBox="1"/>
          <p:nvPr/>
        </p:nvSpPr>
        <p:spPr>
          <a:xfrm>
            <a:off x="731520" y="2011680"/>
            <a:ext cx="9601200" cy="9144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0000"/>
              </a:lnSpc>
            </a:pPr>
            <a:r>
              <a:rPr sz="4400" b="1" i="0">
                <a:solidFill>
                  <a:srgbClr val="0F1C3F"/>
                </a:solidFill>
                <a:latin typeface="Helvetica"/>
              </a:rPr>
              <a:t>Cảm ơn cô và các bạn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108960"/>
            <a:ext cx="9601200" cy="7315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0000"/>
              </a:lnSpc>
            </a:pPr>
            <a:r>
              <a:rPr sz="2800" b="0" i="0">
                <a:solidFill>
                  <a:srgbClr val="1E6FE8"/>
                </a:solidFill>
                <a:latin typeface="Helvetica"/>
              </a:rPr>
              <a:t>Hỏi đáp</a:t>
            </a:r>
          </a:p>
        </p:txBody>
      </p:sp>
      <p:sp>
        <p:nvSpPr>
          <p:cNvPr id="6" name="!!num"/>
          <p:cNvSpPr txBox="1"/>
          <p:nvPr/>
        </p:nvSpPr>
        <p:spPr>
          <a:xfrm>
            <a:off x="10881360" y="6236208"/>
            <a:ext cx="914400" cy="4572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10000"/>
              </a:lnSpc>
            </a:pPr>
            <a:r>
              <a:rPr sz="2000" b="0" i="0">
                <a:solidFill>
                  <a:srgbClr val="5B6B82"/>
                </a:solidFill>
                <a:latin typeface="Helvetica"/>
              </a:rPr>
              <a:t>17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spd="slow" p14:dur="1200">
        <p159:morph option="byObject"/>
      </p:transition>
    </mc:Choice>
    <mc:Fallback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