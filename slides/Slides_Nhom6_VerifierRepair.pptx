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Chào; đề tài; tóm tắt dễ hiểu 1 phút; lộ trình bốn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Vị trí giữa Nhóm 5 và Nhóm 7/8; ba mục tiêu; RQ1 đến RQ3.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Bốn thành phần đã xây dựng; đạt 6/6 tiêu chí nghiệm thu; 2,97 USD, 121 test, 67 run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Dũng: Nút thắt: kiểm chứng nguội 63–107 s, 10.000 ứng viên, ~1.000 token mỗi lần, 67 run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Nounou: Nguồn MIT; 3.666 định lý gốc; 9 cách gây lỗi; 1.110 lỗi tự nhiên; nhãn khớp 94,4%; chia theo định lý gốc.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Khamsing: Năm bước: parser + taxonomy, router, luật/LLM, Lean REPL, kiểm toán; vòng lặp tối đa k lần, 300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Trung: Demo phát lại log, 0 USD: E000880 luật R0, 0 token, 73 ms; E000003 LLM, lần 1 dùng sorry bị chặn, lần 3 đúng, 4.583 token; E000197 đúng ở lần 2, 779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Cùng dữ liệu, phần cứng, seed; 5 chiến lược; k 0/1/3, 3 mức, 1/2/4 worker, 3 lần; Kaggle 4 vCPU 31,3 GB; Gemini Flash-Lite; độ đo; giả thuyết H1–H3.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Tùng: RQ1: 31,7% lên 53,9%, chi phí 2,05 xuống 1,13 USD/1K; 783 so với 389 token ra; theo nhóm lỗi: SYN_01, TMO_05, IMP_02 tăng mạnh, SEM_06 và TAC_07 hơi giảm.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RQ2: biên Pareto; LLM k=3 65,1% với 2,45 USD/1K; lai k=3 59,5%; chỉ luật 23,9%, 0 USD; Gemini 3.6 Flash 36,6%.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Dũng: RQ3: REPL P50 3 ms, P95 23 ms so với 63–107 s; 10K: 1,52 lên 2,86 mẫu/s, tăng tốc 1,76 lần với 2 worker, 1,88 lần với 4; P95 3,1 lên 6,5 s; nghẽn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Trung: R0 97%, R7 100%, R1 27%, R2/R3 0%; 203/284 mẫu sang luật, đúng 33%; ablation: khớp nhãn 72,3 lên 96,3%, token −31%, lai k=1 34,9 xuống 30,3%.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Khamsing: LLM k=3: biên dịch 75,0% nhưng thành công thật 65,1%; trong mẫu thất bại 17–26% đổi đề, 10–24% chèn sorry; kiểm toán chặn sorry, admit, axiom, native_decide.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Ba bài học; bàn giao: cổng Nhóm 5, repaired-v1, Docker, 121 test, notebook, log phát lại; hướng phát triển.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Cảm ơn; chuyển câu hỏi theo bảng: Tâm, Dũng, Trung, Tùng, Khamsing, Nounou. Phụ lục P1–P2 chỉ mở khi được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Tâm: Phụ lục, chỉ mở khi được hỏi: biên dịch so với thành công đã kiểm toán theo từng cấu hình.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Dũng: Phụ lục, chỉ mở khi được hỏi: P50 và P95 thời gian phục vụ ở 100, 1K, 10K với 1, 2, 4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6949440" y="-1097280"/>
            <a:ext cx="6766560" cy="67665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0607040" y="5212080"/>
            <a:ext cx="822960" cy="82296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E6FE8"/>
                </a:solidFill>
                <a:latin typeface="Helvetica"/>
              </a:rPr>
              <a:t>DỮ LIỆU LỚN, INT4418 · NHÓM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86384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F1C3F"/>
                </a:solidFill>
                <a:latin typeface="Helvetica"/>
              </a:rPr>
              <a:t>Verifier-Guided Repair</a:t>
            </a:r>
          </a:p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44FB0"/>
                </a:solidFill>
                <a:latin typeface="Helvetica"/>
              </a:rPr>
              <a:t>Sửa chứng minh Lean 4 có kiểm chứng dưới ràng buộc chi phí và độ trễ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86384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Giảng viên: TS. Nguyễn Kiều Linh</a:t>
            </a:r>
          </a:p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Đào Văn Tâm · Trần Quang Đức Dũng · Lâm Thành Trung</a:t>
            </a:r>
          </a:p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Nguyễn Xuân Tùng · Khamsing OUTHAIHUENG · Mekdala Nounou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692640" y="-2194560"/>
            <a:ext cx="4206240" cy="420624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0140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Nhóm 6 nhận chứng minh lỗi từ Nhóm 5, trả chứng minh đã kiểm chứng cho Nhóm 7/8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856231"/>
            <a:ext cx="2185415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Nhóm 5</a:t>
            </a:r>
          </a:p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ứng viên Lean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35224" y="2208276"/>
            <a:ext cx="39319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79" y="17830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856231"/>
            <a:ext cx="2185415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Nhóm 6</a:t>
            </a:r>
          </a:p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phân loại + sửa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769864" y="2208276"/>
            <a:ext cx="39319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19" y="17830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1" y="1856231"/>
            <a:ext cx="2185415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Lean</a:t>
            </a:r>
          </a:p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kiểm chứng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4503" y="2208276"/>
            <a:ext cx="39319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59" y="17830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1" y="1856231"/>
            <a:ext cx="2185415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Nhóm 7 / 8</a:t>
            </a:r>
          </a:p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chứng minh đúng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4206240" cy="278892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10712"/>
            <a:ext cx="3749039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Mục tiêu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3749039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Chỉ nhận bản sửa Lean chấp nhận, giữ nguyên đề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Có trần chi phí token, đo được P95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Tái lập và bàn giao được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246120"/>
            <a:ext cx="6629400" cy="278892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3410712"/>
            <a:ext cx="6172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Ba câu hỏi nghiên cứu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977639"/>
            <a:ext cx="61722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RQ1 </a:t>
            </a:r>
            <a:r>
              <a:rPr sz="2100" b="0" i="0">
                <a:solidFill>
                  <a:srgbClr val="0F1C3F"/>
                </a:solidFill>
                <a:latin typeface="Helvetica"/>
              </a:rPr>
              <a:t>Thông báo lỗi Lean có giúp sửa tốt hơn?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RQ2 </a:t>
            </a:r>
            <a:r>
              <a:rPr sz="2100" b="0" i="0">
                <a:solidFill>
                  <a:srgbClr val="0F1C3F"/>
                </a:solidFill>
                <a:latin typeface="Helvetica"/>
              </a:rPr>
              <a:t>Luật hay LLM, thử mấy lần, tốn bao nhiêu?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RQ3 </a:t>
            </a:r>
            <a:r>
              <a:rPr sz="2100" b="0" i="0">
                <a:solidFill>
                  <a:srgbClr val="0F1C3F"/>
                </a:solidFill>
                <a:latin typeface="Helvetica"/>
              </a:rPr>
              <a:t>Mở rộng ra sao khi tăng dữ liệu, worker?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Điểm nổi bật: hệ thống chạy trọn vòng, đạt 6/6 tiêu chí nghiệm thu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94960" cy="37947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4937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Nhóm đã xây dựng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Dataset 17.031 lỗi, nhãn từ Lean thật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Lean REPL thường trú + worker pool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Vòng sửa: luật, LLM, kiểm toán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Cổng Nhóm 5, đầu ra cho Nhóm 7/8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440680" cy="379476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01952"/>
            <a:ext cx="49834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Tiêu chí nghiệm thu: 6/6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68880"/>
            <a:ext cx="4983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Hold-out tách theo định lý gốc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So sánh với retry baseline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Vòng lặp có giới hạn rõ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Đo biên dịch, kiểm toán, chi phí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Log phát lại được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Không lặp vô hạn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Toàn bộ thực nghiệm: </a:t>
            </a:r>
            <a:r>
              <a:rPr sz="2200" b="1" i="0">
                <a:solidFill>
                  <a:srgbClr val="0F1C3F"/>
                </a:solidFill>
                <a:latin typeface="Helvetica"/>
              </a:rPr>
              <a:t>2,97 USD · 121 test tự động · 67 run record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966960" y="420624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704320" y="32918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Nút thắt nằm ở quy mô, lập lịch và chi phí, không ở một phép tính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7432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63–107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27432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kiểm chứng nguội 1 tệp, nạp Mathlib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828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69748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ứng viên ở mức lớn nhất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5603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~1.000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97480"/>
            <a:ext cx="2560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token mỗi lần LLM sửa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44FB0"/>
                </a:solidFill>
                <a:latin typeface="Helvetic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69748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run record + log phát lại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881360" cy="1874519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87952"/>
            <a:ext cx="104241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Mục tiêu hệ thống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54880"/>
            <a:ext cx="104241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Thông lượng cao, độ trễ đuôi P95 thấp trên vài worker CPU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Chi phí token có trần cứng; kết quả tái lập được từ dữ liệu thô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692640" y="-2194560"/>
            <a:ext cx="4206240" cy="420624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0140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Dataset 17.031 lỗi có nhãn lấy từ chính Lean, không viết tay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17.031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mẫu lỗi, dataset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7830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3.666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5176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định lý gốc đã kiểm chứng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7830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1.110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5176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lỗi tự nhiên do Mathlib đổi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7830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44FB0"/>
                </a:solidFill>
                <a:latin typeface="Helvetica"/>
              </a:rPr>
              <a:t>94,4%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65176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nhãn khớp loại lỗi dự kiến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96511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Chống rò rỉ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Chia theo định lý gốc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0 trùng giữa hai phía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9319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096511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Ba mức quy mô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663440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100 ⊂ 1K ⊂ 10K mẫu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Hold-out: 284 · 2.907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9319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096511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663440"/>
            <a:ext cx="301752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Nguồn MIT, checksum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Run record mỗi lần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54864" y="310896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Mỗi bản sửa phải qua Lean và kiểm toán trước khi được chấp nhận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47672"/>
            <a:ext cx="1682496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Parser +</a:t>
            </a:r>
          </a:p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taxonomy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32304" y="2299715"/>
            <a:ext cx="34747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2" y="1947672"/>
            <a:ext cx="1682496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Router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18303" y="2299715"/>
            <a:ext cx="34747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947672"/>
            <a:ext cx="1682496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Luật /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04303" y="2299715"/>
            <a:ext cx="34747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066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9792" y="1947672"/>
            <a:ext cx="1682496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Lean REPL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290304" y="2299715"/>
            <a:ext cx="347472" cy="292608"/>
          </a:xfrm>
          <a:prstGeom prst="rightArrow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926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1947672"/>
            <a:ext cx="1682496" cy="9966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44FB0"/>
                </a:solidFill>
                <a:latin typeface="Helvetica"/>
              </a:rPr>
              <a:t>Kiểm toán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7 nhóm lỗi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Cú pháp, import, định danh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Kiểu, timeout, sorry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Tactic thất bại, nhóm mới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3429000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59359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Vòng lặp có giới hạn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16052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Tối đa k = 1 hoặc 3 lần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300 s mỗi mẫu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Dừng nếu ứng viên lặp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42900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3593592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Kiểm toán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1605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Lean chấp nhận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Không sorry / axiom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Giữ nguyên phát biểu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966960" y="4389120"/>
            <a:ext cx="3474720" cy="347472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704320" y="384048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Demo: lỗi → phân loại → sửa → Lean kiểm tra → kiểm toán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E000880 · luật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Thiếu import Mathlib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R0 sửa, Lean OK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0 token · 73 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E000003 ·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Lần 1: dùng sorry → bị chặn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Lần 2: không biên dịch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Lần 3: đúng · 4.583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E000197 ·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Chứng minh là sorry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Lần 1 sai, lần 2 đúng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779 token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10241280" y="-2011680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Cùng dữ liệu, phần cứng và seed, chỉ đổi chiến lược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Chiến lược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Không sửa · chỉ luật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Blind là baseline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LLM + chẩn đoán · lai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Ma trận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 = 0 / 1 / 3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100 / 1K / 10K mẫu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1 / 2 / 4 worker · 3 lần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Môi trường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Kaggle 4 vCPU, 31 GB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Lean 4.35 + Mathlib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Gemini Flash-Lite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Tổng chi phí API cho toàn bộ thực nghiệm: </a:t>
            </a:r>
            <a:r>
              <a:rPr sz="2200" b="1" i="0">
                <a:solidFill>
                  <a:srgbClr val="0F1C3F"/>
                </a:solidFill>
                <a:latin typeface="Helvetica"/>
              </a:rPr>
              <a:t>$2,97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-1645920" y="420624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RQ1: thông báo lỗi tăng 22 điểm % và còn rẻ hơn 45%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9</a:t>
            </a:r>
          </a:p>
        </p:txBody>
      </p:sp>
      <p:pic>
        <p:nvPicPr>
          <p:cNvPr id="6" name="Picture 5" descr="fig_rq1_category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7680960" cy="39701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4FB0"/>
                </a:solidFill>
                <a:latin typeface="Helvetica"/>
              </a:rPr>
              <a:t>53,9%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39572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thành công k=1, baseline 31,7%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20040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E6FE8"/>
                </a:solidFill>
                <a:latin typeface="Helvetica"/>
              </a:rPr>
              <a:t>$1,13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5876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mỗi 1.000 mẫu, baseline $2,05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709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Chỉ kém ở SEM_06, TAC_07: cần viết chứng minh mới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875520" y="4480560"/>
            <a:ext cx="3474720" cy="347472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704320" y="310896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RQ2: LLM có chẩn đoán, thử 3 lần đạt 65,1%, nằm trên biên Pareto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10</a:t>
            </a:r>
          </a:p>
        </p:txBody>
      </p:sp>
      <p:pic>
        <p:nvPicPr>
          <p:cNvPr id="6" name="Picture 5" descr="fig_cost_quality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7680960" cy="44162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4FB0"/>
                </a:solidFill>
                <a:latin typeface="Helvetica"/>
              </a:rPr>
              <a:t>65,1%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39572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LLM k=3, $2,45 / 1K mẫu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20040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E6FE8"/>
                </a:solidFill>
                <a:latin typeface="Helvetica"/>
              </a:rPr>
              <a:t>59,5%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5876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lai k=3, rẻ hơn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66344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5B6B82"/>
                </a:solidFill>
                <a:latin typeface="Helvetica"/>
              </a:rPr>
              <a:t>23,9%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5321807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chỉ luật, $0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10058400" y="-2103120"/>
            <a:ext cx="4023360" cy="40233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RQ3: REPL nhanh 3–4 bậc; 4 worker chỉ nhanh 1,88× vì nghẽn CPU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11</a:t>
            </a:r>
          </a:p>
        </p:txBody>
      </p:sp>
      <p:pic>
        <p:nvPicPr>
          <p:cNvPr id="6" name="Picture 5" descr="fig_scale_speedup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5760720" cy="44707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73736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4FB0"/>
                </a:solidFill>
                <a:latin typeface="Helvetica"/>
              </a:rPr>
              <a:t>3 ms · 23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9572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P50 · P95 với REPL, nguội 63–107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20040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E6FE8"/>
                </a:solidFill>
                <a:latin typeface="Helvetica"/>
              </a:rPr>
              <a:t>1,52 → 2,86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858768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mẫu/s ở 10K, từ 1 lên 4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663440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4FB0"/>
                </a:solidFill>
                <a:latin typeface="Helvetica"/>
              </a:rPr>
              <a:t>3,1 → 6,5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321807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P95 phục vụ ở 10K, 1 lên 4 worker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-1828800" y="4114800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Phân tích: luật đúng gần hoàn hảo, luật sai kéo chiến lược lai xuống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6309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Luật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Áp dụng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Chính xác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R0 khôi phục import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99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97%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R7 ngân sách heartbeat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81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100%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R1 cân bằng ngoặc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99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R3 bảng import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R2 chèn từ khoá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126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132320" y="1783080"/>
            <a:ext cx="4480560" cy="420624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1947672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Ablation bộ phân loại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514600"/>
            <a:ext cx="402336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Khớp nhãn 72,3% → 96,3%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Token giảm 31%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Lai k=1 lại giảm 34,9% → 30,3%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Nút thắt: độ chính xác của luật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966960" y="4389120"/>
            <a:ext cx="3566160" cy="35661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704320" y="365760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Không có kiểm toán, tỷ lệ thành công bị thổi phồng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5B6B82"/>
                </a:solidFill>
                <a:latin typeface="Helvetica"/>
              </a:rPr>
              <a:t>75,0%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34747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biên dịch được với LLM k=3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28800"/>
            <a:ext cx="34747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44FB0"/>
                </a:solidFill>
                <a:latin typeface="Helvetica"/>
              </a:rPr>
              <a:t>65,1%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97480"/>
            <a:ext cx="34747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thành công đã kiểm toán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5661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17–26%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97480"/>
            <a:ext cx="356616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bản sửa lỗi đã đổi đề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10881360" cy="19659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42231"/>
            <a:ext cx="104241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Kiểm toán chặn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59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sorry, admit, axiom, native_decide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Thay đổi tên, giả thiết hoặc kết luận của định lý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10241280" y="-2194560"/>
            <a:ext cx="4023360" cy="40233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Kết luận: chẩn đoán, kiểm toán, REPL thường trú; sẵn sàng bàn giao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43434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Bài học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Lỗi của Lean là tín hiệu rẻ và giá trị nhất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Kiểm toán ngữ nghĩa là bắt buộc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Verifier là tài nguyên cần lập lịch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434340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Bàn giao, tái lập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Cổng Nhóm 5, repaired-v1 cho Nhóm 7/8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Docker · 121 test · notebook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Log phát lại, $0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474720" cy="43434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Hướng phát triển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Dữ liệu thật của Nhóm 5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Model chuyên Lean trên GPU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Font typeface="Helvetica"/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Worker phân tán, hàng đợi Redis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-1737360" y="-201168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54864" y="32918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Cảm ơn cô và các bạn · Hỏi đáp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0408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Thành viên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Mảng trả lời chính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Đào Văn Tâm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Câu hỏi nghiên cứu, đánh giá, chi phí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Trần Quang Đức Dũng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Hàng đợi Redis, worker pool, REPL, mở rộng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Lâm Thành Trung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Luật sửa, độ chính xác từng luật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Nguyễn Xuân Tùng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LLM: blind vs chẩn đoán, prompt, chọn model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Khamsing OUTHAIHUENG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Parser, taxonomy, kiểm toán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Mekdala Nounou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Dataset, chia tập, data card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9875520" y="429768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704320" y="34747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Phụ lục P1 · Ablation: biên dịch và thành công đã kiểm toán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16</a:t>
            </a:r>
          </a:p>
        </p:txBody>
      </p:sp>
      <p:pic>
        <p:nvPicPr>
          <p:cNvPr id="6" name="Picture 5" descr="fig_ablatio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00200"/>
            <a:ext cx="11155680" cy="44774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orb"/>
          <p:cNvSpPr/>
          <p:nvPr/>
        </p:nvSpPr>
        <p:spPr>
          <a:xfrm>
            <a:off x="10058400" y="-2103120"/>
            <a:ext cx="4023360" cy="40233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Phụ lục P2 · Độ trễ phục vụ P50 và P95 ở 3 mức dữ liệu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17</a:t>
            </a:r>
          </a:p>
        </p:txBody>
      </p:sp>
      <p:pic>
        <p:nvPicPr>
          <p:cNvPr id="6" name="Picture 5" descr="fig_scale_latency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9609116" cy="4754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