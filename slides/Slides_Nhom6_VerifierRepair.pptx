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Tâm: giới thiệu đề tài, môn học, giảng viên, nhóm. Một câu: hệ thống sửa chứng minh Lean 4 hàng loạt, chỉ chấp nhận bản sửa được Lean kiểm chứng và giữ nguyên đề, dưới giới hạn chi phí và độ trễ.</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Tâm: vị trí Nhóm 6 trong chuỗi AI4Math. Mục tiêu bài tập: sửa tự động nhưng đáng tin, nghĩa là chỉ nhận bản sửa Lean chấp nhận và giữ nguyên đề, trong giới hạn chi phí token và độ trễ, tái lập và bàn giao được. Ba câu hỏi nghiên cứu.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Tâm: trước khi vào chi tiết, đây là những gì nhóm xây dựng và đối chiếu với 6 tiêu chí nghiệm thu tối thiểu trong hướng dẫn bài tập lớn. Toàn bộ thực nghiệm tốn 2,97 USD, 121 test tự động.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Tâm: bốn con số làm nên bài toán Big Data. Kiểm chứng nguội nạp Mathlib mỗi tệp; số ứng viên 10^4; mỗi lần gọi LLM tốn token; log phải phát lại được để kiểm toán.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Nounou: chứng minh Goedel-Prover trên Lean Workbook, giấy phép MIT, kiểm chứng lại với Lean 4.35 còn 3.666 seed; 1.110 chứng minh cũ hỏng do Mathlib đổi tên là lỗi tự nhiên; 9 toán tử gây lỗi; nhãn từ thông báo Lean thật; chia theo định lý gốc; checksum SHA-256 trong manifest; mỗi lần chạy ghi run record.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Khamsing + Trung + Tùng: parser lấy lỗi gốc từ thông báo Lean, taxonomy 7 nhóm, thêm TAC_07; router gửi lỗi đơn giản cho luật 0 token, còn lại cho LLM có chẩn đoán; Lean REPL kiểm chứng; kiểm toán chặn sorry/axiom/đổi đề; vòng lặp tối đa k lần, dừng khi ứng viên lặp lại.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Trung/Tùng/Khamsing: chạy slides/demo_script.md, phát lại log, $0. E000880: luật R0, 0 token. E000003: cùng loại lỗi, chỉ LLM, lần 1 lách bằng sorry bị chặn, lần 3 đúng, 4.583 token. E000197: đúng ở lần 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Tâm: Kaggle CPU 4 vCPU / 31 GB; Gemini 3.5 Flash-Lite nhiệt độ 0; baseline bắt buộc = thử lại nguyên prompt đúng 1 lần; 3 lần lặp, báo trung vị và min–max; trần chi phí $8/tháng, tổng chi thực tế $2,97.</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Tâm/Tùng/Dũng: RQ1 cùng 284 mẫu hold-out, k = 1: không có chẩn đoán mô hình viết lại cả tệp, 783 token ra, có chẩn đoán chỉ 389. RQ2: k = 3 thêm 11 điểm, Pareto đi từ chỉ luật $0 tới LLM k=3. RQ3: 3 mức x 3 mức worker x 3 lần lặp; từ 2 lên 4 worker chỉ thêm 7–11% thông lượng vì 4 REPL tranh 4 vCPU. Biểu đồ chi tiết ở phụ lục P1–P3.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Trung + Khamsing: luật được thử trước trên 203/284 mẫu nhưng chỉ đúng 33%; với k = 1 luật sai là hết lượt. R0 97%, R7 100%; R2–R6 0% trên tệp hoàn chỉnh. Ablation bộ phân loại phát lại log, không gọi thêm LLM: phân loại đúng hơn giảm 31% token nhưng gửi nhiều mẫu hơn sang luật kém. Cải tiến: chỉ dùng luật chính xác, đo trên train.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Khamsing/Tâm: trong các mẫu thất bại, 17–26% bản sửa của LLM đổi phát biểu và 10–24% chèn sorry hoặc cấu trúc cấm. LLM k = 3: biên dịch 75,0% nhưng thành công thật 65,1%.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Tâm: ba bài học; phần bàn giao và tái lập: scripts/repair_batch.py nhận file của Nhóm 5 theo data contract, đầu ra repaired-v1 cho Nhóm 7/8, Docker, 121 test, notebook Kaggle, run record và log phát lại; hướng phát triển.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Cả nhóm: cảm ơn, mời hỏi đáp; Tâm điều phối người trả lời theo bảng; bộ câu hỏi trong slides/defense_qa.md. Phụ lục P1–P3 sau slide này, chỉ mở khi được hỏi về biểu đồ.</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Cột xanh là biên dịch, cột cam là thành công đã kiểm toán. k = 3 thêm 11 điểm % so với k = 1; 82,7% thành công đến ngay lần thử đầu, 12,4% ở lần 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Trục x là chi phí LLM cho 1.000 mẫu, trục y là tỷ lệ thành công. Blind và mô hình 3.6 Flash nằm dưới biên.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 khớp 74/74 với chạy nguội. 3 mức x 3 mức worker x 3 lần lặp, chênh lệch dưới 4%. USS 12,6 → 21,1 GB. Mở rộng tiếp cần nhiều máy.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6949440" y="-1097280"/>
            <a:ext cx="6766560" cy="676656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10607040" y="5212080"/>
            <a:ext cx="822960" cy="82296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731520" y="914400"/>
            <a:ext cx="7680960" cy="457200"/>
          </a:xfrm>
          <a:prstGeom prst="rect">
            <a:avLst/>
          </a:prstGeom>
          <a:noFill/>
        </p:spPr>
        <p:txBody>
          <a:bodyPr wrap="square" anchor="t" lIns="45720" rIns="45720" tIns="27432" bIns="27432">
            <a:spAutoFit/>
          </a:bodyPr>
          <a:lstStyle/>
          <a:p>
            <a:pPr algn="l">
              <a:lnSpc>
                <a:spcPct val="110000"/>
              </a:lnSpc>
            </a:pPr>
            <a:r>
              <a:rPr sz="2000" b="1" i="0">
                <a:solidFill>
                  <a:srgbClr val="1E6FE8"/>
                </a:solidFill>
                <a:latin typeface="Helvetica"/>
              </a:rPr>
              <a:t>DỮ LIỆU LỚN, INT4418 · NHÓM 6</a:t>
            </a:r>
          </a:p>
        </p:txBody>
      </p:sp>
      <p:sp>
        <p:nvSpPr>
          <p:cNvPr id="5" name="TextBox 4"/>
          <p:cNvSpPr txBox="1"/>
          <p:nvPr/>
        </p:nvSpPr>
        <p:spPr>
          <a:xfrm>
            <a:off x="731520" y="1554480"/>
            <a:ext cx="7863840" cy="2560320"/>
          </a:xfrm>
          <a:prstGeom prst="rect">
            <a:avLst/>
          </a:prstGeom>
          <a:noFill/>
        </p:spPr>
        <p:txBody>
          <a:bodyPr wrap="square" anchor="t" lIns="45720" rIns="45720" tIns="27432" bIns="27432">
            <a:spAutoFit/>
          </a:bodyPr>
          <a:lstStyle/>
          <a:p>
            <a:pPr algn="l">
              <a:lnSpc>
                <a:spcPct val="105000"/>
              </a:lnSpc>
            </a:pPr>
            <a:r>
              <a:rPr sz="4400" b="1" i="0">
                <a:solidFill>
                  <a:srgbClr val="0F1C3F"/>
                </a:solidFill>
                <a:latin typeface="Helvetica"/>
              </a:rPr>
              <a:t>Verifier-Guided Repair</a:t>
            </a:r>
          </a:p>
          <a:p>
            <a:pPr algn="l">
              <a:lnSpc>
                <a:spcPct val="105000"/>
              </a:lnSpc>
            </a:pPr>
            <a:r>
              <a:rPr sz="2800" b="0" i="0">
                <a:solidFill>
                  <a:srgbClr val="144FB0"/>
                </a:solidFill>
                <a:latin typeface="Helvetica"/>
              </a:rPr>
              <a:t>Sửa chứng minh Lean 4 có kiểm chứng dưới ràng buộc chi phí và độ trễ</a:t>
            </a:r>
          </a:p>
        </p:txBody>
      </p:sp>
      <p:sp>
        <p:nvSpPr>
          <p:cNvPr id="6" name="TextBox 5"/>
          <p:cNvSpPr txBox="1"/>
          <p:nvPr/>
        </p:nvSpPr>
        <p:spPr>
          <a:xfrm>
            <a:off x="731520" y="4160520"/>
            <a:ext cx="7863840" cy="192024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Giảng viên: TS. Nguyễn Kiều Linh</a:t>
            </a:r>
          </a:p>
          <a:p>
            <a:pPr algn="l">
              <a:lnSpc>
                <a:spcPct val="110000"/>
              </a:lnSpc>
            </a:pPr>
            <a:r>
              <a:rPr sz="2000" b="0" i="0">
                <a:solidFill>
                  <a:srgbClr val="5B6B82"/>
                </a:solidFill>
                <a:latin typeface="Helvetica"/>
              </a:rPr>
              <a:t>Đào Văn Tâm · Trần Quang Đức Dũng · Lâm Thành Trung</a:t>
            </a:r>
          </a:p>
          <a:p>
            <a:pPr algn="l">
              <a:lnSpc>
                <a:spcPct val="110000"/>
              </a:lnSpc>
            </a:pPr>
            <a:r>
              <a:rPr sz="2000" b="0" i="0">
                <a:solidFill>
                  <a:srgbClr val="5B6B82"/>
                </a:solidFill>
                <a:latin typeface="Helvetica"/>
              </a:rPr>
              <a:t>Nguyễn Xuân Tùng · Khamsing OUTHAIHUENG · Mekdala Nounou</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9692640" y="-2194560"/>
            <a:ext cx="4206240" cy="420624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11201400" y="50292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Nhóm 6 nhận chứng minh lỗi từ Nhóm 5, trả chứng minh đã kiểm chứng cho Nhóm 7/8</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2</a:t>
            </a:r>
          </a:p>
        </p:txBody>
      </p:sp>
      <p:sp>
        <p:nvSpPr>
          <p:cNvPr id="6" name="Rounded Rectangle 5"/>
          <p:cNvSpPr/>
          <p:nvPr/>
        </p:nvSpPr>
        <p:spPr>
          <a:xfrm>
            <a:off x="548640" y="1783080"/>
            <a:ext cx="2331720" cy="114300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856231"/>
            <a:ext cx="2185415" cy="996696"/>
          </a:xfrm>
          <a:prstGeom prst="rect">
            <a:avLst/>
          </a:prstGeom>
          <a:noFill/>
        </p:spPr>
        <p:txBody>
          <a:bodyPr wrap="square" anchor="ctr" lIns="45720" rIns="45720" tIns="27432" bIns="27432">
            <a:spAutoFit/>
          </a:bodyPr>
          <a:lstStyle/>
          <a:p>
            <a:pPr algn="ctr">
              <a:lnSpc>
                <a:spcPct val="110000"/>
              </a:lnSpc>
            </a:pPr>
            <a:r>
              <a:rPr sz="2000" b="1" i="0">
                <a:solidFill>
                  <a:srgbClr val="144FB0"/>
                </a:solidFill>
                <a:latin typeface="Helvetica"/>
              </a:rPr>
              <a:t>Nhóm 5</a:t>
            </a:r>
          </a:p>
          <a:p>
            <a:pPr algn="ctr">
              <a:lnSpc>
                <a:spcPct val="110000"/>
              </a:lnSpc>
            </a:pPr>
            <a:r>
              <a:rPr sz="2000" b="1" i="0">
                <a:solidFill>
                  <a:srgbClr val="144FB0"/>
                </a:solidFill>
                <a:latin typeface="Helvetica"/>
              </a:rPr>
              <a:t>ứng viên Lean</a:t>
            </a:r>
          </a:p>
        </p:txBody>
      </p:sp>
      <p:sp>
        <p:nvSpPr>
          <p:cNvPr id="8" name="Right Arrow 7"/>
          <p:cNvSpPr/>
          <p:nvPr/>
        </p:nvSpPr>
        <p:spPr>
          <a:xfrm>
            <a:off x="2935224" y="2208276"/>
            <a:ext cx="393192" cy="292608"/>
          </a:xfrm>
          <a:prstGeom prst="rightArrow">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383279" y="1783080"/>
            <a:ext cx="2331720" cy="1143000"/>
          </a:xfrm>
          <a:prstGeom prst="roundRect">
            <a:avLst>
              <a:gd name="adj" fmla="val 8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1856231"/>
            <a:ext cx="2185415" cy="996696"/>
          </a:xfrm>
          <a:prstGeom prst="rect">
            <a:avLst/>
          </a:prstGeom>
          <a:noFill/>
        </p:spPr>
        <p:txBody>
          <a:bodyPr wrap="square" anchor="ctr" lIns="45720" rIns="45720" tIns="27432" bIns="27432">
            <a:spAutoFit/>
          </a:bodyPr>
          <a:lstStyle/>
          <a:p>
            <a:pPr algn="ctr">
              <a:lnSpc>
                <a:spcPct val="110000"/>
              </a:lnSpc>
            </a:pPr>
            <a:r>
              <a:rPr sz="2000" b="1" i="0">
                <a:solidFill>
                  <a:srgbClr val="144FB0"/>
                </a:solidFill>
                <a:latin typeface="Helvetica"/>
              </a:rPr>
              <a:t>Nhóm 6</a:t>
            </a:r>
          </a:p>
          <a:p>
            <a:pPr algn="ctr">
              <a:lnSpc>
                <a:spcPct val="110000"/>
              </a:lnSpc>
            </a:pPr>
            <a:r>
              <a:rPr sz="2000" b="1" i="0">
                <a:solidFill>
                  <a:srgbClr val="144FB0"/>
                </a:solidFill>
                <a:latin typeface="Helvetica"/>
              </a:rPr>
              <a:t>phân loại + sửa</a:t>
            </a:r>
          </a:p>
        </p:txBody>
      </p:sp>
      <p:sp>
        <p:nvSpPr>
          <p:cNvPr id="11" name="Right Arrow 10"/>
          <p:cNvSpPr/>
          <p:nvPr/>
        </p:nvSpPr>
        <p:spPr>
          <a:xfrm>
            <a:off x="5769864" y="2208276"/>
            <a:ext cx="393192" cy="292608"/>
          </a:xfrm>
          <a:prstGeom prst="rightArrow">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17919" y="1783080"/>
            <a:ext cx="2331720" cy="114300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91071" y="1856231"/>
            <a:ext cx="2185415" cy="996696"/>
          </a:xfrm>
          <a:prstGeom prst="rect">
            <a:avLst/>
          </a:prstGeom>
          <a:noFill/>
        </p:spPr>
        <p:txBody>
          <a:bodyPr wrap="square" anchor="ctr" lIns="45720" rIns="45720" tIns="27432" bIns="27432">
            <a:spAutoFit/>
          </a:bodyPr>
          <a:lstStyle/>
          <a:p>
            <a:pPr algn="ctr">
              <a:lnSpc>
                <a:spcPct val="110000"/>
              </a:lnSpc>
            </a:pPr>
            <a:r>
              <a:rPr sz="2000" b="1" i="0">
                <a:solidFill>
                  <a:srgbClr val="144FB0"/>
                </a:solidFill>
                <a:latin typeface="Helvetica"/>
              </a:rPr>
              <a:t>Lean</a:t>
            </a:r>
          </a:p>
          <a:p>
            <a:pPr algn="ctr">
              <a:lnSpc>
                <a:spcPct val="110000"/>
              </a:lnSpc>
            </a:pPr>
            <a:r>
              <a:rPr sz="2000" b="1" i="0">
                <a:solidFill>
                  <a:srgbClr val="144FB0"/>
                </a:solidFill>
                <a:latin typeface="Helvetica"/>
              </a:rPr>
              <a:t>kiểm chứng</a:t>
            </a:r>
          </a:p>
        </p:txBody>
      </p:sp>
      <p:sp>
        <p:nvSpPr>
          <p:cNvPr id="14" name="Right Arrow 13"/>
          <p:cNvSpPr/>
          <p:nvPr/>
        </p:nvSpPr>
        <p:spPr>
          <a:xfrm>
            <a:off x="8604503" y="2208276"/>
            <a:ext cx="393192" cy="292608"/>
          </a:xfrm>
          <a:prstGeom prst="rightArrow">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052559" y="1783080"/>
            <a:ext cx="2331720" cy="114300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25711" y="1856231"/>
            <a:ext cx="2185415" cy="996696"/>
          </a:xfrm>
          <a:prstGeom prst="rect">
            <a:avLst/>
          </a:prstGeom>
          <a:noFill/>
        </p:spPr>
        <p:txBody>
          <a:bodyPr wrap="square" anchor="ctr" lIns="45720" rIns="45720" tIns="27432" bIns="27432">
            <a:spAutoFit/>
          </a:bodyPr>
          <a:lstStyle/>
          <a:p>
            <a:pPr algn="ctr">
              <a:lnSpc>
                <a:spcPct val="110000"/>
              </a:lnSpc>
            </a:pPr>
            <a:r>
              <a:rPr sz="2000" b="1" i="0">
                <a:solidFill>
                  <a:srgbClr val="144FB0"/>
                </a:solidFill>
                <a:latin typeface="Helvetica"/>
              </a:rPr>
              <a:t>Nhóm 7 / 8</a:t>
            </a:r>
          </a:p>
          <a:p>
            <a:pPr algn="ctr">
              <a:lnSpc>
                <a:spcPct val="110000"/>
              </a:lnSpc>
            </a:pPr>
            <a:r>
              <a:rPr sz="2000" b="1" i="0">
                <a:solidFill>
                  <a:srgbClr val="144FB0"/>
                </a:solidFill>
                <a:latin typeface="Helvetica"/>
              </a:rPr>
              <a:t>chứng minh đúng</a:t>
            </a:r>
          </a:p>
        </p:txBody>
      </p:sp>
      <p:sp>
        <p:nvSpPr>
          <p:cNvPr id="17" name="Rounded Rectangle 16"/>
          <p:cNvSpPr/>
          <p:nvPr/>
        </p:nvSpPr>
        <p:spPr>
          <a:xfrm>
            <a:off x="548640" y="3246120"/>
            <a:ext cx="4206240" cy="278892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3410712"/>
            <a:ext cx="3749039"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Mục tiêu</a:t>
            </a:r>
          </a:p>
        </p:txBody>
      </p:sp>
      <p:sp>
        <p:nvSpPr>
          <p:cNvPr id="19" name="TextBox 18"/>
          <p:cNvSpPr txBox="1"/>
          <p:nvPr/>
        </p:nvSpPr>
        <p:spPr>
          <a:xfrm>
            <a:off x="777240" y="3977639"/>
            <a:ext cx="3749039" cy="1920239"/>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Chỉ nhận bản sửa Lean chấp nhận, giữ nguyên đề</a:t>
            </a:r>
          </a:p>
          <a:p>
            <a:pPr marL="292608" indent="-292608">
              <a:lnSpc>
                <a:spcPct val="108000"/>
              </a:lnSpc>
              <a:spcAft>
                <a:spcPts val="600"/>
              </a:spcAft>
              <a:buClr>
                <a:srgbClr val="1E6FE8"/>
              </a:buClr>
              <a:buFont typeface="Helvetica"/>
              <a:buChar char="•"/>
            </a:pPr>
            <a:r>
              <a:rPr sz="2100" b="0" i="0">
                <a:solidFill>
                  <a:srgbClr val="0F1C3F"/>
                </a:solidFill>
                <a:latin typeface="Helvetica"/>
              </a:rPr>
              <a:t>Có trần chi phí token, đo được P95</a:t>
            </a:r>
          </a:p>
          <a:p>
            <a:pPr marL="292608" indent="-292608">
              <a:lnSpc>
                <a:spcPct val="108000"/>
              </a:lnSpc>
              <a:spcAft>
                <a:spcPts val="600"/>
              </a:spcAft>
              <a:buClr>
                <a:srgbClr val="1E6FE8"/>
              </a:buClr>
              <a:buFont typeface="Helvetica"/>
              <a:buChar char="•"/>
            </a:pPr>
            <a:r>
              <a:rPr sz="2100" b="0" i="0">
                <a:solidFill>
                  <a:srgbClr val="0F1C3F"/>
                </a:solidFill>
                <a:latin typeface="Helvetica"/>
              </a:rPr>
              <a:t>Tái lập và bàn giao được</a:t>
            </a:r>
          </a:p>
        </p:txBody>
      </p:sp>
      <p:sp>
        <p:nvSpPr>
          <p:cNvPr id="20" name="Rounded Rectangle 19"/>
          <p:cNvSpPr/>
          <p:nvPr/>
        </p:nvSpPr>
        <p:spPr>
          <a:xfrm>
            <a:off x="4983480" y="3246120"/>
            <a:ext cx="6629400" cy="2788920"/>
          </a:xfrm>
          <a:prstGeom prst="roundRect">
            <a:avLst>
              <a:gd name="adj" fmla="val 8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12080" y="3410712"/>
            <a:ext cx="617220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Ba câu hỏi nghiên cứu</a:t>
            </a:r>
          </a:p>
        </p:txBody>
      </p:sp>
      <p:sp>
        <p:nvSpPr>
          <p:cNvPr id="22" name="TextBox 21"/>
          <p:cNvSpPr txBox="1"/>
          <p:nvPr/>
        </p:nvSpPr>
        <p:spPr>
          <a:xfrm>
            <a:off x="5212080" y="3977639"/>
            <a:ext cx="6172200" cy="1920239"/>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1" i="0">
                <a:solidFill>
                  <a:srgbClr val="0F1C3F"/>
                </a:solidFill>
                <a:latin typeface="Helvetica"/>
              </a:rPr>
              <a:t>RQ1 </a:t>
            </a:r>
            <a:r>
              <a:rPr sz="2100" b="0" i="0">
                <a:solidFill>
                  <a:srgbClr val="0F1C3F"/>
                </a:solidFill>
                <a:latin typeface="Helvetica"/>
              </a:rPr>
              <a:t>Thông báo lỗi Lean có giúp sửa tốt hơn?</a:t>
            </a:r>
          </a:p>
          <a:p>
            <a:pPr marL="292608" indent="-292608">
              <a:lnSpc>
                <a:spcPct val="108000"/>
              </a:lnSpc>
              <a:spcAft>
                <a:spcPts val="600"/>
              </a:spcAft>
              <a:buClr>
                <a:srgbClr val="1E6FE8"/>
              </a:buClr>
              <a:buFont typeface="Helvetica"/>
              <a:buChar char="•"/>
            </a:pPr>
            <a:r>
              <a:rPr sz="2100" b="1" i="0">
                <a:solidFill>
                  <a:srgbClr val="0F1C3F"/>
                </a:solidFill>
                <a:latin typeface="Helvetica"/>
              </a:rPr>
              <a:t>RQ2 </a:t>
            </a:r>
            <a:r>
              <a:rPr sz="2100" b="0" i="0">
                <a:solidFill>
                  <a:srgbClr val="0F1C3F"/>
                </a:solidFill>
                <a:latin typeface="Helvetica"/>
              </a:rPr>
              <a:t>Luật hay LLM, thử mấy lần, tốn bao nhiêu?</a:t>
            </a:r>
          </a:p>
          <a:p>
            <a:pPr marL="292608" indent="-292608">
              <a:lnSpc>
                <a:spcPct val="108000"/>
              </a:lnSpc>
              <a:spcAft>
                <a:spcPts val="600"/>
              </a:spcAft>
              <a:buClr>
                <a:srgbClr val="1E6FE8"/>
              </a:buClr>
              <a:buFont typeface="Helvetica"/>
              <a:buChar char="•"/>
            </a:pPr>
            <a:r>
              <a:rPr sz="2100" b="1" i="0">
                <a:solidFill>
                  <a:srgbClr val="0F1C3F"/>
                </a:solidFill>
                <a:latin typeface="Helvetica"/>
              </a:rPr>
              <a:t>RQ3 </a:t>
            </a:r>
            <a:r>
              <a:rPr sz="2100" b="0" i="0">
                <a:solidFill>
                  <a:srgbClr val="0F1C3F"/>
                </a:solidFill>
                <a:latin typeface="Helvetica"/>
              </a:rPr>
              <a:t>Mở rộng ra sao khi tăng dữ liệu, worker?</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1463040" y="4023360"/>
            <a:ext cx="3840480" cy="384048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54864" y="603504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Điểm nổi bật: hệ thống chạy trọn vòng, đạt 6/6 tiêu chí nghiệm thu</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3</a:t>
            </a:r>
          </a:p>
        </p:txBody>
      </p:sp>
      <p:sp>
        <p:nvSpPr>
          <p:cNvPr id="6" name="Rounded Rectangle 5"/>
          <p:cNvSpPr/>
          <p:nvPr/>
        </p:nvSpPr>
        <p:spPr>
          <a:xfrm>
            <a:off x="548640" y="1737360"/>
            <a:ext cx="5394960" cy="379476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01952"/>
            <a:ext cx="49377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Nhóm đã xây dựng</a:t>
            </a:r>
          </a:p>
        </p:txBody>
      </p:sp>
      <p:sp>
        <p:nvSpPr>
          <p:cNvPr id="8" name="TextBox 7"/>
          <p:cNvSpPr txBox="1"/>
          <p:nvPr/>
        </p:nvSpPr>
        <p:spPr>
          <a:xfrm>
            <a:off x="777240" y="2468880"/>
            <a:ext cx="4937760" cy="292608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Dataset 17.031 lỗi, nhãn từ Lean thật</a:t>
            </a:r>
          </a:p>
          <a:p>
            <a:pPr marL="292608" indent="-292608">
              <a:lnSpc>
                <a:spcPct val="108000"/>
              </a:lnSpc>
              <a:spcAft>
                <a:spcPts val="600"/>
              </a:spcAft>
              <a:buClr>
                <a:srgbClr val="1E6FE8"/>
              </a:buClr>
              <a:buFont typeface="Helvetica"/>
              <a:buChar char="•"/>
            </a:pPr>
            <a:r>
              <a:rPr sz="2100" b="0" i="0">
                <a:solidFill>
                  <a:srgbClr val="0F1C3F"/>
                </a:solidFill>
                <a:latin typeface="Helvetica"/>
              </a:rPr>
              <a:t>Lean REPL thường trú + worker pool</a:t>
            </a:r>
          </a:p>
          <a:p>
            <a:pPr marL="292608" indent="-292608">
              <a:lnSpc>
                <a:spcPct val="108000"/>
              </a:lnSpc>
              <a:spcAft>
                <a:spcPts val="600"/>
              </a:spcAft>
              <a:buClr>
                <a:srgbClr val="1E6FE8"/>
              </a:buClr>
              <a:buFont typeface="Helvetica"/>
              <a:buChar char="•"/>
            </a:pPr>
            <a:r>
              <a:rPr sz="2100" b="0" i="0">
                <a:solidFill>
                  <a:srgbClr val="0F1C3F"/>
                </a:solidFill>
                <a:latin typeface="Helvetica"/>
              </a:rPr>
              <a:t>Vòng sửa: luật, LLM, kiểm toán</a:t>
            </a:r>
          </a:p>
          <a:p>
            <a:pPr marL="292608" indent="-292608">
              <a:lnSpc>
                <a:spcPct val="108000"/>
              </a:lnSpc>
              <a:spcAft>
                <a:spcPts val="600"/>
              </a:spcAft>
              <a:buClr>
                <a:srgbClr val="1E6FE8"/>
              </a:buClr>
              <a:buFont typeface="Helvetica"/>
              <a:buChar char="•"/>
            </a:pPr>
            <a:r>
              <a:rPr sz="2100" b="0" i="0">
                <a:solidFill>
                  <a:srgbClr val="0F1C3F"/>
                </a:solidFill>
                <a:latin typeface="Helvetica"/>
              </a:rPr>
              <a:t>Cổng Nhóm 5, đầu ra cho Nhóm 7/8</a:t>
            </a:r>
          </a:p>
        </p:txBody>
      </p:sp>
      <p:sp>
        <p:nvSpPr>
          <p:cNvPr id="9" name="Rounded Rectangle 8"/>
          <p:cNvSpPr/>
          <p:nvPr/>
        </p:nvSpPr>
        <p:spPr>
          <a:xfrm>
            <a:off x="6172200" y="1737360"/>
            <a:ext cx="5440680" cy="3794760"/>
          </a:xfrm>
          <a:prstGeom prst="roundRect">
            <a:avLst>
              <a:gd name="adj" fmla="val 8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901952"/>
            <a:ext cx="498348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Tiêu chí nghiệm thu: 6/6</a:t>
            </a:r>
          </a:p>
        </p:txBody>
      </p:sp>
      <p:sp>
        <p:nvSpPr>
          <p:cNvPr id="11" name="TextBox 10"/>
          <p:cNvSpPr txBox="1"/>
          <p:nvPr/>
        </p:nvSpPr>
        <p:spPr>
          <a:xfrm>
            <a:off x="6400800" y="2468880"/>
            <a:ext cx="4983480" cy="292608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Hold-out tách theo định lý gốc</a:t>
            </a:r>
          </a:p>
          <a:p>
            <a:pPr marL="292608" indent="-292608">
              <a:lnSpc>
                <a:spcPct val="108000"/>
              </a:lnSpc>
              <a:spcAft>
                <a:spcPts val="600"/>
              </a:spcAft>
              <a:buClr>
                <a:srgbClr val="1E6FE8"/>
              </a:buClr>
              <a:buFont typeface="Helvetica"/>
              <a:buChar char="•"/>
            </a:pPr>
            <a:r>
              <a:rPr sz="2100" b="0" i="0">
                <a:solidFill>
                  <a:srgbClr val="0F1C3F"/>
                </a:solidFill>
                <a:latin typeface="Helvetica"/>
              </a:rPr>
              <a:t>So sánh với retry baseline</a:t>
            </a:r>
          </a:p>
          <a:p>
            <a:pPr marL="292608" indent="-292608">
              <a:lnSpc>
                <a:spcPct val="108000"/>
              </a:lnSpc>
              <a:spcAft>
                <a:spcPts val="600"/>
              </a:spcAft>
              <a:buClr>
                <a:srgbClr val="1E6FE8"/>
              </a:buClr>
              <a:buFont typeface="Helvetica"/>
              <a:buChar char="•"/>
            </a:pPr>
            <a:r>
              <a:rPr sz="2100" b="0" i="0">
                <a:solidFill>
                  <a:srgbClr val="0F1C3F"/>
                </a:solidFill>
                <a:latin typeface="Helvetica"/>
              </a:rPr>
              <a:t>Vòng lặp có giới hạn rõ</a:t>
            </a:r>
          </a:p>
          <a:p>
            <a:pPr marL="292608" indent="-292608">
              <a:lnSpc>
                <a:spcPct val="108000"/>
              </a:lnSpc>
              <a:spcAft>
                <a:spcPts val="600"/>
              </a:spcAft>
              <a:buClr>
                <a:srgbClr val="1E6FE8"/>
              </a:buClr>
              <a:buFont typeface="Helvetica"/>
              <a:buChar char="•"/>
            </a:pPr>
            <a:r>
              <a:rPr sz="2100" b="0" i="0">
                <a:solidFill>
                  <a:srgbClr val="0F1C3F"/>
                </a:solidFill>
                <a:latin typeface="Helvetica"/>
              </a:rPr>
              <a:t>Đo biên dịch, kiểm toán, chi phí</a:t>
            </a:r>
          </a:p>
          <a:p>
            <a:pPr marL="292608" indent="-292608">
              <a:lnSpc>
                <a:spcPct val="108000"/>
              </a:lnSpc>
              <a:spcAft>
                <a:spcPts val="600"/>
              </a:spcAft>
              <a:buClr>
                <a:srgbClr val="1E6FE8"/>
              </a:buClr>
              <a:buFont typeface="Helvetica"/>
              <a:buChar char="•"/>
            </a:pPr>
            <a:r>
              <a:rPr sz="2100" b="0" i="0">
                <a:solidFill>
                  <a:srgbClr val="0F1C3F"/>
                </a:solidFill>
                <a:latin typeface="Helvetica"/>
              </a:rPr>
              <a:t>Log phát lại được</a:t>
            </a:r>
          </a:p>
          <a:p>
            <a:pPr marL="292608" indent="-292608">
              <a:lnSpc>
                <a:spcPct val="108000"/>
              </a:lnSpc>
              <a:spcAft>
                <a:spcPts val="600"/>
              </a:spcAft>
              <a:buClr>
                <a:srgbClr val="1E6FE8"/>
              </a:buClr>
              <a:buFont typeface="Helvetica"/>
              <a:buChar char="•"/>
            </a:pPr>
            <a:r>
              <a:rPr sz="2100" b="0" i="0">
                <a:solidFill>
                  <a:srgbClr val="0F1C3F"/>
                </a:solidFill>
                <a:latin typeface="Helvetica"/>
              </a:rPr>
              <a:t>Không lặp vô hạn</a:t>
            </a:r>
          </a:p>
        </p:txBody>
      </p:sp>
      <p:sp>
        <p:nvSpPr>
          <p:cNvPr id="12" name="TextBox 11"/>
          <p:cNvSpPr txBox="1"/>
          <p:nvPr/>
        </p:nvSpPr>
        <p:spPr>
          <a:xfrm>
            <a:off x="548640" y="5669280"/>
            <a:ext cx="11064240" cy="54864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Toàn bộ thực nghiệm: </a:t>
            </a:r>
            <a:r>
              <a:rPr sz="2200" b="1" i="0">
                <a:solidFill>
                  <a:srgbClr val="0F1C3F"/>
                </a:solidFill>
                <a:latin typeface="Helvetica"/>
              </a:rPr>
              <a:t>2,97 USD · 121 test tự động · 67 run record</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9966960" y="4206240"/>
            <a:ext cx="3657600" cy="365760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11704320" y="329184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Nút thắt nằm ở quy mô, lập lịch và chi phí, không ở một phép tính</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4</a:t>
            </a:r>
          </a:p>
        </p:txBody>
      </p:sp>
      <p:sp>
        <p:nvSpPr>
          <p:cNvPr id="6" name="TextBox 5"/>
          <p:cNvSpPr txBox="1"/>
          <p:nvPr/>
        </p:nvSpPr>
        <p:spPr>
          <a:xfrm>
            <a:off x="731520" y="1828800"/>
            <a:ext cx="2743200" cy="868680"/>
          </a:xfrm>
          <a:prstGeom prst="rect">
            <a:avLst/>
          </a:prstGeom>
          <a:noFill/>
        </p:spPr>
        <p:txBody>
          <a:bodyPr wrap="square" anchor="t" lIns="45720" rIns="45720" tIns="27432" bIns="27432">
            <a:spAutoFit/>
          </a:bodyPr>
          <a:lstStyle/>
          <a:p>
            <a:pPr algn="l">
              <a:lnSpc>
                <a:spcPct val="110000"/>
              </a:lnSpc>
            </a:pPr>
            <a:r>
              <a:rPr sz="4800" b="1" i="0">
                <a:solidFill>
                  <a:srgbClr val="1E6FE8"/>
                </a:solidFill>
                <a:latin typeface="Helvetica"/>
              </a:rPr>
              <a:t>63–107 s</a:t>
            </a:r>
          </a:p>
        </p:txBody>
      </p:sp>
      <p:sp>
        <p:nvSpPr>
          <p:cNvPr id="7" name="TextBox 6"/>
          <p:cNvSpPr txBox="1"/>
          <p:nvPr/>
        </p:nvSpPr>
        <p:spPr>
          <a:xfrm>
            <a:off x="731520" y="2697480"/>
            <a:ext cx="2743200" cy="77724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kiểm chứng nguội 1 tệp, nạp Mathlib</a:t>
            </a:r>
          </a:p>
        </p:txBody>
      </p:sp>
      <p:sp>
        <p:nvSpPr>
          <p:cNvPr id="8" name="TextBox 7"/>
          <p:cNvSpPr txBox="1"/>
          <p:nvPr/>
        </p:nvSpPr>
        <p:spPr>
          <a:xfrm>
            <a:off x="3611880" y="1828800"/>
            <a:ext cx="2651760" cy="868680"/>
          </a:xfrm>
          <a:prstGeom prst="rect">
            <a:avLst/>
          </a:prstGeom>
          <a:noFill/>
        </p:spPr>
        <p:txBody>
          <a:bodyPr wrap="square" anchor="t" lIns="45720" rIns="45720" tIns="27432" bIns="27432">
            <a:spAutoFit/>
          </a:bodyPr>
          <a:lstStyle/>
          <a:p>
            <a:pPr algn="l">
              <a:lnSpc>
                <a:spcPct val="110000"/>
              </a:lnSpc>
            </a:pPr>
            <a:r>
              <a:rPr sz="4800" b="1" i="0">
                <a:solidFill>
                  <a:srgbClr val="1E6FE8"/>
                </a:solidFill>
                <a:latin typeface="Helvetica"/>
              </a:rPr>
              <a:t>10.000</a:t>
            </a:r>
          </a:p>
        </p:txBody>
      </p:sp>
      <p:sp>
        <p:nvSpPr>
          <p:cNvPr id="9" name="TextBox 8"/>
          <p:cNvSpPr txBox="1"/>
          <p:nvPr/>
        </p:nvSpPr>
        <p:spPr>
          <a:xfrm>
            <a:off x="3611880" y="2697480"/>
            <a:ext cx="2651760" cy="77724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ứng viên ở mức lớn nhất</a:t>
            </a:r>
          </a:p>
        </p:txBody>
      </p:sp>
      <p:sp>
        <p:nvSpPr>
          <p:cNvPr id="10" name="TextBox 9"/>
          <p:cNvSpPr txBox="1"/>
          <p:nvPr/>
        </p:nvSpPr>
        <p:spPr>
          <a:xfrm>
            <a:off x="6400800" y="1828800"/>
            <a:ext cx="2560320" cy="868680"/>
          </a:xfrm>
          <a:prstGeom prst="rect">
            <a:avLst/>
          </a:prstGeom>
          <a:noFill/>
        </p:spPr>
        <p:txBody>
          <a:bodyPr wrap="square" anchor="t" lIns="45720" rIns="45720" tIns="27432" bIns="27432">
            <a:spAutoFit/>
          </a:bodyPr>
          <a:lstStyle/>
          <a:p>
            <a:pPr algn="l">
              <a:lnSpc>
                <a:spcPct val="110000"/>
              </a:lnSpc>
            </a:pPr>
            <a:r>
              <a:rPr sz="4800" b="1" i="0">
                <a:solidFill>
                  <a:srgbClr val="1E6FE8"/>
                </a:solidFill>
                <a:latin typeface="Helvetica"/>
              </a:rPr>
              <a:t>~1.000</a:t>
            </a:r>
          </a:p>
        </p:txBody>
      </p:sp>
      <p:sp>
        <p:nvSpPr>
          <p:cNvPr id="11" name="TextBox 10"/>
          <p:cNvSpPr txBox="1"/>
          <p:nvPr/>
        </p:nvSpPr>
        <p:spPr>
          <a:xfrm>
            <a:off x="6400800" y="2697480"/>
            <a:ext cx="2560320" cy="77724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token mỗi lần LLM sửa</a:t>
            </a:r>
          </a:p>
        </p:txBody>
      </p:sp>
      <p:sp>
        <p:nvSpPr>
          <p:cNvPr id="12" name="TextBox 11"/>
          <p:cNvSpPr txBox="1"/>
          <p:nvPr/>
        </p:nvSpPr>
        <p:spPr>
          <a:xfrm>
            <a:off x="9144000" y="1828800"/>
            <a:ext cx="2651760" cy="868680"/>
          </a:xfrm>
          <a:prstGeom prst="rect">
            <a:avLst/>
          </a:prstGeom>
          <a:noFill/>
        </p:spPr>
        <p:txBody>
          <a:bodyPr wrap="square" anchor="t" lIns="45720" rIns="45720" tIns="27432" bIns="27432">
            <a:spAutoFit/>
          </a:bodyPr>
          <a:lstStyle/>
          <a:p>
            <a:pPr algn="l">
              <a:lnSpc>
                <a:spcPct val="110000"/>
              </a:lnSpc>
            </a:pPr>
            <a:r>
              <a:rPr sz="4800" b="1" i="0">
                <a:solidFill>
                  <a:srgbClr val="144FB0"/>
                </a:solidFill>
                <a:latin typeface="Helvetica"/>
              </a:rPr>
              <a:t>67</a:t>
            </a:r>
          </a:p>
        </p:txBody>
      </p:sp>
      <p:sp>
        <p:nvSpPr>
          <p:cNvPr id="13" name="TextBox 12"/>
          <p:cNvSpPr txBox="1"/>
          <p:nvPr/>
        </p:nvSpPr>
        <p:spPr>
          <a:xfrm>
            <a:off x="9144000" y="2697480"/>
            <a:ext cx="2651760" cy="77724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run record + log phát lại</a:t>
            </a:r>
          </a:p>
        </p:txBody>
      </p:sp>
      <p:sp>
        <p:nvSpPr>
          <p:cNvPr id="14" name="Rounded Rectangle 13"/>
          <p:cNvSpPr/>
          <p:nvPr/>
        </p:nvSpPr>
        <p:spPr>
          <a:xfrm>
            <a:off x="731520" y="4023360"/>
            <a:ext cx="10881360" cy="1874519"/>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4187952"/>
            <a:ext cx="104241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Mục tiêu hệ thống</a:t>
            </a:r>
          </a:p>
        </p:txBody>
      </p:sp>
      <p:sp>
        <p:nvSpPr>
          <p:cNvPr id="16" name="TextBox 15"/>
          <p:cNvSpPr txBox="1"/>
          <p:nvPr/>
        </p:nvSpPr>
        <p:spPr>
          <a:xfrm>
            <a:off x="960120" y="4754880"/>
            <a:ext cx="10424160" cy="1005839"/>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Thông lượng cao, độ trễ đuôi P95 thấp trên vài worker CPU</a:t>
            </a:r>
          </a:p>
          <a:p>
            <a:pPr marL="292608" indent="-292608">
              <a:lnSpc>
                <a:spcPct val="108000"/>
              </a:lnSpc>
              <a:spcAft>
                <a:spcPts val="600"/>
              </a:spcAft>
              <a:buClr>
                <a:srgbClr val="1E6FE8"/>
              </a:buClr>
              <a:buFont typeface="Helvetica"/>
              <a:buChar char="•"/>
            </a:pPr>
            <a:r>
              <a:rPr sz="2100" b="0" i="0">
                <a:solidFill>
                  <a:srgbClr val="0F1C3F"/>
                </a:solidFill>
                <a:latin typeface="Helvetica"/>
              </a:rPr>
              <a:t>Chi phí token có trần cứng; kết quả tái lập được từ dữ liệu thô</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9692640" y="-2194560"/>
            <a:ext cx="4206240" cy="420624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11201400" y="50292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Dataset 17.031 lỗi có nhãn lấy từ chính Lean, không viết tay</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5</a:t>
            </a:r>
          </a:p>
        </p:txBody>
      </p:sp>
      <p:sp>
        <p:nvSpPr>
          <p:cNvPr id="6" name="TextBox 5"/>
          <p:cNvSpPr txBox="1"/>
          <p:nvPr/>
        </p:nvSpPr>
        <p:spPr>
          <a:xfrm>
            <a:off x="731520" y="1783080"/>
            <a:ext cx="2651760" cy="868680"/>
          </a:xfrm>
          <a:prstGeom prst="rect">
            <a:avLst/>
          </a:prstGeom>
          <a:noFill/>
        </p:spPr>
        <p:txBody>
          <a:bodyPr wrap="square" anchor="t" lIns="45720" rIns="45720" tIns="27432" bIns="27432">
            <a:spAutoFit/>
          </a:bodyPr>
          <a:lstStyle/>
          <a:p>
            <a:pPr algn="l">
              <a:lnSpc>
                <a:spcPct val="110000"/>
              </a:lnSpc>
            </a:pPr>
            <a:r>
              <a:rPr sz="4800" b="1" i="0">
                <a:solidFill>
                  <a:srgbClr val="1E6FE8"/>
                </a:solidFill>
                <a:latin typeface="Helvetica"/>
              </a:rPr>
              <a:t>17.031</a:t>
            </a:r>
          </a:p>
        </p:txBody>
      </p:sp>
      <p:sp>
        <p:nvSpPr>
          <p:cNvPr id="7" name="TextBox 6"/>
          <p:cNvSpPr txBox="1"/>
          <p:nvPr/>
        </p:nvSpPr>
        <p:spPr>
          <a:xfrm>
            <a:off x="731520" y="2651760"/>
            <a:ext cx="2651760" cy="77724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mẫu lỗi, dataset v1.0</a:t>
            </a:r>
          </a:p>
        </p:txBody>
      </p:sp>
      <p:sp>
        <p:nvSpPr>
          <p:cNvPr id="8" name="TextBox 7"/>
          <p:cNvSpPr txBox="1"/>
          <p:nvPr/>
        </p:nvSpPr>
        <p:spPr>
          <a:xfrm>
            <a:off x="3520440" y="1783080"/>
            <a:ext cx="2651760" cy="868680"/>
          </a:xfrm>
          <a:prstGeom prst="rect">
            <a:avLst/>
          </a:prstGeom>
          <a:noFill/>
        </p:spPr>
        <p:txBody>
          <a:bodyPr wrap="square" anchor="t" lIns="45720" rIns="45720" tIns="27432" bIns="27432">
            <a:spAutoFit/>
          </a:bodyPr>
          <a:lstStyle/>
          <a:p>
            <a:pPr algn="l">
              <a:lnSpc>
                <a:spcPct val="110000"/>
              </a:lnSpc>
            </a:pPr>
            <a:r>
              <a:rPr sz="4800" b="1" i="0">
                <a:solidFill>
                  <a:srgbClr val="1E6FE8"/>
                </a:solidFill>
                <a:latin typeface="Helvetica"/>
              </a:rPr>
              <a:t>3.666</a:t>
            </a:r>
          </a:p>
        </p:txBody>
      </p:sp>
      <p:sp>
        <p:nvSpPr>
          <p:cNvPr id="9" name="TextBox 8"/>
          <p:cNvSpPr txBox="1"/>
          <p:nvPr/>
        </p:nvSpPr>
        <p:spPr>
          <a:xfrm>
            <a:off x="3520440" y="2651760"/>
            <a:ext cx="2651760" cy="77724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định lý gốc đã kiểm chứng</a:t>
            </a:r>
          </a:p>
        </p:txBody>
      </p:sp>
      <p:sp>
        <p:nvSpPr>
          <p:cNvPr id="10" name="TextBox 9"/>
          <p:cNvSpPr txBox="1"/>
          <p:nvPr/>
        </p:nvSpPr>
        <p:spPr>
          <a:xfrm>
            <a:off x="6309360" y="1783080"/>
            <a:ext cx="2651760" cy="868680"/>
          </a:xfrm>
          <a:prstGeom prst="rect">
            <a:avLst/>
          </a:prstGeom>
          <a:noFill/>
        </p:spPr>
        <p:txBody>
          <a:bodyPr wrap="square" anchor="t" lIns="45720" rIns="45720" tIns="27432" bIns="27432">
            <a:spAutoFit/>
          </a:bodyPr>
          <a:lstStyle/>
          <a:p>
            <a:pPr algn="l">
              <a:lnSpc>
                <a:spcPct val="110000"/>
              </a:lnSpc>
            </a:pPr>
            <a:r>
              <a:rPr sz="4800" b="1" i="0">
                <a:solidFill>
                  <a:srgbClr val="1E6FE8"/>
                </a:solidFill>
                <a:latin typeface="Helvetica"/>
              </a:rPr>
              <a:t>1.110</a:t>
            </a:r>
          </a:p>
        </p:txBody>
      </p:sp>
      <p:sp>
        <p:nvSpPr>
          <p:cNvPr id="11" name="TextBox 10"/>
          <p:cNvSpPr txBox="1"/>
          <p:nvPr/>
        </p:nvSpPr>
        <p:spPr>
          <a:xfrm>
            <a:off x="6309360" y="2651760"/>
            <a:ext cx="2651760" cy="77724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lỗi tự nhiên do Mathlib đổi</a:t>
            </a:r>
          </a:p>
        </p:txBody>
      </p:sp>
      <p:sp>
        <p:nvSpPr>
          <p:cNvPr id="12" name="TextBox 11"/>
          <p:cNvSpPr txBox="1"/>
          <p:nvPr/>
        </p:nvSpPr>
        <p:spPr>
          <a:xfrm>
            <a:off x="9098280" y="1783080"/>
            <a:ext cx="2651760" cy="868680"/>
          </a:xfrm>
          <a:prstGeom prst="rect">
            <a:avLst/>
          </a:prstGeom>
          <a:noFill/>
        </p:spPr>
        <p:txBody>
          <a:bodyPr wrap="square" anchor="t" lIns="45720" rIns="45720" tIns="27432" bIns="27432">
            <a:spAutoFit/>
          </a:bodyPr>
          <a:lstStyle/>
          <a:p>
            <a:pPr algn="l">
              <a:lnSpc>
                <a:spcPct val="110000"/>
              </a:lnSpc>
            </a:pPr>
            <a:r>
              <a:rPr sz="4800" b="1" i="0">
                <a:solidFill>
                  <a:srgbClr val="144FB0"/>
                </a:solidFill>
                <a:latin typeface="Helvetica"/>
              </a:rPr>
              <a:t>94,4%</a:t>
            </a:r>
          </a:p>
        </p:txBody>
      </p:sp>
      <p:sp>
        <p:nvSpPr>
          <p:cNvPr id="13" name="TextBox 12"/>
          <p:cNvSpPr txBox="1"/>
          <p:nvPr/>
        </p:nvSpPr>
        <p:spPr>
          <a:xfrm>
            <a:off x="9098280" y="2651760"/>
            <a:ext cx="2651760" cy="77724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nhãn khớp loại lỗi dự kiến</a:t>
            </a:r>
          </a:p>
        </p:txBody>
      </p:sp>
      <p:sp>
        <p:nvSpPr>
          <p:cNvPr id="14" name="Rounded Rectangle 13"/>
          <p:cNvSpPr/>
          <p:nvPr/>
        </p:nvSpPr>
        <p:spPr>
          <a:xfrm>
            <a:off x="548640" y="3931920"/>
            <a:ext cx="3566160" cy="210312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096511"/>
            <a:ext cx="31089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Chống rò rỉ</a:t>
            </a:r>
          </a:p>
        </p:txBody>
      </p:sp>
      <p:sp>
        <p:nvSpPr>
          <p:cNvPr id="16" name="TextBox 15"/>
          <p:cNvSpPr txBox="1"/>
          <p:nvPr/>
        </p:nvSpPr>
        <p:spPr>
          <a:xfrm>
            <a:off x="777240" y="4663440"/>
            <a:ext cx="3108960" cy="1234439"/>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Chia theo định lý gốc</a:t>
            </a:r>
          </a:p>
          <a:p>
            <a:pPr marL="292608" indent="-292608">
              <a:lnSpc>
                <a:spcPct val="108000"/>
              </a:lnSpc>
              <a:spcAft>
                <a:spcPts val="600"/>
              </a:spcAft>
              <a:buClr>
                <a:srgbClr val="1E6FE8"/>
              </a:buClr>
              <a:buFont typeface="Helvetica"/>
              <a:buChar char="•"/>
            </a:pPr>
            <a:r>
              <a:rPr sz="2100" b="0" i="0">
                <a:solidFill>
                  <a:srgbClr val="0F1C3F"/>
                </a:solidFill>
                <a:latin typeface="Helvetica"/>
              </a:rPr>
              <a:t>0 trùng giữa hai phía</a:t>
            </a:r>
          </a:p>
        </p:txBody>
      </p:sp>
      <p:sp>
        <p:nvSpPr>
          <p:cNvPr id="17" name="Rounded Rectangle 16"/>
          <p:cNvSpPr/>
          <p:nvPr/>
        </p:nvSpPr>
        <p:spPr>
          <a:xfrm>
            <a:off x="4343400" y="3931920"/>
            <a:ext cx="3566160" cy="2103120"/>
          </a:xfrm>
          <a:prstGeom prst="roundRect">
            <a:avLst>
              <a:gd name="adj" fmla="val 8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0" y="4096511"/>
            <a:ext cx="31089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Ba mức quy mô</a:t>
            </a:r>
          </a:p>
        </p:txBody>
      </p:sp>
      <p:sp>
        <p:nvSpPr>
          <p:cNvPr id="19" name="TextBox 18"/>
          <p:cNvSpPr txBox="1"/>
          <p:nvPr/>
        </p:nvSpPr>
        <p:spPr>
          <a:xfrm>
            <a:off x="4572000" y="4663440"/>
            <a:ext cx="3108960" cy="1234439"/>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100 ⊂ 1K ⊂ 10K mẫu</a:t>
            </a:r>
          </a:p>
          <a:p>
            <a:pPr marL="292608" indent="-292608">
              <a:lnSpc>
                <a:spcPct val="108000"/>
              </a:lnSpc>
              <a:spcAft>
                <a:spcPts val="600"/>
              </a:spcAft>
              <a:buClr>
                <a:srgbClr val="1E6FE8"/>
              </a:buClr>
              <a:buFont typeface="Helvetica"/>
              <a:buChar char="•"/>
            </a:pPr>
            <a:r>
              <a:rPr sz="2100" b="0" i="0">
                <a:solidFill>
                  <a:srgbClr val="0F1C3F"/>
                </a:solidFill>
                <a:latin typeface="Helvetica"/>
              </a:rPr>
              <a:t>Hold-out: 284 · 2.907</a:t>
            </a:r>
          </a:p>
        </p:txBody>
      </p:sp>
      <p:sp>
        <p:nvSpPr>
          <p:cNvPr id="20" name="Rounded Rectangle 19"/>
          <p:cNvSpPr/>
          <p:nvPr/>
        </p:nvSpPr>
        <p:spPr>
          <a:xfrm>
            <a:off x="8138160" y="3931920"/>
            <a:ext cx="3474720" cy="210312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60" y="4096511"/>
            <a:ext cx="301752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Provenance</a:t>
            </a:r>
          </a:p>
        </p:txBody>
      </p:sp>
      <p:sp>
        <p:nvSpPr>
          <p:cNvPr id="22" name="TextBox 21"/>
          <p:cNvSpPr txBox="1"/>
          <p:nvPr/>
        </p:nvSpPr>
        <p:spPr>
          <a:xfrm>
            <a:off x="8366760" y="4663440"/>
            <a:ext cx="3017520" cy="1234439"/>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Nguồn MIT, checksum</a:t>
            </a:r>
          </a:p>
          <a:p>
            <a:pPr marL="292608" indent="-292608">
              <a:lnSpc>
                <a:spcPct val="108000"/>
              </a:lnSpc>
              <a:spcAft>
                <a:spcPts val="600"/>
              </a:spcAft>
              <a:buClr>
                <a:srgbClr val="1E6FE8"/>
              </a:buClr>
              <a:buFont typeface="Helvetica"/>
              <a:buChar char="•"/>
            </a:pPr>
            <a:r>
              <a:rPr sz="2100" b="0" i="0">
                <a:solidFill>
                  <a:srgbClr val="0F1C3F"/>
                </a:solidFill>
                <a:latin typeface="Helvetica"/>
              </a:rPr>
              <a:t>Run record mỗi lần</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1828800" y="-1828800"/>
            <a:ext cx="3657600" cy="365760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54864" y="310896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Mỗi bản sửa phải qua Lean và kiểm toán trước khi được chấp nhận</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6</a:t>
            </a:r>
          </a:p>
        </p:txBody>
      </p:sp>
      <p:sp>
        <p:nvSpPr>
          <p:cNvPr id="6" name="Rounded Rectangle 5"/>
          <p:cNvSpPr/>
          <p:nvPr/>
        </p:nvSpPr>
        <p:spPr>
          <a:xfrm>
            <a:off x="548640" y="1874519"/>
            <a:ext cx="1828800" cy="114300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947672"/>
            <a:ext cx="1682496" cy="996696"/>
          </a:xfrm>
          <a:prstGeom prst="rect">
            <a:avLst/>
          </a:prstGeom>
          <a:noFill/>
        </p:spPr>
        <p:txBody>
          <a:bodyPr wrap="square" anchor="ctr" lIns="45720" rIns="45720" tIns="27432" bIns="27432">
            <a:spAutoFit/>
          </a:bodyPr>
          <a:lstStyle/>
          <a:p>
            <a:pPr algn="ctr">
              <a:lnSpc>
                <a:spcPct val="110000"/>
              </a:lnSpc>
            </a:pPr>
            <a:r>
              <a:rPr sz="2000" b="1" i="0">
                <a:solidFill>
                  <a:srgbClr val="144FB0"/>
                </a:solidFill>
                <a:latin typeface="Helvetica"/>
              </a:rPr>
              <a:t>Parser +</a:t>
            </a:r>
          </a:p>
          <a:p>
            <a:pPr algn="ctr">
              <a:lnSpc>
                <a:spcPct val="110000"/>
              </a:lnSpc>
            </a:pPr>
            <a:r>
              <a:rPr sz="2000" b="1" i="0">
                <a:solidFill>
                  <a:srgbClr val="144FB0"/>
                </a:solidFill>
                <a:latin typeface="Helvetica"/>
              </a:rPr>
              <a:t>taxonomy</a:t>
            </a:r>
          </a:p>
        </p:txBody>
      </p:sp>
      <p:sp>
        <p:nvSpPr>
          <p:cNvPr id="8" name="Right Arrow 7"/>
          <p:cNvSpPr/>
          <p:nvPr/>
        </p:nvSpPr>
        <p:spPr>
          <a:xfrm>
            <a:off x="2432304" y="2299715"/>
            <a:ext cx="347472" cy="292608"/>
          </a:xfrm>
          <a:prstGeom prst="rightArrow">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834640" y="1874519"/>
            <a:ext cx="1828800" cy="114300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07792" y="1947672"/>
            <a:ext cx="1682496" cy="996696"/>
          </a:xfrm>
          <a:prstGeom prst="rect">
            <a:avLst/>
          </a:prstGeom>
          <a:noFill/>
        </p:spPr>
        <p:txBody>
          <a:bodyPr wrap="square" anchor="ctr" lIns="45720" rIns="45720" tIns="27432" bIns="27432">
            <a:spAutoFit/>
          </a:bodyPr>
          <a:lstStyle/>
          <a:p>
            <a:pPr algn="ctr">
              <a:lnSpc>
                <a:spcPct val="110000"/>
              </a:lnSpc>
            </a:pPr>
            <a:r>
              <a:rPr sz="2000" b="1" i="0">
                <a:solidFill>
                  <a:srgbClr val="144FB0"/>
                </a:solidFill>
                <a:latin typeface="Helvetica"/>
              </a:rPr>
              <a:t>Router</a:t>
            </a:r>
          </a:p>
        </p:txBody>
      </p:sp>
      <p:sp>
        <p:nvSpPr>
          <p:cNvPr id="11" name="Right Arrow 10"/>
          <p:cNvSpPr/>
          <p:nvPr/>
        </p:nvSpPr>
        <p:spPr>
          <a:xfrm>
            <a:off x="4718303" y="2299715"/>
            <a:ext cx="347472" cy="292608"/>
          </a:xfrm>
          <a:prstGeom prst="rightArrow">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120640" y="1874519"/>
            <a:ext cx="1828800" cy="114300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93792" y="1947672"/>
            <a:ext cx="1682496" cy="996696"/>
          </a:xfrm>
          <a:prstGeom prst="rect">
            <a:avLst/>
          </a:prstGeom>
          <a:noFill/>
        </p:spPr>
        <p:txBody>
          <a:bodyPr wrap="square" anchor="ctr" lIns="45720" rIns="45720" tIns="27432" bIns="27432">
            <a:spAutoFit/>
          </a:bodyPr>
          <a:lstStyle/>
          <a:p>
            <a:pPr algn="ctr">
              <a:lnSpc>
                <a:spcPct val="110000"/>
              </a:lnSpc>
            </a:pPr>
            <a:r>
              <a:rPr sz="2000" b="1" i="0">
                <a:solidFill>
                  <a:srgbClr val="144FB0"/>
                </a:solidFill>
                <a:latin typeface="Helvetica"/>
              </a:rPr>
              <a:t>Luật / LLM</a:t>
            </a:r>
          </a:p>
        </p:txBody>
      </p:sp>
      <p:sp>
        <p:nvSpPr>
          <p:cNvPr id="14" name="Right Arrow 13"/>
          <p:cNvSpPr/>
          <p:nvPr/>
        </p:nvSpPr>
        <p:spPr>
          <a:xfrm>
            <a:off x="7004303" y="2299715"/>
            <a:ext cx="347472" cy="292608"/>
          </a:xfrm>
          <a:prstGeom prst="rightArrow">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406640" y="1874519"/>
            <a:ext cx="1828800" cy="114300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79792" y="1947672"/>
            <a:ext cx="1682496" cy="996696"/>
          </a:xfrm>
          <a:prstGeom prst="rect">
            <a:avLst/>
          </a:prstGeom>
          <a:noFill/>
        </p:spPr>
        <p:txBody>
          <a:bodyPr wrap="square" anchor="ctr" lIns="45720" rIns="45720" tIns="27432" bIns="27432">
            <a:spAutoFit/>
          </a:bodyPr>
          <a:lstStyle/>
          <a:p>
            <a:pPr algn="ctr">
              <a:lnSpc>
                <a:spcPct val="110000"/>
              </a:lnSpc>
            </a:pPr>
            <a:r>
              <a:rPr sz="2000" b="1" i="0">
                <a:solidFill>
                  <a:srgbClr val="144FB0"/>
                </a:solidFill>
                <a:latin typeface="Helvetica"/>
              </a:rPr>
              <a:t>Lean REPL</a:t>
            </a:r>
          </a:p>
        </p:txBody>
      </p:sp>
      <p:sp>
        <p:nvSpPr>
          <p:cNvPr id="17" name="Right Arrow 16"/>
          <p:cNvSpPr/>
          <p:nvPr/>
        </p:nvSpPr>
        <p:spPr>
          <a:xfrm>
            <a:off x="9290304" y="2299715"/>
            <a:ext cx="347472" cy="292608"/>
          </a:xfrm>
          <a:prstGeom prst="rightArrow">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692640" y="1874519"/>
            <a:ext cx="1828800" cy="1143000"/>
          </a:xfrm>
          <a:prstGeom prst="roundRect">
            <a:avLst>
              <a:gd name="adj" fmla="val 8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65792" y="1947672"/>
            <a:ext cx="1682496" cy="996696"/>
          </a:xfrm>
          <a:prstGeom prst="rect">
            <a:avLst/>
          </a:prstGeom>
          <a:noFill/>
        </p:spPr>
        <p:txBody>
          <a:bodyPr wrap="square" anchor="ctr" lIns="45720" rIns="45720" tIns="27432" bIns="27432">
            <a:spAutoFit/>
          </a:bodyPr>
          <a:lstStyle/>
          <a:p>
            <a:pPr algn="ctr">
              <a:lnSpc>
                <a:spcPct val="110000"/>
              </a:lnSpc>
            </a:pPr>
            <a:r>
              <a:rPr sz="2000" b="1" i="0">
                <a:solidFill>
                  <a:srgbClr val="144FB0"/>
                </a:solidFill>
                <a:latin typeface="Helvetica"/>
              </a:rPr>
              <a:t>Kiểm toán</a:t>
            </a:r>
          </a:p>
        </p:txBody>
      </p:sp>
      <p:sp>
        <p:nvSpPr>
          <p:cNvPr id="20" name="Rounded Rectangle 19"/>
          <p:cNvSpPr/>
          <p:nvPr/>
        </p:nvSpPr>
        <p:spPr>
          <a:xfrm>
            <a:off x="548640" y="3429000"/>
            <a:ext cx="3566160" cy="251460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3593592"/>
            <a:ext cx="31089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7 nhóm lỗi</a:t>
            </a:r>
          </a:p>
        </p:txBody>
      </p:sp>
      <p:sp>
        <p:nvSpPr>
          <p:cNvPr id="22" name="TextBox 21"/>
          <p:cNvSpPr txBox="1"/>
          <p:nvPr/>
        </p:nvSpPr>
        <p:spPr>
          <a:xfrm>
            <a:off x="777240" y="4160520"/>
            <a:ext cx="3108960" cy="164592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Cú pháp, import, định danh</a:t>
            </a:r>
          </a:p>
          <a:p>
            <a:pPr marL="292608" indent="-292608">
              <a:lnSpc>
                <a:spcPct val="108000"/>
              </a:lnSpc>
              <a:spcAft>
                <a:spcPts val="600"/>
              </a:spcAft>
              <a:buClr>
                <a:srgbClr val="1E6FE8"/>
              </a:buClr>
              <a:buFont typeface="Helvetica"/>
              <a:buChar char="•"/>
            </a:pPr>
            <a:r>
              <a:rPr sz="2100" b="0" i="0">
                <a:solidFill>
                  <a:srgbClr val="0F1C3F"/>
                </a:solidFill>
                <a:latin typeface="Helvetica"/>
              </a:rPr>
              <a:t>Kiểu, timeout, sorry</a:t>
            </a:r>
          </a:p>
          <a:p>
            <a:pPr marL="292608" indent="-292608">
              <a:lnSpc>
                <a:spcPct val="108000"/>
              </a:lnSpc>
              <a:spcAft>
                <a:spcPts val="600"/>
              </a:spcAft>
              <a:buClr>
                <a:srgbClr val="1E6FE8"/>
              </a:buClr>
              <a:buFont typeface="Helvetica"/>
              <a:buChar char="•"/>
            </a:pPr>
            <a:r>
              <a:rPr sz="2100" b="0" i="0">
                <a:solidFill>
                  <a:srgbClr val="0F1C3F"/>
                </a:solidFill>
                <a:latin typeface="Helvetica"/>
              </a:rPr>
              <a:t>Tactic thất bại, nhóm mới</a:t>
            </a:r>
          </a:p>
        </p:txBody>
      </p:sp>
      <p:sp>
        <p:nvSpPr>
          <p:cNvPr id="23" name="Rounded Rectangle 22"/>
          <p:cNvSpPr/>
          <p:nvPr/>
        </p:nvSpPr>
        <p:spPr>
          <a:xfrm>
            <a:off x="4343400" y="3429000"/>
            <a:ext cx="3566160" cy="251460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3593592"/>
            <a:ext cx="31089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Vòng lặp có giới hạn</a:t>
            </a:r>
          </a:p>
        </p:txBody>
      </p:sp>
      <p:sp>
        <p:nvSpPr>
          <p:cNvPr id="25" name="TextBox 24"/>
          <p:cNvSpPr txBox="1"/>
          <p:nvPr/>
        </p:nvSpPr>
        <p:spPr>
          <a:xfrm>
            <a:off x="4572000" y="4160520"/>
            <a:ext cx="3108960" cy="164592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Tối đa k = 1 hoặc 3 lần</a:t>
            </a:r>
          </a:p>
          <a:p>
            <a:pPr marL="292608" indent="-292608">
              <a:lnSpc>
                <a:spcPct val="108000"/>
              </a:lnSpc>
              <a:spcAft>
                <a:spcPts val="600"/>
              </a:spcAft>
              <a:buClr>
                <a:srgbClr val="1E6FE8"/>
              </a:buClr>
              <a:buFont typeface="Helvetica"/>
              <a:buChar char="•"/>
            </a:pPr>
            <a:r>
              <a:rPr sz="2100" b="0" i="0">
                <a:solidFill>
                  <a:srgbClr val="0F1C3F"/>
                </a:solidFill>
                <a:latin typeface="Helvetica"/>
              </a:rPr>
              <a:t>300 s mỗi mẫu</a:t>
            </a:r>
          </a:p>
          <a:p>
            <a:pPr marL="292608" indent="-292608">
              <a:lnSpc>
                <a:spcPct val="108000"/>
              </a:lnSpc>
              <a:spcAft>
                <a:spcPts val="600"/>
              </a:spcAft>
              <a:buClr>
                <a:srgbClr val="1E6FE8"/>
              </a:buClr>
              <a:buFont typeface="Helvetica"/>
              <a:buChar char="•"/>
            </a:pPr>
            <a:r>
              <a:rPr sz="2100" b="0" i="0">
                <a:solidFill>
                  <a:srgbClr val="0F1C3F"/>
                </a:solidFill>
                <a:latin typeface="Helvetica"/>
              </a:rPr>
              <a:t>Dừng nếu ứng viên lặp</a:t>
            </a:r>
          </a:p>
        </p:txBody>
      </p:sp>
      <p:sp>
        <p:nvSpPr>
          <p:cNvPr id="26" name="Rounded Rectangle 25"/>
          <p:cNvSpPr/>
          <p:nvPr/>
        </p:nvSpPr>
        <p:spPr>
          <a:xfrm>
            <a:off x="8138160" y="3429000"/>
            <a:ext cx="3474720" cy="2514600"/>
          </a:xfrm>
          <a:prstGeom prst="roundRect">
            <a:avLst>
              <a:gd name="adj" fmla="val 8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66760" y="3593592"/>
            <a:ext cx="301752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Kiểm toán</a:t>
            </a:r>
          </a:p>
        </p:txBody>
      </p:sp>
      <p:sp>
        <p:nvSpPr>
          <p:cNvPr id="28" name="TextBox 27"/>
          <p:cNvSpPr txBox="1"/>
          <p:nvPr/>
        </p:nvSpPr>
        <p:spPr>
          <a:xfrm>
            <a:off x="8366760" y="4160520"/>
            <a:ext cx="3017520" cy="164592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Lean chấp nhận</a:t>
            </a:r>
          </a:p>
          <a:p>
            <a:pPr marL="292608" indent="-292608">
              <a:lnSpc>
                <a:spcPct val="108000"/>
              </a:lnSpc>
              <a:spcAft>
                <a:spcPts val="600"/>
              </a:spcAft>
              <a:buClr>
                <a:srgbClr val="1E6FE8"/>
              </a:buClr>
              <a:buFont typeface="Helvetica"/>
              <a:buChar char="•"/>
            </a:pPr>
            <a:r>
              <a:rPr sz="2100" b="0" i="0">
                <a:solidFill>
                  <a:srgbClr val="0F1C3F"/>
                </a:solidFill>
                <a:latin typeface="Helvetica"/>
              </a:rPr>
              <a:t>Không sorry / axiom</a:t>
            </a:r>
          </a:p>
          <a:p>
            <a:pPr marL="292608" indent="-292608">
              <a:lnSpc>
                <a:spcPct val="108000"/>
              </a:lnSpc>
              <a:spcAft>
                <a:spcPts val="600"/>
              </a:spcAft>
              <a:buClr>
                <a:srgbClr val="1E6FE8"/>
              </a:buClr>
              <a:buFont typeface="Helvetica"/>
              <a:buChar char="•"/>
            </a:pPr>
            <a:r>
              <a:rPr sz="2100" b="0" i="0">
                <a:solidFill>
                  <a:srgbClr val="0F1C3F"/>
                </a:solidFill>
                <a:latin typeface="Helvetica"/>
              </a:rPr>
              <a:t>Giữ nguyên phát biểu</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9966960" y="4389120"/>
            <a:ext cx="3474720" cy="347472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11704320" y="384048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Demo: lỗi → phân loại → sửa → Lean kiểm tra → kiểm toán</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7</a:t>
            </a:r>
          </a:p>
        </p:txBody>
      </p:sp>
      <p:sp>
        <p:nvSpPr>
          <p:cNvPr id="6" name="Rounded Rectangle 5"/>
          <p:cNvSpPr/>
          <p:nvPr/>
        </p:nvSpPr>
        <p:spPr>
          <a:xfrm>
            <a:off x="548640" y="1737360"/>
            <a:ext cx="3566160" cy="420624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01952"/>
            <a:ext cx="31089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E000880 · luật</a:t>
            </a:r>
          </a:p>
        </p:txBody>
      </p:sp>
      <p:sp>
        <p:nvSpPr>
          <p:cNvPr id="8" name="TextBox 7"/>
          <p:cNvSpPr txBox="1"/>
          <p:nvPr/>
        </p:nvSpPr>
        <p:spPr>
          <a:xfrm>
            <a:off x="777240" y="2468880"/>
            <a:ext cx="3108960" cy="3337559"/>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Thiếu import Mathlib</a:t>
            </a:r>
          </a:p>
          <a:p>
            <a:pPr marL="292608" indent="-292608">
              <a:lnSpc>
                <a:spcPct val="108000"/>
              </a:lnSpc>
              <a:spcAft>
                <a:spcPts val="600"/>
              </a:spcAft>
              <a:buClr>
                <a:srgbClr val="1E6FE8"/>
              </a:buClr>
              <a:buFont typeface="Helvetica"/>
              <a:buChar char="•"/>
            </a:pPr>
            <a:r>
              <a:rPr sz="2100" b="0" i="0">
                <a:solidFill>
                  <a:srgbClr val="0F1C3F"/>
                </a:solidFill>
                <a:latin typeface="Helvetica"/>
              </a:rPr>
              <a:t>R0 sửa, Lean OK</a:t>
            </a:r>
          </a:p>
          <a:p>
            <a:pPr marL="292608" indent="-292608">
              <a:lnSpc>
                <a:spcPct val="108000"/>
              </a:lnSpc>
              <a:spcAft>
                <a:spcPts val="600"/>
              </a:spcAft>
              <a:buClr>
                <a:srgbClr val="1E6FE8"/>
              </a:buClr>
              <a:buFont typeface="Helvetica"/>
              <a:buChar char="•"/>
            </a:pPr>
            <a:r>
              <a:rPr sz="2100" b="0" i="0">
                <a:solidFill>
                  <a:srgbClr val="0F1C3F"/>
                </a:solidFill>
                <a:latin typeface="Helvetica"/>
              </a:rPr>
              <a:t>0 token · 73 ms</a:t>
            </a:r>
          </a:p>
        </p:txBody>
      </p:sp>
      <p:sp>
        <p:nvSpPr>
          <p:cNvPr id="9" name="Rounded Rectangle 8"/>
          <p:cNvSpPr/>
          <p:nvPr/>
        </p:nvSpPr>
        <p:spPr>
          <a:xfrm>
            <a:off x="4343400" y="1737360"/>
            <a:ext cx="3566160" cy="4206240"/>
          </a:xfrm>
          <a:prstGeom prst="roundRect">
            <a:avLst>
              <a:gd name="adj" fmla="val 8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901952"/>
            <a:ext cx="31089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E000003 · LLM</a:t>
            </a:r>
          </a:p>
        </p:txBody>
      </p:sp>
      <p:sp>
        <p:nvSpPr>
          <p:cNvPr id="11" name="TextBox 10"/>
          <p:cNvSpPr txBox="1"/>
          <p:nvPr/>
        </p:nvSpPr>
        <p:spPr>
          <a:xfrm>
            <a:off x="4572000" y="2468880"/>
            <a:ext cx="3108960" cy="3337559"/>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Lần 1: dùng sorry → bị chặn</a:t>
            </a:r>
          </a:p>
          <a:p>
            <a:pPr marL="292608" indent="-292608">
              <a:lnSpc>
                <a:spcPct val="108000"/>
              </a:lnSpc>
              <a:spcAft>
                <a:spcPts val="600"/>
              </a:spcAft>
              <a:buClr>
                <a:srgbClr val="1E6FE8"/>
              </a:buClr>
              <a:buFont typeface="Helvetica"/>
              <a:buChar char="•"/>
            </a:pPr>
            <a:r>
              <a:rPr sz="2100" b="0" i="0">
                <a:solidFill>
                  <a:srgbClr val="0F1C3F"/>
                </a:solidFill>
                <a:latin typeface="Helvetica"/>
              </a:rPr>
              <a:t>Lần 2: không biên dịch</a:t>
            </a:r>
          </a:p>
          <a:p>
            <a:pPr marL="292608" indent="-292608">
              <a:lnSpc>
                <a:spcPct val="108000"/>
              </a:lnSpc>
              <a:spcAft>
                <a:spcPts val="600"/>
              </a:spcAft>
              <a:buClr>
                <a:srgbClr val="1E6FE8"/>
              </a:buClr>
              <a:buFont typeface="Helvetica"/>
              <a:buChar char="•"/>
            </a:pPr>
            <a:r>
              <a:rPr sz="2100" b="0" i="0">
                <a:solidFill>
                  <a:srgbClr val="0F1C3F"/>
                </a:solidFill>
                <a:latin typeface="Helvetica"/>
              </a:rPr>
              <a:t>Lần 3: đúng · 4.583 token</a:t>
            </a:r>
          </a:p>
        </p:txBody>
      </p:sp>
      <p:sp>
        <p:nvSpPr>
          <p:cNvPr id="12" name="Rounded Rectangle 11"/>
          <p:cNvSpPr/>
          <p:nvPr/>
        </p:nvSpPr>
        <p:spPr>
          <a:xfrm>
            <a:off x="8138160" y="1737360"/>
            <a:ext cx="3566160" cy="420624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60" y="1901952"/>
            <a:ext cx="31089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E000197 · vòng lặp</a:t>
            </a:r>
          </a:p>
        </p:txBody>
      </p:sp>
      <p:sp>
        <p:nvSpPr>
          <p:cNvPr id="14" name="TextBox 13"/>
          <p:cNvSpPr txBox="1"/>
          <p:nvPr/>
        </p:nvSpPr>
        <p:spPr>
          <a:xfrm>
            <a:off x="8366760" y="2468880"/>
            <a:ext cx="3108960" cy="3337559"/>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Chứng minh là sorry</a:t>
            </a:r>
          </a:p>
          <a:p>
            <a:pPr marL="292608" indent="-292608">
              <a:lnSpc>
                <a:spcPct val="108000"/>
              </a:lnSpc>
              <a:spcAft>
                <a:spcPts val="600"/>
              </a:spcAft>
              <a:buClr>
                <a:srgbClr val="1E6FE8"/>
              </a:buClr>
              <a:buFont typeface="Helvetica"/>
              <a:buChar char="•"/>
            </a:pPr>
            <a:r>
              <a:rPr sz="2100" b="0" i="0">
                <a:solidFill>
                  <a:srgbClr val="0F1C3F"/>
                </a:solidFill>
                <a:latin typeface="Helvetica"/>
              </a:rPr>
              <a:t>Lần 1 sai, lần 2 đúng</a:t>
            </a:r>
          </a:p>
          <a:p>
            <a:pPr marL="292608" indent="-292608">
              <a:lnSpc>
                <a:spcPct val="108000"/>
              </a:lnSpc>
              <a:spcAft>
                <a:spcPts val="600"/>
              </a:spcAft>
              <a:buClr>
                <a:srgbClr val="1E6FE8"/>
              </a:buClr>
              <a:buFont typeface="Helvetica"/>
              <a:buChar char="•"/>
            </a:pPr>
            <a:r>
              <a:rPr sz="2100" b="0" i="0">
                <a:solidFill>
                  <a:srgbClr val="0F1C3F"/>
                </a:solidFill>
                <a:latin typeface="Helvetica"/>
              </a:rPr>
              <a:t>779 token</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10241280" y="-2011680"/>
            <a:ext cx="3840480" cy="384048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11247120" y="50292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Cùng dữ liệu, phần cứng và seed, chỉ đổi chiến lược</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8</a:t>
            </a:r>
          </a:p>
        </p:txBody>
      </p:sp>
      <p:sp>
        <p:nvSpPr>
          <p:cNvPr id="6" name="Rounded Rectangle 5"/>
          <p:cNvSpPr/>
          <p:nvPr/>
        </p:nvSpPr>
        <p:spPr>
          <a:xfrm>
            <a:off x="548640" y="1737360"/>
            <a:ext cx="3566160" cy="320040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01952"/>
            <a:ext cx="31089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Chiến lược</a:t>
            </a:r>
          </a:p>
        </p:txBody>
      </p:sp>
      <p:sp>
        <p:nvSpPr>
          <p:cNvPr id="8" name="TextBox 7"/>
          <p:cNvSpPr txBox="1"/>
          <p:nvPr/>
        </p:nvSpPr>
        <p:spPr>
          <a:xfrm>
            <a:off x="777240" y="2468880"/>
            <a:ext cx="3108960" cy="233172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Không sửa · chỉ luật</a:t>
            </a:r>
          </a:p>
          <a:p>
            <a:pPr marL="292608" indent="-292608">
              <a:lnSpc>
                <a:spcPct val="108000"/>
              </a:lnSpc>
              <a:spcAft>
                <a:spcPts val="600"/>
              </a:spcAft>
              <a:buClr>
                <a:srgbClr val="1E6FE8"/>
              </a:buClr>
              <a:buFont typeface="Helvetica"/>
              <a:buChar char="•"/>
            </a:pPr>
            <a:r>
              <a:rPr sz="2100" b="0" i="0">
                <a:solidFill>
                  <a:srgbClr val="0F1C3F"/>
                </a:solidFill>
                <a:latin typeface="Helvetica"/>
              </a:rPr>
              <a:t>Blind là baseline</a:t>
            </a:r>
          </a:p>
          <a:p>
            <a:pPr marL="292608" indent="-292608">
              <a:lnSpc>
                <a:spcPct val="108000"/>
              </a:lnSpc>
              <a:spcAft>
                <a:spcPts val="600"/>
              </a:spcAft>
              <a:buClr>
                <a:srgbClr val="1E6FE8"/>
              </a:buClr>
              <a:buFont typeface="Helvetica"/>
              <a:buChar char="•"/>
            </a:pPr>
            <a:r>
              <a:rPr sz="2100" b="0" i="0">
                <a:solidFill>
                  <a:srgbClr val="0F1C3F"/>
                </a:solidFill>
                <a:latin typeface="Helvetica"/>
              </a:rPr>
              <a:t>LLM + chẩn đoán · lai</a:t>
            </a:r>
          </a:p>
        </p:txBody>
      </p:sp>
      <p:sp>
        <p:nvSpPr>
          <p:cNvPr id="9" name="Rounded Rectangle 8"/>
          <p:cNvSpPr/>
          <p:nvPr/>
        </p:nvSpPr>
        <p:spPr>
          <a:xfrm>
            <a:off x="4343400" y="1737360"/>
            <a:ext cx="3566160" cy="320040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901952"/>
            <a:ext cx="31089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Ma trận</a:t>
            </a:r>
          </a:p>
        </p:txBody>
      </p:sp>
      <p:sp>
        <p:nvSpPr>
          <p:cNvPr id="11" name="TextBox 10"/>
          <p:cNvSpPr txBox="1"/>
          <p:nvPr/>
        </p:nvSpPr>
        <p:spPr>
          <a:xfrm>
            <a:off x="4572000" y="2468880"/>
            <a:ext cx="3108960" cy="233172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k = 0 / 1 / 3</a:t>
            </a:r>
          </a:p>
          <a:p>
            <a:pPr marL="292608" indent="-292608">
              <a:lnSpc>
                <a:spcPct val="108000"/>
              </a:lnSpc>
              <a:spcAft>
                <a:spcPts val="600"/>
              </a:spcAft>
              <a:buClr>
                <a:srgbClr val="1E6FE8"/>
              </a:buClr>
              <a:buFont typeface="Helvetica"/>
              <a:buChar char="•"/>
            </a:pPr>
            <a:r>
              <a:rPr sz="2100" b="0" i="0">
                <a:solidFill>
                  <a:srgbClr val="0F1C3F"/>
                </a:solidFill>
                <a:latin typeface="Helvetica"/>
              </a:rPr>
              <a:t>100 / 1K / 10K mẫu</a:t>
            </a:r>
          </a:p>
          <a:p>
            <a:pPr marL="292608" indent="-292608">
              <a:lnSpc>
                <a:spcPct val="108000"/>
              </a:lnSpc>
              <a:spcAft>
                <a:spcPts val="600"/>
              </a:spcAft>
              <a:buClr>
                <a:srgbClr val="1E6FE8"/>
              </a:buClr>
              <a:buFont typeface="Helvetica"/>
              <a:buChar char="•"/>
            </a:pPr>
            <a:r>
              <a:rPr sz="2100" b="0" i="0">
                <a:solidFill>
                  <a:srgbClr val="0F1C3F"/>
                </a:solidFill>
                <a:latin typeface="Helvetica"/>
              </a:rPr>
              <a:t>1 / 2 / 4 worker · 3 lần</a:t>
            </a:r>
          </a:p>
        </p:txBody>
      </p:sp>
      <p:sp>
        <p:nvSpPr>
          <p:cNvPr id="12" name="Rounded Rectangle 11"/>
          <p:cNvSpPr/>
          <p:nvPr/>
        </p:nvSpPr>
        <p:spPr>
          <a:xfrm>
            <a:off x="8138160" y="1737360"/>
            <a:ext cx="3566160" cy="3200400"/>
          </a:xfrm>
          <a:prstGeom prst="roundRect">
            <a:avLst>
              <a:gd name="adj" fmla="val 8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60" y="1901952"/>
            <a:ext cx="31089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Môi trường</a:t>
            </a:r>
          </a:p>
        </p:txBody>
      </p:sp>
      <p:sp>
        <p:nvSpPr>
          <p:cNvPr id="14" name="TextBox 13"/>
          <p:cNvSpPr txBox="1"/>
          <p:nvPr/>
        </p:nvSpPr>
        <p:spPr>
          <a:xfrm>
            <a:off x="8366760" y="2468880"/>
            <a:ext cx="3108960" cy="233172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Kaggle 4 vCPU, 31 GB</a:t>
            </a:r>
          </a:p>
          <a:p>
            <a:pPr marL="292608" indent="-292608">
              <a:lnSpc>
                <a:spcPct val="108000"/>
              </a:lnSpc>
              <a:spcAft>
                <a:spcPts val="600"/>
              </a:spcAft>
              <a:buClr>
                <a:srgbClr val="1E6FE8"/>
              </a:buClr>
              <a:buFont typeface="Helvetica"/>
              <a:buChar char="•"/>
            </a:pPr>
            <a:r>
              <a:rPr sz="2100" b="0" i="0">
                <a:solidFill>
                  <a:srgbClr val="0F1C3F"/>
                </a:solidFill>
                <a:latin typeface="Helvetica"/>
              </a:rPr>
              <a:t>Lean 4.35 + Mathlib</a:t>
            </a:r>
          </a:p>
          <a:p>
            <a:pPr marL="292608" indent="-292608">
              <a:lnSpc>
                <a:spcPct val="108000"/>
              </a:lnSpc>
              <a:spcAft>
                <a:spcPts val="600"/>
              </a:spcAft>
              <a:buClr>
                <a:srgbClr val="1E6FE8"/>
              </a:buClr>
              <a:buFont typeface="Helvetica"/>
              <a:buChar char="•"/>
            </a:pPr>
            <a:r>
              <a:rPr sz="2100" b="0" i="0">
                <a:solidFill>
                  <a:srgbClr val="0F1C3F"/>
                </a:solidFill>
                <a:latin typeface="Helvetica"/>
              </a:rPr>
              <a:t>Gemini Flash-Lite</a:t>
            </a:r>
          </a:p>
        </p:txBody>
      </p:sp>
      <p:sp>
        <p:nvSpPr>
          <p:cNvPr id="15" name="TextBox 14"/>
          <p:cNvSpPr txBox="1"/>
          <p:nvPr/>
        </p:nvSpPr>
        <p:spPr>
          <a:xfrm>
            <a:off x="548640" y="5212080"/>
            <a:ext cx="11064240" cy="7315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Tổng chi phí API cho toàn bộ thực nghiệm: </a:t>
            </a:r>
            <a:r>
              <a:rPr sz="2200" b="1" i="0">
                <a:solidFill>
                  <a:srgbClr val="0F1C3F"/>
                </a:solidFill>
                <a:latin typeface="Helvetica"/>
              </a:rPr>
              <a:t>$2,97</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1645920" y="4206240"/>
            <a:ext cx="3657600" cy="365760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54864" y="603504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Kết quả: chẩn đoán vừa tốt hơn vừa rẻ hơn, REPL gỡ nút thắt kiểm chứng</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9</a:t>
            </a:r>
          </a:p>
        </p:txBody>
      </p:sp>
      <p:sp>
        <p:nvSpPr>
          <p:cNvPr id="6" name="Rounded Rectangle 5"/>
          <p:cNvSpPr/>
          <p:nvPr/>
        </p:nvSpPr>
        <p:spPr>
          <a:xfrm>
            <a:off x="548640" y="1691640"/>
            <a:ext cx="3566160" cy="434340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28800"/>
            <a:ext cx="3108960" cy="45720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RQ1 · Thông báo lỗi</a:t>
            </a:r>
          </a:p>
        </p:txBody>
      </p:sp>
      <p:sp>
        <p:nvSpPr>
          <p:cNvPr id="8" name="TextBox 7"/>
          <p:cNvSpPr txBox="1"/>
          <p:nvPr/>
        </p:nvSpPr>
        <p:spPr>
          <a:xfrm>
            <a:off x="777240" y="2331720"/>
            <a:ext cx="3200400" cy="777240"/>
          </a:xfrm>
          <a:prstGeom prst="rect">
            <a:avLst/>
          </a:prstGeom>
          <a:noFill/>
        </p:spPr>
        <p:txBody>
          <a:bodyPr wrap="square" anchor="t" lIns="45720" rIns="45720" tIns="27432" bIns="27432">
            <a:spAutoFit/>
          </a:bodyPr>
          <a:lstStyle/>
          <a:p>
            <a:pPr algn="l">
              <a:lnSpc>
                <a:spcPct val="110000"/>
              </a:lnSpc>
            </a:pPr>
            <a:r>
              <a:rPr sz="4000" b="1" i="0">
                <a:solidFill>
                  <a:srgbClr val="1E6FE8"/>
                </a:solidFill>
                <a:latin typeface="Helvetica"/>
              </a:rPr>
              <a:t>53,9%</a:t>
            </a:r>
          </a:p>
        </p:txBody>
      </p:sp>
      <p:sp>
        <p:nvSpPr>
          <p:cNvPr id="9" name="TextBox 8"/>
          <p:cNvSpPr txBox="1"/>
          <p:nvPr/>
        </p:nvSpPr>
        <p:spPr>
          <a:xfrm>
            <a:off x="777240" y="3108960"/>
            <a:ext cx="3108960" cy="45720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thành công đã kiểm toán</a:t>
            </a:r>
          </a:p>
        </p:txBody>
      </p:sp>
      <p:sp>
        <p:nvSpPr>
          <p:cNvPr id="10" name="TextBox 9"/>
          <p:cNvSpPr txBox="1"/>
          <p:nvPr/>
        </p:nvSpPr>
        <p:spPr>
          <a:xfrm>
            <a:off x="777240" y="3794760"/>
            <a:ext cx="3154680" cy="2194560"/>
          </a:xfrm>
          <a:prstGeom prst="rect">
            <a:avLst/>
          </a:prstGeom>
          <a:noFill/>
        </p:spPr>
        <p:txBody>
          <a:bodyPr wrap="square">
            <a:spAutoFit/>
          </a:bodyPr>
          <a:lstStyle/>
          <a:p>
            <a:pPr marL="292608" indent="-292608">
              <a:lnSpc>
                <a:spcPct val="108000"/>
              </a:lnSpc>
              <a:spcAft>
                <a:spcPts val="400"/>
              </a:spcAft>
              <a:buClr>
                <a:srgbClr val="1E6FE8"/>
              </a:buClr>
              <a:buFont typeface="Helvetica"/>
              <a:buChar char="•"/>
            </a:pPr>
            <a:r>
              <a:rPr sz="2000" b="0" i="0">
                <a:solidFill>
                  <a:srgbClr val="0F1C3F"/>
                </a:solidFill>
                <a:latin typeface="Helvetica"/>
              </a:rPr>
              <a:t>Baseline 31,7%, cùng k=1</a:t>
            </a:r>
          </a:p>
          <a:p>
            <a:pPr marL="292608" indent="-292608">
              <a:lnSpc>
                <a:spcPct val="108000"/>
              </a:lnSpc>
              <a:spcAft>
                <a:spcPts val="400"/>
              </a:spcAft>
              <a:buClr>
                <a:srgbClr val="1E6FE8"/>
              </a:buClr>
              <a:buFont typeface="Helvetica"/>
              <a:buChar char="•"/>
            </a:pPr>
            <a:r>
              <a:rPr sz="2000" b="0" i="0">
                <a:solidFill>
                  <a:srgbClr val="0F1C3F"/>
                </a:solidFill>
                <a:latin typeface="Helvetica"/>
              </a:rPr>
              <a:t>Rẻ hơn 45%: $1,13 / 1K mẫu</a:t>
            </a:r>
          </a:p>
        </p:txBody>
      </p:sp>
      <p:sp>
        <p:nvSpPr>
          <p:cNvPr id="11" name="Rounded Rectangle 10"/>
          <p:cNvSpPr/>
          <p:nvPr/>
        </p:nvSpPr>
        <p:spPr>
          <a:xfrm>
            <a:off x="4297679" y="1691640"/>
            <a:ext cx="3566160" cy="4343400"/>
          </a:xfrm>
          <a:prstGeom prst="roundRect">
            <a:avLst>
              <a:gd name="adj" fmla="val 8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79" y="1828800"/>
            <a:ext cx="3108960" cy="45720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RQ2 · Chiến lược</a:t>
            </a:r>
          </a:p>
        </p:txBody>
      </p:sp>
      <p:sp>
        <p:nvSpPr>
          <p:cNvPr id="13" name="TextBox 12"/>
          <p:cNvSpPr txBox="1"/>
          <p:nvPr/>
        </p:nvSpPr>
        <p:spPr>
          <a:xfrm>
            <a:off x="4526279" y="2331720"/>
            <a:ext cx="3200400" cy="777240"/>
          </a:xfrm>
          <a:prstGeom prst="rect">
            <a:avLst/>
          </a:prstGeom>
          <a:noFill/>
        </p:spPr>
        <p:txBody>
          <a:bodyPr wrap="square" anchor="t" lIns="45720" rIns="45720" tIns="27432" bIns="27432">
            <a:spAutoFit/>
          </a:bodyPr>
          <a:lstStyle/>
          <a:p>
            <a:pPr algn="l">
              <a:lnSpc>
                <a:spcPct val="110000"/>
              </a:lnSpc>
            </a:pPr>
            <a:r>
              <a:rPr sz="4000" b="1" i="0">
                <a:solidFill>
                  <a:srgbClr val="1E6FE8"/>
                </a:solidFill>
                <a:latin typeface="Helvetica"/>
              </a:rPr>
              <a:t>65,1%</a:t>
            </a:r>
          </a:p>
        </p:txBody>
      </p:sp>
      <p:sp>
        <p:nvSpPr>
          <p:cNvPr id="14" name="TextBox 13"/>
          <p:cNvSpPr txBox="1"/>
          <p:nvPr/>
        </p:nvSpPr>
        <p:spPr>
          <a:xfrm>
            <a:off x="4526279" y="3108960"/>
            <a:ext cx="3108960" cy="45720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LLM + chẩn đoán, k=3</a:t>
            </a:r>
          </a:p>
        </p:txBody>
      </p:sp>
      <p:sp>
        <p:nvSpPr>
          <p:cNvPr id="15" name="TextBox 14"/>
          <p:cNvSpPr txBox="1"/>
          <p:nvPr/>
        </p:nvSpPr>
        <p:spPr>
          <a:xfrm>
            <a:off x="4526279" y="3794760"/>
            <a:ext cx="3154680" cy="2194560"/>
          </a:xfrm>
          <a:prstGeom prst="rect">
            <a:avLst/>
          </a:prstGeom>
          <a:noFill/>
        </p:spPr>
        <p:txBody>
          <a:bodyPr wrap="square">
            <a:spAutoFit/>
          </a:bodyPr>
          <a:lstStyle/>
          <a:p>
            <a:pPr marL="292608" indent="-292608">
              <a:lnSpc>
                <a:spcPct val="108000"/>
              </a:lnSpc>
              <a:spcAft>
                <a:spcPts val="400"/>
              </a:spcAft>
              <a:buClr>
                <a:srgbClr val="1E6FE8"/>
              </a:buClr>
              <a:buFont typeface="Helvetica"/>
              <a:buChar char="•"/>
            </a:pPr>
            <a:r>
              <a:rPr sz="2000" b="0" i="0">
                <a:solidFill>
                  <a:srgbClr val="0F1C3F"/>
                </a:solidFill>
                <a:latin typeface="Helvetica"/>
              </a:rPr>
              <a:t>$2,45 / 1K mẫu</a:t>
            </a:r>
          </a:p>
          <a:p>
            <a:pPr marL="292608" indent="-292608">
              <a:lnSpc>
                <a:spcPct val="108000"/>
              </a:lnSpc>
              <a:spcAft>
                <a:spcPts val="400"/>
              </a:spcAft>
              <a:buClr>
                <a:srgbClr val="1E6FE8"/>
              </a:buClr>
              <a:buFont typeface="Helvetica"/>
              <a:buChar char="•"/>
            </a:pPr>
            <a:r>
              <a:rPr sz="2000" b="0" i="0">
                <a:solidFill>
                  <a:srgbClr val="0F1C3F"/>
                </a:solidFill>
                <a:latin typeface="Helvetica"/>
              </a:rPr>
              <a:t>Lai k=3: 59,5%</a:t>
            </a:r>
          </a:p>
          <a:p>
            <a:pPr marL="292608" indent="-292608">
              <a:lnSpc>
                <a:spcPct val="108000"/>
              </a:lnSpc>
              <a:spcAft>
                <a:spcPts val="400"/>
              </a:spcAft>
              <a:buClr>
                <a:srgbClr val="1E6FE8"/>
              </a:buClr>
              <a:buFont typeface="Helvetica"/>
              <a:buChar char="•"/>
            </a:pPr>
            <a:r>
              <a:rPr sz="2000" b="0" i="0">
                <a:solidFill>
                  <a:srgbClr val="0F1C3F"/>
                </a:solidFill>
                <a:latin typeface="Helvetica"/>
              </a:rPr>
              <a:t>Chỉ luật: 23,9%, $0</a:t>
            </a:r>
          </a:p>
        </p:txBody>
      </p:sp>
      <p:sp>
        <p:nvSpPr>
          <p:cNvPr id="16" name="Rounded Rectangle 15"/>
          <p:cNvSpPr/>
          <p:nvPr/>
        </p:nvSpPr>
        <p:spPr>
          <a:xfrm>
            <a:off x="8046719" y="1691640"/>
            <a:ext cx="3566160" cy="434340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319" y="1828800"/>
            <a:ext cx="3108960" cy="45720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RQ3 · Mở rộng</a:t>
            </a:r>
          </a:p>
        </p:txBody>
      </p:sp>
      <p:sp>
        <p:nvSpPr>
          <p:cNvPr id="18" name="TextBox 17"/>
          <p:cNvSpPr txBox="1"/>
          <p:nvPr/>
        </p:nvSpPr>
        <p:spPr>
          <a:xfrm>
            <a:off x="8275319" y="2331720"/>
            <a:ext cx="3200400" cy="777240"/>
          </a:xfrm>
          <a:prstGeom prst="rect">
            <a:avLst/>
          </a:prstGeom>
          <a:noFill/>
        </p:spPr>
        <p:txBody>
          <a:bodyPr wrap="square" anchor="t" lIns="45720" rIns="45720" tIns="27432" bIns="27432">
            <a:spAutoFit/>
          </a:bodyPr>
          <a:lstStyle/>
          <a:p>
            <a:pPr algn="l">
              <a:lnSpc>
                <a:spcPct val="110000"/>
              </a:lnSpc>
            </a:pPr>
            <a:r>
              <a:rPr sz="4000" b="1" i="0">
                <a:solidFill>
                  <a:srgbClr val="1E6FE8"/>
                </a:solidFill>
                <a:latin typeface="Helvetica"/>
              </a:rPr>
              <a:t>3 ms</a:t>
            </a:r>
          </a:p>
        </p:txBody>
      </p:sp>
      <p:sp>
        <p:nvSpPr>
          <p:cNvPr id="19" name="TextBox 18"/>
          <p:cNvSpPr txBox="1"/>
          <p:nvPr/>
        </p:nvSpPr>
        <p:spPr>
          <a:xfrm>
            <a:off x="8275319" y="3108960"/>
            <a:ext cx="3108960" cy="45720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P50 mỗi định lý với REPL</a:t>
            </a:r>
          </a:p>
        </p:txBody>
      </p:sp>
      <p:sp>
        <p:nvSpPr>
          <p:cNvPr id="20" name="TextBox 19"/>
          <p:cNvSpPr txBox="1"/>
          <p:nvPr/>
        </p:nvSpPr>
        <p:spPr>
          <a:xfrm>
            <a:off x="8275319" y="3794760"/>
            <a:ext cx="3154680" cy="2194560"/>
          </a:xfrm>
          <a:prstGeom prst="rect">
            <a:avLst/>
          </a:prstGeom>
          <a:noFill/>
        </p:spPr>
        <p:txBody>
          <a:bodyPr wrap="square">
            <a:spAutoFit/>
          </a:bodyPr>
          <a:lstStyle/>
          <a:p>
            <a:pPr marL="292608" indent="-292608">
              <a:lnSpc>
                <a:spcPct val="108000"/>
              </a:lnSpc>
              <a:spcAft>
                <a:spcPts val="400"/>
              </a:spcAft>
              <a:buClr>
                <a:srgbClr val="1E6FE8"/>
              </a:buClr>
              <a:buFont typeface="Helvetica"/>
              <a:buChar char="•"/>
            </a:pPr>
            <a:r>
              <a:rPr sz="2000" b="0" i="0">
                <a:solidFill>
                  <a:srgbClr val="0F1C3F"/>
                </a:solidFill>
                <a:latin typeface="Helvetica"/>
              </a:rPr>
              <a:t>Chạy nguội: 63–107 s</a:t>
            </a:r>
          </a:p>
          <a:p>
            <a:pPr marL="292608" indent="-292608">
              <a:lnSpc>
                <a:spcPct val="108000"/>
              </a:lnSpc>
              <a:spcAft>
                <a:spcPts val="400"/>
              </a:spcAft>
              <a:buClr>
                <a:srgbClr val="1E6FE8"/>
              </a:buClr>
              <a:buFont typeface="Helvetica"/>
              <a:buChar char="•"/>
            </a:pPr>
            <a:r>
              <a:rPr sz="2000" b="0" i="0">
                <a:solidFill>
                  <a:srgbClr val="0F1C3F"/>
                </a:solidFill>
                <a:latin typeface="Helvetica"/>
              </a:rPr>
              <a:t>10K: 1,52 → 2,86 mẫu/s</a:t>
            </a:r>
          </a:p>
          <a:p>
            <a:pPr marL="292608" indent="-292608">
              <a:lnSpc>
                <a:spcPct val="108000"/>
              </a:lnSpc>
              <a:spcAft>
                <a:spcPts val="400"/>
              </a:spcAft>
              <a:buClr>
                <a:srgbClr val="1E6FE8"/>
              </a:buClr>
              <a:buFont typeface="Helvetica"/>
              <a:buChar char="•"/>
            </a:pPr>
            <a:r>
              <a:rPr sz="2000" b="0" i="0">
                <a:solidFill>
                  <a:srgbClr val="0F1C3F"/>
                </a:solidFill>
                <a:latin typeface="Helvetica"/>
              </a:rPr>
              <a:t>P95 3,1 → 6,5 s, nghẽn CPU</a:t>
            </a:r>
          </a:p>
        </p:txBody>
      </p:sp>
      <p:sp>
        <p:nvSpPr>
          <p:cNvPr id="21" name="TextBox 20"/>
          <p:cNvSpPr txBox="1"/>
          <p:nvPr/>
        </p:nvSpPr>
        <p:spPr>
          <a:xfrm>
            <a:off x="548640" y="6108192"/>
            <a:ext cx="10058400" cy="41148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Biểu đồ chi tiết: phụ lục P1–P3</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9875520" y="4480560"/>
            <a:ext cx="3474720" cy="347472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11704320" y="310896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Phân tích: luật đúng gần hoàn hảo, luật sai kéo chiến lược lai xuống</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10</a:t>
            </a:r>
          </a:p>
        </p:txBody>
      </p:sp>
      <p:graphicFrame>
        <p:nvGraphicFramePr>
          <p:cNvPr id="6" name="Table 5"/>
          <p:cNvGraphicFramePr>
            <a:graphicFrameLocks noGrp="1"/>
          </p:cNvGraphicFramePr>
          <p:nvPr/>
        </p:nvGraphicFramePr>
        <p:xfrm>
          <a:off x="548640" y="1783080"/>
          <a:ext cx="6309360" cy="2743200"/>
        </p:xfrm>
        <a:graphic>
          <a:graphicData uri="http://schemas.openxmlformats.org/drawingml/2006/table">
            <a:tbl>
              <a:tblPr firstRow="1" bandRow="1">
                <a:tableStyleId>{5C22544A-7EE6-4342-B048-85BDC9FD1C3A}</a:tableStyleId>
              </a:tblPr>
              <a:tblGrid>
                <a:gridCol w="3200400"/>
                <a:gridCol w="1371600"/>
                <a:gridCol w="1737360"/>
              </a:tblGrid>
              <a:tr h="457200">
                <a:tc>
                  <a:txBody>
                    <a:bodyPr/>
                    <a:lstStyle/>
                    <a:p>
                      <a:pPr algn="l"/>
                      <a:r>
                        <a:rPr sz="2000" b="1" i="0">
                          <a:solidFill>
                            <a:srgbClr val="FFFFFF"/>
                          </a:solidFill>
                          <a:latin typeface="Helvetica"/>
                        </a:rPr>
                        <a:t>Luật</a:t>
                      </a:r>
                    </a:p>
                  </a:txBody>
                  <a:tcPr marL="73152" marR="73152" marT="36576" marB="36576" anchor="ctr">
                    <a:solidFill>
                      <a:srgbClr val="1E6FE8"/>
                    </a:solidFill>
                  </a:tcPr>
                </a:tc>
                <a:tc>
                  <a:txBody>
                    <a:bodyPr/>
                    <a:lstStyle/>
                    <a:p>
                      <a:pPr algn="ctr"/>
                      <a:r>
                        <a:rPr sz="2000" b="1" i="0">
                          <a:solidFill>
                            <a:srgbClr val="FFFFFF"/>
                          </a:solidFill>
                          <a:latin typeface="Helvetica"/>
                        </a:rPr>
                        <a:t>Áp dụng</a:t>
                      </a:r>
                    </a:p>
                  </a:txBody>
                  <a:tcPr marL="73152" marR="73152" marT="36576" marB="36576" anchor="ctr">
                    <a:solidFill>
                      <a:srgbClr val="1E6FE8"/>
                    </a:solidFill>
                  </a:tcPr>
                </a:tc>
                <a:tc>
                  <a:txBody>
                    <a:bodyPr/>
                    <a:lstStyle/>
                    <a:p>
                      <a:pPr algn="ctr"/>
                      <a:r>
                        <a:rPr sz="2000" b="1" i="0">
                          <a:solidFill>
                            <a:srgbClr val="FFFFFF"/>
                          </a:solidFill>
                          <a:latin typeface="Helvetica"/>
                        </a:rPr>
                        <a:t>Chính xác</a:t>
                      </a:r>
                    </a:p>
                  </a:txBody>
                  <a:tcPr marL="73152" marR="73152" marT="36576" marB="36576" anchor="ctr">
                    <a:solidFill>
                      <a:srgbClr val="1E6FE8"/>
                    </a:solidFill>
                  </a:tcPr>
                </a:tc>
              </a:tr>
              <a:tr h="457200">
                <a:tc>
                  <a:txBody>
                    <a:bodyPr/>
                    <a:lstStyle/>
                    <a:p>
                      <a:pPr algn="l"/>
                      <a:r>
                        <a:rPr sz="2000" b="0" i="0">
                          <a:solidFill>
                            <a:srgbClr val="0F1C3F"/>
                          </a:solidFill>
                          <a:latin typeface="Helvetica"/>
                        </a:rPr>
                        <a:t>R0 khôi phục import</a:t>
                      </a:r>
                    </a:p>
                  </a:txBody>
                  <a:tcPr marL="73152" marR="73152" marT="36576" marB="36576" anchor="ctr">
                    <a:solidFill>
                      <a:srgbClr val="FFFFFF"/>
                    </a:solidFill>
                  </a:tcPr>
                </a:tc>
                <a:tc>
                  <a:txBody>
                    <a:bodyPr/>
                    <a:lstStyle/>
                    <a:p>
                      <a:pPr algn="ctr"/>
                      <a:r>
                        <a:rPr sz="2000" b="0" i="0">
                          <a:solidFill>
                            <a:srgbClr val="0F1C3F"/>
                          </a:solidFill>
                          <a:latin typeface="Helvetica"/>
                        </a:rPr>
                        <a:t>99</a:t>
                      </a:r>
                    </a:p>
                  </a:txBody>
                  <a:tcPr marL="73152" marR="73152" marT="36576" marB="36576" anchor="ctr">
                    <a:solidFill>
                      <a:srgbClr val="FFFFFF"/>
                    </a:solidFill>
                  </a:tcPr>
                </a:tc>
                <a:tc>
                  <a:txBody>
                    <a:bodyPr/>
                    <a:lstStyle/>
                    <a:p>
                      <a:pPr algn="ctr"/>
                      <a:r>
                        <a:rPr sz="2000" b="0" i="0">
                          <a:solidFill>
                            <a:srgbClr val="0F1C3F"/>
                          </a:solidFill>
                          <a:latin typeface="Helvetica"/>
                        </a:rPr>
                        <a:t>97%</a:t>
                      </a:r>
                    </a:p>
                  </a:txBody>
                  <a:tcPr marL="73152" marR="73152" marT="36576" marB="36576" anchor="ctr">
                    <a:solidFill>
                      <a:srgbClr val="FFFFFF"/>
                    </a:solidFill>
                  </a:tcPr>
                </a:tc>
              </a:tr>
              <a:tr h="457200">
                <a:tc>
                  <a:txBody>
                    <a:bodyPr/>
                    <a:lstStyle/>
                    <a:p>
                      <a:pPr algn="l"/>
                      <a:r>
                        <a:rPr sz="2000" b="0" i="0">
                          <a:solidFill>
                            <a:srgbClr val="0F1C3F"/>
                          </a:solidFill>
                          <a:latin typeface="Helvetica"/>
                        </a:rPr>
                        <a:t>R7 ngân sách heartbeat</a:t>
                      </a:r>
                    </a:p>
                  </a:txBody>
                  <a:tcPr marL="73152" marR="73152" marT="36576" marB="36576" anchor="ctr">
                    <a:solidFill>
                      <a:srgbClr val="FFFFFF"/>
                    </a:solidFill>
                  </a:tcPr>
                </a:tc>
                <a:tc>
                  <a:txBody>
                    <a:bodyPr/>
                    <a:lstStyle/>
                    <a:p>
                      <a:pPr algn="ctr"/>
                      <a:r>
                        <a:rPr sz="2000" b="0" i="0">
                          <a:solidFill>
                            <a:srgbClr val="0F1C3F"/>
                          </a:solidFill>
                          <a:latin typeface="Helvetica"/>
                        </a:rPr>
                        <a:t>81</a:t>
                      </a:r>
                    </a:p>
                  </a:txBody>
                  <a:tcPr marL="73152" marR="73152" marT="36576" marB="36576" anchor="ctr">
                    <a:solidFill>
                      <a:srgbClr val="FFFFFF"/>
                    </a:solidFill>
                  </a:tcPr>
                </a:tc>
                <a:tc>
                  <a:txBody>
                    <a:bodyPr/>
                    <a:lstStyle/>
                    <a:p>
                      <a:pPr algn="ctr"/>
                      <a:r>
                        <a:rPr sz="2000" b="0" i="0">
                          <a:solidFill>
                            <a:srgbClr val="0F1C3F"/>
                          </a:solidFill>
                          <a:latin typeface="Helvetica"/>
                        </a:rPr>
                        <a:t>100%</a:t>
                      </a:r>
                    </a:p>
                  </a:txBody>
                  <a:tcPr marL="73152" marR="73152" marT="36576" marB="36576" anchor="ctr">
                    <a:solidFill>
                      <a:srgbClr val="FFFFFF"/>
                    </a:solidFill>
                  </a:tcPr>
                </a:tc>
              </a:tr>
              <a:tr h="457200">
                <a:tc>
                  <a:txBody>
                    <a:bodyPr/>
                    <a:lstStyle/>
                    <a:p>
                      <a:pPr algn="l"/>
                      <a:r>
                        <a:rPr sz="2000" b="0" i="0">
                          <a:solidFill>
                            <a:srgbClr val="0F1C3F"/>
                          </a:solidFill>
                          <a:latin typeface="Helvetica"/>
                        </a:rPr>
                        <a:t>R1 cân bằng ngoặc</a:t>
                      </a:r>
                    </a:p>
                  </a:txBody>
                  <a:tcPr marL="73152" marR="73152" marT="36576" marB="36576" anchor="ctr">
                    <a:solidFill>
                      <a:srgbClr val="FFFFFF"/>
                    </a:solidFill>
                  </a:tcPr>
                </a:tc>
                <a:tc>
                  <a:txBody>
                    <a:bodyPr/>
                    <a:lstStyle/>
                    <a:p>
                      <a:pPr algn="ctr"/>
                      <a:r>
                        <a:rPr sz="2000" b="0" i="0">
                          <a:solidFill>
                            <a:srgbClr val="0F1C3F"/>
                          </a:solidFill>
                          <a:latin typeface="Helvetica"/>
                        </a:rPr>
                        <a:t>99</a:t>
                      </a:r>
                    </a:p>
                  </a:txBody>
                  <a:tcPr marL="73152" marR="73152" marT="36576" marB="36576" anchor="ctr">
                    <a:solidFill>
                      <a:srgbClr val="FFFFFF"/>
                    </a:solidFill>
                  </a:tcPr>
                </a:tc>
                <a:tc>
                  <a:txBody>
                    <a:bodyPr/>
                    <a:lstStyle/>
                    <a:p>
                      <a:pPr algn="ctr"/>
                      <a:r>
                        <a:rPr sz="2000" b="0" i="0">
                          <a:solidFill>
                            <a:srgbClr val="0F1C3F"/>
                          </a:solidFill>
                          <a:latin typeface="Helvetica"/>
                        </a:rPr>
                        <a:t>27%</a:t>
                      </a:r>
                    </a:p>
                  </a:txBody>
                  <a:tcPr marL="73152" marR="73152" marT="36576" marB="36576" anchor="ctr">
                    <a:solidFill>
                      <a:srgbClr val="FFFFFF"/>
                    </a:solidFill>
                  </a:tcPr>
                </a:tc>
              </a:tr>
              <a:tr h="457200">
                <a:tc>
                  <a:txBody>
                    <a:bodyPr/>
                    <a:lstStyle/>
                    <a:p>
                      <a:pPr algn="l"/>
                      <a:r>
                        <a:rPr sz="2000" b="0" i="0">
                          <a:solidFill>
                            <a:srgbClr val="0F1C3F"/>
                          </a:solidFill>
                          <a:latin typeface="Helvetica"/>
                        </a:rPr>
                        <a:t>R3 bảng import</a:t>
                      </a:r>
                    </a:p>
                  </a:txBody>
                  <a:tcPr marL="73152" marR="73152" marT="36576" marB="36576" anchor="ctr">
                    <a:solidFill>
                      <a:srgbClr val="FFFFFF"/>
                    </a:solidFill>
                  </a:tcPr>
                </a:tc>
                <a:tc>
                  <a:txBody>
                    <a:bodyPr/>
                    <a:lstStyle/>
                    <a:p>
                      <a:pPr algn="ctr"/>
                      <a:r>
                        <a:rPr sz="2000" b="0" i="0">
                          <a:solidFill>
                            <a:srgbClr val="0F1C3F"/>
                          </a:solidFill>
                          <a:latin typeface="Helvetica"/>
                        </a:rPr>
                        <a:t>253</a:t>
                      </a:r>
                    </a:p>
                  </a:txBody>
                  <a:tcPr marL="73152" marR="73152" marT="36576" marB="36576" anchor="ctr">
                    <a:solidFill>
                      <a:srgbClr val="FFFFFF"/>
                    </a:solidFill>
                  </a:tcPr>
                </a:tc>
                <a:tc>
                  <a:txBody>
                    <a:bodyPr/>
                    <a:lstStyle/>
                    <a:p>
                      <a:pPr algn="ctr"/>
                      <a:r>
                        <a:rPr sz="2000" b="0" i="0">
                          <a:solidFill>
                            <a:srgbClr val="0F1C3F"/>
                          </a:solidFill>
                          <a:latin typeface="Helvetica"/>
                        </a:rPr>
                        <a:t>0%</a:t>
                      </a:r>
                    </a:p>
                  </a:txBody>
                  <a:tcPr marL="73152" marR="73152" marT="36576" marB="36576" anchor="ctr">
                    <a:solidFill>
                      <a:srgbClr val="FFFFFF"/>
                    </a:solidFill>
                  </a:tcPr>
                </a:tc>
              </a:tr>
              <a:tr h="457200">
                <a:tc>
                  <a:txBody>
                    <a:bodyPr/>
                    <a:lstStyle/>
                    <a:p>
                      <a:pPr algn="l"/>
                      <a:r>
                        <a:rPr sz="2000" b="0" i="0">
                          <a:solidFill>
                            <a:srgbClr val="0F1C3F"/>
                          </a:solidFill>
                          <a:latin typeface="Helvetica"/>
                        </a:rPr>
                        <a:t>R2 chèn từ khoá</a:t>
                      </a:r>
                    </a:p>
                  </a:txBody>
                  <a:tcPr marL="73152" marR="73152" marT="36576" marB="36576" anchor="ctr">
                    <a:solidFill>
                      <a:srgbClr val="FFFFFF"/>
                    </a:solidFill>
                  </a:tcPr>
                </a:tc>
                <a:tc>
                  <a:txBody>
                    <a:bodyPr/>
                    <a:lstStyle/>
                    <a:p>
                      <a:pPr algn="ctr"/>
                      <a:r>
                        <a:rPr sz="2000" b="0" i="0">
                          <a:solidFill>
                            <a:srgbClr val="0F1C3F"/>
                          </a:solidFill>
                          <a:latin typeface="Helvetica"/>
                        </a:rPr>
                        <a:t>126</a:t>
                      </a:r>
                    </a:p>
                  </a:txBody>
                  <a:tcPr marL="73152" marR="73152" marT="36576" marB="36576" anchor="ctr">
                    <a:solidFill>
                      <a:srgbClr val="FFFFFF"/>
                    </a:solidFill>
                  </a:tcPr>
                </a:tc>
                <a:tc>
                  <a:txBody>
                    <a:bodyPr/>
                    <a:lstStyle/>
                    <a:p>
                      <a:pPr algn="ctr"/>
                      <a:r>
                        <a:rPr sz="2000" b="0" i="0">
                          <a:solidFill>
                            <a:srgbClr val="0F1C3F"/>
                          </a:solidFill>
                          <a:latin typeface="Helvetica"/>
                        </a:rPr>
                        <a:t>0%</a:t>
                      </a:r>
                    </a:p>
                  </a:txBody>
                  <a:tcPr marL="73152" marR="73152" marT="36576" marB="36576" anchor="ctr">
                    <a:solidFill>
                      <a:srgbClr val="FFFFFF"/>
                    </a:solidFill>
                  </a:tcPr>
                </a:tc>
              </a:tr>
            </a:tbl>
          </a:graphicData>
        </a:graphic>
      </p:graphicFrame>
      <p:sp>
        <p:nvSpPr>
          <p:cNvPr id="7" name="Rounded Rectangle 6"/>
          <p:cNvSpPr/>
          <p:nvPr/>
        </p:nvSpPr>
        <p:spPr>
          <a:xfrm>
            <a:off x="7132320" y="1783080"/>
            <a:ext cx="4480560" cy="4206240"/>
          </a:xfrm>
          <a:prstGeom prst="roundRect">
            <a:avLst>
              <a:gd name="adj" fmla="val 8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0920" y="1947672"/>
            <a:ext cx="40233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Ablation bộ phân loại</a:t>
            </a:r>
          </a:p>
        </p:txBody>
      </p:sp>
      <p:sp>
        <p:nvSpPr>
          <p:cNvPr id="9" name="TextBox 8"/>
          <p:cNvSpPr txBox="1"/>
          <p:nvPr/>
        </p:nvSpPr>
        <p:spPr>
          <a:xfrm>
            <a:off x="7360920" y="2514600"/>
            <a:ext cx="4023360" cy="3337559"/>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Khớp nhãn 72,3% → 96,3%</a:t>
            </a:r>
          </a:p>
          <a:p>
            <a:pPr marL="292608" indent="-292608">
              <a:lnSpc>
                <a:spcPct val="108000"/>
              </a:lnSpc>
              <a:spcAft>
                <a:spcPts val="600"/>
              </a:spcAft>
              <a:buClr>
                <a:srgbClr val="1E6FE8"/>
              </a:buClr>
              <a:buFont typeface="Helvetica"/>
              <a:buChar char="•"/>
            </a:pPr>
            <a:r>
              <a:rPr sz="2100" b="0" i="0">
                <a:solidFill>
                  <a:srgbClr val="0F1C3F"/>
                </a:solidFill>
                <a:latin typeface="Helvetica"/>
              </a:rPr>
              <a:t>Token giảm 31%</a:t>
            </a:r>
          </a:p>
          <a:p>
            <a:pPr marL="292608" indent="-292608">
              <a:lnSpc>
                <a:spcPct val="108000"/>
              </a:lnSpc>
              <a:spcAft>
                <a:spcPts val="600"/>
              </a:spcAft>
              <a:buClr>
                <a:srgbClr val="1E6FE8"/>
              </a:buClr>
              <a:buFont typeface="Helvetica"/>
              <a:buChar char="•"/>
            </a:pPr>
            <a:r>
              <a:rPr sz="2100" b="0" i="0">
                <a:solidFill>
                  <a:srgbClr val="0F1C3F"/>
                </a:solidFill>
                <a:latin typeface="Helvetica"/>
              </a:rPr>
              <a:t>Lai k=1 lại giảm 34,9% → 30,3%</a:t>
            </a:r>
          </a:p>
          <a:p>
            <a:pPr marL="292608" indent="-292608">
              <a:lnSpc>
                <a:spcPct val="108000"/>
              </a:lnSpc>
              <a:spcAft>
                <a:spcPts val="600"/>
              </a:spcAft>
              <a:buClr>
                <a:srgbClr val="1E6FE8"/>
              </a:buClr>
              <a:buFont typeface="Helvetica"/>
              <a:buChar char="•"/>
            </a:pPr>
            <a:r>
              <a:rPr sz="2100" b="0" i="0">
                <a:solidFill>
                  <a:srgbClr val="0F1C3F"/>
                </a:solidFill>
                <a:latin typeface="Helvetica"/>
              </a:rPr>
              <a:t>Nút thắt: độ chính xác của luật</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10058400" y="-2103120"/>
            <a:ext cx="4023360" cy="402336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11247120" y="50292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Không có kiểm toán, tỷ lệ thành công bị thổi phồng</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11</a:t>
            </a:r>
          </a:p>
        </p:txBody>
      </p:sp>
      <p:sp>
        <p:nvSpPr>
          <p:cNvPr id="6" name="TextBox 5"/>
          <p:cNvSpPr txBox="1"/>
          <p:nvPr/>
        </p:nvSpPr>
        <p:spPr>
          <a:xfrm>
            <a:off x="731520" y="1828800"/>
            <a:ext cx="3474720" cy="868680"/>
          </a:xfrm>
          <a:prstGeom prst="rect">
            <a:avLst/>
          </a:prstGeom>
          <a:noFill/>
        </p:spPr>
        <p:txBody>
          <a:bodyPr wrap="square" anchor="t" lIns="45720" rIns="45720" tIns="27432" bIns="27432">
            <a:spAutoFit/>
          </a:bodyPr>
          <a:lstStyle/>
          <a:p>
            <a:pPr algn="l">
              <a:lnSpc>
                <a:spcPct val="110000"/>
              </a:lnSpc>
            </a:pPr>
            <a:r>
              <a:rPr sz="4800" b="1" i="0">
                <a:solidFill>
                  <a:srgbClr val="5B6B82"/>
                </a:solidFill>
                <a:latin typeface="Helvetica"/>
              </a:rPr>
              <a:t>75,0%</a:t>
            </a:r>
          </a:p>
        </p:txBody>
      </p:sp>
      <p:sp>
        <p:nvSpPr>
          <p:cNvPr id="7" name="TextBox 6"/>
          <p:cNvSpPr txBox="1"/>
          <p:nvPr/>
        </p:nvSpPr>
        <p:spPr>
          <a:xfrm>
            <a:off x="731520" y="2697480"/>
            <a:ext cx="3474720" cy="77724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biên dịch được với LLM k=3</a:t>
            </a:r>
          </a:p>
        </p:txBody>
      </p:sp>
      <p:sp>
        <p:nvSpPr>
          <p:cNvPr id="8" name="TextBox 7"/>
          <p:cNvSpPr txBox="1"/>
          <p:nvPr/>
        </p:nvSpPr>
        <p:spPr>
          <a:xfrm>
            <a:off x="4389120" y="1828800"/>
            <a:ext cx="3474720" cy="868680"/>
          </a:xfrm>
          <a:prstGeom prst="rect">
            <a:avLst/>
          </a:prstGeom>
          <a:noFill/>
        </p:spPr>
        <p:txBody>
          <a:bodyPr wrap="square" anchor="t" lIns="45720" rIns="45720" tIns="27432" bIns="27432">
            <a:spAutoFit/>
          </a:bodyPr>
          <a:lstStyle/>
          <a:p>
            <a:pPr algn="l">
              <a:lnSpc>
                <a:spcPct val="110000"/>
              </a:lnSpc>
            </a:pPr>
            <a:r>
              <a:rPr sz="4800" b="1" i="0">
                <a:solidFill>
                  <a:srgbClr val="144FB0"/>
                </a:solidFill>
                <a:latin typeface="Helvetica"/>
              </a:rPr>
              <a:t>65,1%</a:t>
            </a:r>
          </a:p>
        </p:txBody>
      </p:sp>
      <p:sp>
        <p:nvSpPr>
          <p:cNvPr id="9" name="TextBox 8"/>
          <p:cNvSpPr txBox="1"/>
          <p:nvPr/>
        </p:nvSpPr>
        <p:spPr>
          <a:xfrm>
            <a:off x="4389120" y="2697480"/>
            <a:ext cx="3474720" cy="77724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thành công đã kiểm toán</a:t>
            </a:r>
          </a:p>
        </p:txBody>
      </p:sp>
      <p:sp>
        <p:nvSpPr>
          <p:cNvPr id="10" name="TextBox 9"/>
          <p:cNvSpPr txBox="1"/>
          <p:nvPr/>
        </p:nvSpPr>
        <p:spPr>
          <a:xfrm>
            <a:off x="8046720" y="1828800"/>
            <a:ext cx="3566160" cy="868680"/>
          </a:xfrm>
          <a:prstGeom prst="rect">
            <a:avLst/>
          </a:prstGeom>
          <a:noFill/>
        </p:spPr>
        <p:txBody>
          <a:bodyPr wrap="square" anchor="t" lIns="45720" rIns="45720" tIns="27432" bIns="27432">
            <a:spAutoFit/>
          </a:bodyPr>
          <a:lstStyle/>
          <a:p>
            <a:pPr algn="l">
              <a:lnSpc>
                <a:spcPct val="110000"/>
              </a:lnSpc>
            </a:pPr>
            <a:r>
              <a:rPr sz="4800" b="1" i="0">
                <a:solidFill>
                  <a:srgbClr val="1E6FE8"/>
                </a:solidFill>
                <a:latin typeface="Helvetica"/>
              </a:rPr>
              <a:t>17–26%</a:t>
            </a:r>
          </a:p>
        </p:txBody>
      </p:sp>
      <p:sp>
        <p:nvSpPr>
          <p:cNvPr id="11" name="TextBox 10"/>
          <p:cNvSpPr txBox="1"/>
          <p:nvPr/>
        </p:nvSpPr>
        <p:spPr>
          <a:xfrm>
            <a:off x="8046720" y="2697480"/>
            <a:ext cx="3566160" cy="77724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bản sửa lỗi đã đổi đề</a:t>
            </a:r>
          </a:p>
        </p:txBody>
      </p:sp>
      <p:sp>
        <p:nvSpPr>
          <p:cNvPr id="12" name="Rounded Rectangle 11"/>
          <p:cNvSpPr/>
          <p:nvPr/>
        </p:nvSpPr>
        <p:spPr>
          <a:xfrm>
            <a:off x="731520" y="3977639"/>
            <a:ext cx="10881360" cy="196596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42231"/>
            <a:ext cx="104241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Kiểm toán chặn</a:t>
            </a:r>
          </a:p>
        </p:txBody>
      </p:sp>
      <p:sp>
        <p:nvSpPr>
          <p:cNvPr id="14" name="TextBox 13"/>
          <p:cNvSpPr txBox="1"/>
          <p:nvPr/>
        </p:nvSpPr>
        <p:spPr>
          <a:xfrm>
            <a:off x="960120" y="4709159"/>
            <a:ext cx="10424160" cy="109728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sorry, admit, axiom, native_decide</a:t>
            </a:r>
          </a:p>
          <a:p>
            <a:pPr marL="292608" indent="-292608">
              <a:lnSpc>
                <a:spcPct val="108000"/>
              </a:lnSpc>
              <a:spcAft>
                <a:spcPts val="600"/>
              </a:spcAft>
              <a:buClr>
                <a:srgbClr val="1E6FE8"/>
              </a:buClr>
              <a:buFont typeface="Helvetica"/>
              <a:buChar char="•"/>
            </a:pPr>
            <a:r>
              <a:rPr sz="2100" b="0" i="0">
                <a:solidFill>
                  <a:srgbClr val="0F1C3F"/>
                </a:solidFill>
                <a:latin typeface="Helvetica"/>
              </a:rPr>
              <a:t>Thay đổi tên, giả thiết hoặc kết luận của định lý</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1828800" y="4114800"/>
            <a:ext cx="3840480" cy="384048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54864" y="603504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Kết luận: chẩn đoán, kiểm toán, REPL thường trú; sẵn sàng bàn giao</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12</a:t>
            </a:r>
          </a:p>
        </p:txBody>
      </p:sp>
      <p:sp>
        <p:nvSpPr>
          <p:cNvPr id="6" name="Rounded Rectangle 5"/>
          <p:cNvSpPr/>
          <p:nvPr/>
        </p:nvSpPr>
        <p:spPr>
          <a:xfrm>
            <a:off x="548640" y="1737360"/>
            <a:ext cx="3566160" cy="434340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01952"/>
            <a:ext cx="31089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Bài học</a:t>
            </a:r>
          </a:p>
        </p:txBody>
      </p:sp>
      <p:sp>
        <p:nvSpPr>
          <p:cNvPr id="8" name="TextBox 7"/>
          <p:cNvSpPr txBox="1"/>
          <p:nvPr/>
        </p:nvSpPr>
        <p:spPr>
          <a:xfrm>
            <a:off x="777240" y="2468880"/>
            <a:ext cx="3108960" cy="347472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Lỗi của Lean là tín hiệu rẻ và giá trị nhất</a:t>
            </a:r>
          </a:p>
          <a:p>
            <a:pPr marL="292608" indent="-292608">
              <a:lnSpc>
                <a:spcPct val="108000"/>
              </a:lnSpc>
              <a:spcAft>
                <a:spcPts val="600"/>
              </a:spcAft>
              <a:buClr>
                <a:srgbClr val="1E6FE8"/>
              </a:buClr>
              <a:buFont typeface="Helvetica"/>
              <a:buChar char="•"/>
            </a:pPr>
            <a:r>
              <a:rPr sz="2100" b="0" i="0">
                <a:solidFill>
                  <a:srgbClr val="0F1C3F"/>
                </a:solidFill>
                <a:latin typeface="Helvetica"/>
              </a:rPr>
              <a:t>Kiểm toán ngữ nghĩa là bắt buộc</a:t>
            </a:r>
          </a:p>
          <a:p>
            <a:pPr marL="292608" indent="-292608">
              <a:lnSpc>
                <a:spcPct val="108000"/>
              </a:lnSpc>
              <a:spcAft>
                <a:spcPts val="600"/>
              </a:spcAft>
              <a:buClr>
                <a:srgbClr val="1E6FE8"/>
              </a:buClr>
              <a:buFont typeface="Helvetica"/>
              <a:buChar char="•"/>
            </a:pPr>
            <a:r>
              <a:rPr sz="2100" b="0" i="0">
                <a:solidFill>
                  <a:srgbClr val="0F1C3F"/>
                </a:solidFill>
                <a:latin typeface="Helvetica"/>
              </a:rPr>
              <a:t>Verifier là tài nguyên cần lập lịch</a:t>
            </a:r>
          </a:p>
        </p:txBody>
      </p:sp>
      <p:sp>
        <p:nvSpPr>
          <p:cNvPr id="9" name="Rounded Rectangle 8"/>
          <p:cNvSpPr/>
          <p:nvPr/>
        </p:nvSpPr>
        <p:spPr>
          <a:xfrm>
            <a:off x="4343400" y="1737360"/>
            <a:ext cx="3566160" cy="4343400"/>
          </a:xfrm>
          <a:prstGeom prst="roundRect">
            <a:avLst>
              <a:gd name="adj" fmla="val 8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901952"/>
            <a:ext cx="310896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Bàn giao, tái lập</a:t>
            </a:r>
          </a:p>
        </p:txBody>
      </p:sp>
      <p:sp>
        <p:nvSpPr>
          <p:cNvPr id="11" name="TextBox 10"/>
          <p:cNvSpPr txBox="1"/>
          <p:nvPr/>
        </p:nvSpPr>
        <p:spPr>
          <a:xfrm>
            <a:off x="4572000" y="2468880"/>
            <a:ext cx="3108960" cy="347472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Cổng Nhóm 5, repaired-v1 cho Nhóm 7/8</a:t>
            </a:r>
          </a:p>
          <a:p>
            <a:pPr marL="292608" indent="-292608">
              <a:lnSpc>
                <a:spcPct val="108000"/>
              </a:lnSpc>
              <a:spcAft>
                <a:spcPts val="600"/>
              </a:spcAft>
              <a:buClr>
                <a:srgbClr val="1E6FE8"/>
              </a:buClr>
              <a:buFont typeface="Helvetica"/>
              <a:buChar char="•"/>
            </a:pPr>
            <a:r>
              <a:rPr sz="2100" b="0" i="0">
                <a:solidFill>
                  <a:srgbClr val="0F1C3F"/>
                </a:solidFill>
                <a:latin typeface="Helvetica"/>
              </a:rPr>
              <a:t>Docker · 121 test · notebook</a:t>
            </a:r>
          </a:p>
          <a:p>
            <a:pPr marL="292608" indent="-292608">
              <a:lnSpc>
                <a:spcPct val="108000"/>
              </a:lnSpc>
              <a:spcAft>
                <a:spcPts val="600"/>
              </a:spcAft>
              <a:buClr>
                <a:srgbClr val="1E6FE8"/>
              </a:buClr>
              <a:buFont typeface="Helvetica"/>
              <a:buChar char="•"/>
            </a:pPr>
            <a:r>
              <a:rPr sz="2100" b="0" i="0">
                <a:solidFill>
                  <a:srgbClr val="0F1C3F"/>
                </a:solidFill>
                <a:latin typeface="Helvetica"/>
              </a:rPr>
              <a:t>Log phát lại, $0</a:t>
            </a:r>
          </a:p>
        </p:txBody>
      </p:sp>
      <p:sp>
        <p:nvSpPr>
          <p:cNvPr id="12" name="Rounded Rectangle 11"/>
          <p:cNvSpPr/>
          <p:nvPr/>
        </p:nvSpPr>
        <p:spPr>
          <a:xfrm>
            <a:off x="8138160" y="1737360"/>
            <a:ext cx="3474720" cy="4343400"/>
          </a:xfrm>
          <a:prstGeom prst="roundRect">
            <a:avLst>
              <a:gd name="adj" fmla="val 8000"/>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60" y="1901952"/>
            <a:ext cx="301752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Hướng phát triển</a:t>
            </a:r>
          </a:p>
        </p:txBody>
      </p:sp>
      <p:sp>
        <p:nvSpPr>
          <p:cNvPr id="14" name="TextBox 13"/>
          <p:cNvSpPr txBox="1"/>
          <p:nvPr/>
        </p:nvSpPr>
        <p:spPr>
          <a:xfrm>
            <a:off x="8366760" y="2468880"/>
            <a:ext cx="3017520" cy="3474720"/>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100" b="0" i="0">
                <a:solidFill>
                  <a:srgbClr val="0F1C3F"/>
                </a:solidFill>
                <a:latin typeface="Helvetica"/>
              </a:rPr>
              <a:t>Dữ liệu thật của Nhóm 5</a:t>
            </a:r>
          </a:p>
          <a:p>
            <a:pPr marL="292608" indent="-292608">
              <a:lnSpc>
                <a:spcPct val="108000"/>
              </a:lnSpc>
              <a:spcAft>
                <a:spcPts val="600"/>
              </a:spcAft>
              <a:buClr>
                <a:srgbClr val="1E6FE8"/>
              </a:buClr>
              <a:buFont typeface="Helvetica"/>
              <a:buChar char="•"/>
            </a:pPr>
            <a:r>
              <a:rPr sz="2100" b="0" i="0">
                <a:solidFill>
                  <a:srgbClr val="0F1C3F"/>
                </a:solidFill>
                <a:latin typeface="Helvetica"/>
              </a:rPr>
              <a:t>Model chuyên Lean trên GPU</a:t>
            </a:r>
          </a:p>
          <a:p>
            <a:pPr marL="292608" indent="-292608">
              <a:lnSpc>
                <a:spcPct val="108000"/>
              </a:lnSpc>
              <a:spcAft>
                <a:spcPts val="600"/>
              </a:spcAft>
              <a:buClr>
                <a:srgbClr val="1E6FE8"/>
              </a:buClr>
              <a:buFont typeface="Helvetica"/>
              <a:buChar char="•"/>
            </a:pPr>
            <a:r>
              <a:rPr sz="2100" b="0" i="0">
                <a:solidFill>
                  <a:srgbClr val="0F1C3F"/>
                </a:solidFill>
                <a:latin typeface="Helvetica"/>
              </a:rPr>
              <a:t>Worker phân tán, hàng đợi Redis</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9966960" y="4389120"/>
            <a:ext cx="3566160" cy="356616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11704320" y="365760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Cảm ơn cô và các bạn · Hỏi đáp</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13</a:t>
            </a:r>
          </a:p>
        </p:txBody>
      </p:sp>
      <p:graphicFrame>
        <p:nvGraphicFramePr>
          <p:cNvPr id="6" name="Table 5"/>
          <p:cNvGraphicFramePr>
            <a:graphicFrameLocks noGrp="1"/>
          </p:cNvGraphicFramePr>
          <p:nvPr/>
        </p:nvGraphicFramePr>
        <p:xfrm>
          <a:off x="548640" y="1783080"/>
          <a:ext cx="11064240" cy="3200400"/>
        </p:xfrm>
        <a:graphic>
          <a:graphicData uri="http://schemas.openxmlformats.org/drawingml/2006/table">
            <a:tbl>
              <a:tblPr firstRow="1" bandRow="1">
                <a:tableStyleId>{5C22544A-7EE6-4342-B048-85BDC9FD1C3A}</a:tableStyleId>
              </a:tblPr>
              <a:tblGrid>
                <a:gridCol w="4023360"/>
                <a:gridCol w="7040880"/>
              </a:tblGrid>
              <a:tr h="457200">
                <a:tc>
                  <a:txBody>
                    <a:bodyPr/>
                    <a:lstStyle/>
                    <a:p>
                      <a:pPr algn="l"/>
                      <a:r>
                        <a:rPr sz="2000" b="1" i="0">
                          <a:solidFill>
                            <a:srgbClr val="FFFFFF"/>
                          </a:solidFill>
                          <a:latin typeface="Helvetica"/>
                        </a:rPr>
                        <a:t>Thành viên</a:t>
                      </a:r>
                    </a:p>
                  </a:txBody>
                  <a:tcPr marL="73152" marR="73152" marT="36576" marB="36576" anchor="ctr">
                    <a:solidFill>
                      <a:srgbClr val="1E6FE8"/>
                    </a:solidFill>
                  </a:tcPr>
                </a:tc>
                <a:tc>
                  <a:txBody>
                    <a:bodyPr/>
                    <a:lstStyle/>
                    <a:p>
                      <a:pPr algn="ctr"/>
                      <a:r>
                        <a:rPr sz="2000" b="1" i="0">
                          <a:solidFill>
                            <a:srgbClr val="FFFFFF"/>
                          </a:solidFill>
                          <a:latin typeface="Helvetica"/>
                        </a:rPr>
                        <a:t>Mảng trả lời chính</a:t>
                      </a:r>
                    </a:p>
                  </a:txBody>
                  <a:tcPr marL="73152" marR="73152" marT="36576" marB="36576" anchor="ctr">
                    <a:solidFill>
                      <a:srgbClr val="1E6FE8"/>
                    </a:solidFill>
                  </a:tcPr>
                </a:tc>
              </a:tr>
              <a:tr h="457200">
                <a:tc>
                  <a:txBody>
                    <a:bodyPr/>
                    <a:lstStyle/>
                    <a:p>
                      <a:pPr algn="l"/>
                      <a:r>
                        <a:rPr sz="2000" b="0" i="0">
                          <a:solidFill>
                            <a:srgbClr val="0F1C3F"/>
                          </a:solidFill>
                          <a:latin typeface="Helvetica"/>
                        </a:rPr>
                        <a:t>Đào Văn Tâm</a:t>
                      </a:r>
                    </a:p>
                  </a:txBody>
                  <a:tcPr marL="73152" marR="73152" marT="36576" marB="36576" anchor="ctr">
                    <a:solidFill>
                      <a:srgbClr val="FFFFFF"/>
                    </a:solidFill>
                  </a:tcPr>
                </a:tc>
                <a:tc>
                  <a:txBody>
                    <a:bodyPr/>
                    <a:lstStyle/>
                    <a:p>
                      <a:pPr algn="ctr"/>
                      <a:r>
                        <a:rPr sz="2000" b="0" i="0">
                          <a:solidFill>
                            <a:srgbClr val="0F1C3F"/>
                          </a:solidFill>
                          <a:latin typeface="Helvetica"/>
                        </a:rPr>
                        <a:t>Câu hỏi nghiên cứu, đánh giá, chi phí</a:t>
                      </a:r>
                    </a:p>
                  </a:txBody>
                  <a:tcPr marL="73152" marR="73152" marT="36576" marB="36576" anchor="ctr">
                    <a:solidFill>
                      <a:srgbClr val="FFFFFF"/>
                    </a:solidFill>
                  </a:tcPr>
                </a:tc>
              </a:tr>
              <a:tr h="457200">
                <a:tc>
                  <a:txBody>
                    <a:bodyPr/>
                    <a:lstStyle/>
                    <a:p>
                      <a:pPr algn="l"/>
                      <a:r>
                        <a:rPr sz="2000" b="0" i="0">
                          <a:solidFill>
                            <a:srgbClr val="0F1C3F"/>
                          </a:solidFill>
                          <a:latin typeface="Helvetica"/>
                        </a:rPr>
                        <a:t>Trần Quang Đức Dũng</a:t>
                      </a:r>
                    </a:p>
                  </a:txBody>
                  <a:tcPr marL="73152" marR="73152" marT="36576" marB="36576" anchor="ctr">
                    <a:solidFill>
                      <a:srgbClr val="FFFFFF"/>
                    </a:solidFill>
                  </a:tcPr>
                </a:tc>
                <a:tc>
                  <a:txBody>
                    <a:bodyPr/>
                    <a:lstStyle/>
                    <a:p>
                      <a:pPr algn="ctr"/>
                      <a:r>
                        <a:rPr sz="2000" b="0" i="0">
                          <a:solidFill>
                            <a:srgbClr val="0F1C3F"/>
                          </a:solidFill>
                          <a:latin typeface="Helvetica"/>
                        </a:rPr>
                        <a:t>Hàng đợi Redis, worker pool, REPL, mở rộng</a:t>
                      </a:r>
                    </a:p>
                  </a:txBody>
                  <a:tcPr marL="73152" marR="73152" marT="36576" marB="36576" anchor="ctr">
                    <a:solidFill>
                      <a:srgbClr val="FFFFFF"/>
                    </a:solidFill>
                  </a:tcPr>
                </a:tc>
              </a:tr>
              <a:tr h="457200">
                <a:tc>
                  <a:txBody>
                    <a:bodyPr/>
                    <a:lstStyle/>
                    <a:p>
                      <a:pPr algn="l"/>
                      <a:r>
                        <a:rPr sz="2000" b="0" i="0">
                          <a:solidFill>
                            <a:srgbClr val="0F1C3F"/>
                          </a:solidFill>
                          <a:latin typeface="Helvetica"/>
                        </a:rPr>
                        <a:t>Lâm Thành Trung</a:t>
                      </a:r>
                    </a:p>
                  </a:txBody>
                  <a:tcPr marL="73152" marR="73152" marT="36576" marB="36576" anchor="ctr">
                    <a:solidFill>
                      <a:srgbClr val="FFFFFF"/>
                    </a:solidFill>
                  </a:tcPr>
                </a:tc>
                <a:tc>
                  <a:txBody>
                    <a:bodyPr/>
                    <a:lstStyle/>
                    <a:p>
                      <a:pPr algn="ctr"/>
                      <a:r>
                        <a:rPr sz="2000" b="0" i="0">
                          <a:solidFill>
                            <a:srgbClr val="0F1C3F"/>
                          </a:solidFill>
                          <a:latin typeface="Helvetica"/>
                        </a:rPr>
                        <a:t>Luật sửa, độ chính xác từng luật</a:t>
                      </a:r>
                    </a:p>
                  </a:txBody>
                  <a:tcPr marL="73152" marR="73152" marT="36576" marB="36576" anchor="ctr">
                    <a:solidFill>
                      <a:srgbClr val="FFFFFF"/>
                    </a:solidFill>
                  </a:tcPr>
                </a:tc>
              </a:tr>
              <a:tr h="457200">
                <a:tc>
                  <a:txBody>
                    <a:bodyPr/>
                    <a:lstStyle/>
                    <a:p>
                      <a:pPr algn="l"/>
                      <a:r>
                        <a:rPr sz="2000" b="0" i="0">
                          <a:solidFill>
                            <a:srgbClr val="0F1C3F"/>
                          </a:solidFill>
                          <a:latin typeface="Helvetica"/>
                        </a:rPr>
                        <a:t>Nguyễn Xuân Tùng</a:t>
                      </a:r>
                    </a:p>
                  </a:txBody>
                  <a:tcPr marL="73152" marR="73152" marT="36576" marB="36576" anchor="ctr">
                    <a:solidFill>
                      <a:srgbClr val="FFFFFF"/>
                    </a:solidFill>
                  </a:tcPr>
                </a:tc>
                <a:tc>
                  <a:txBody>
                    <a:bodyPr/>
                    <a:lstStyle/>
                    <a:p>
                      <a:pPr algn="ctr"/>
                      <a:r>
                        <a:rPr sz="2000" b="0" i="0">
                          <a:solidFill>
                            <a:srgbClr val="0F1C3F"/>
                          </a:solidFill>
                          <a:latin typeface="Helvetica"/>
                        </a:rPr>
                        <a:t>LLM: blind vs chẩn đoán, prompt, chọn model</a:t>
                      </a:r>
                    </a:p>
                  </a:txBody>
                  <a:tcPr marL="73152" marR="73152" marT="36576" marB="36576" anchor="ctr">
                    <a:solidFill>
                      <a:srgbClr val="FFFFFF"/>
                    </a:solidFill>
                  </a:tcPr>
                </a:tc>
              </a:tr>
              <a:tr h="457200">
                <a:tc>
                  <a:txBody>
                    <a:bodyPr/>
                    <a:lstStyle/>
                    <a:p>
                      <a:pPr algn="l"/>
                      <a:r>
                        <a:rPr sz="2000" b="0" i="0">
                          <a:solidFill>
                            <a:srgbClr val="0F1C3F"/>
                          </a:solidFill>
                          <a:latin typeface="Helvetica"/>
                        </a:rPr>
                        <a:t>Khamsing OUTHAIHUENG</a:t>
                      </a:r>
                    </a:p>
                  </a:txBody>
                  <a:tcPr marL="73152" marR="73152" marT="36576" marB="36576" anchor="ctr">
                    <a:solidFill>
                      <a:srgbClr val="FFFFFF"/>
                    </a:solidFill>
                  </a:tcPr>
                </a:tc>
                <a:tc>
                  <a:txBody>
                    <a:bodyPr/>
                    <a:lstStyle/>
                    <a:p>
                      <a:pPr algn="ctr"/>
                      <a:r>
                        <a:rPr sz="2000" b="0" i="0">
                          <a:solidFill>
                            <a:srgbClr val="0F1C3F"/>
                          </a:solidFill>
                          <a:latin typeface="Helvetica"/>
                        </a:rPr>
                        <a:t>Parser, taxonomy, kiểm toán</a:t>
                      </a:r>
                    </a:p>
                  </a:txBody>
                  <a:tcPr marL="73152" marR="73152" marT="36576" marB="36576" anchor="ctr">
                    <a:solidFill>
                      <a:srgbClr val="FFFFFF"/>
                    </a:solidFill>
                  </a:tcPr>
                </a:tc>
              </a:tr>
              <a:tr h="457200">
                <a:tc>
                  <a:txBody>
                    <a:bodyPr/>
                    <a:lstStyle/>
                    <a:p>
                      <a:pPr algn="l"/>
                      <a:r>
                        <a:rPr sz="2000" b="0" i="0">
                          <a:solidFill>
                            <a:srgbClr val="0F1C3F"/>
                          </a:solidFill>
                          <a:latin typeface="Helvetica"/>
                        </a:rPr>
                        <a:t>Mekdala Nounou</a:t>
                      </a:r>
                    </a:p>
                  </a:txBody>
                  <a:tcPr marL="73152" marR="73152" marT="36576" marB="36576" anchor="ctr">
                    <a:solidFill>
                      <a:srgbClr val="FFFFFF"/>
                    </a:solidFill>
                  </a:tcPr>
                </a:tc>
                <a:tc>
                  <a:txBody>
                    <a:bodyPr/>
                    <a:lstStyle/>
                    <a:p>
                      <a:pPr algn="ctr"/>
                      <a:r>
                        <a:rPr sz="2000" b="0" i="0">
                          <a:solidFill>
                            <a:srgbClr val="0F1C3F"/>
                          </a:solidFill>
                          <a:latin typeface="Helvetica"/>
                        </a:rPr>
                        <a:t>Dataset, chia tập, data card</a:t>
                      </a:r>
                    </a:p>
                  </a:txBody>
                  <a:tcPr marL="73152" marR="73152" marT="36576" marB="36576" anchor="ctr">
                    <a:solidFill>
                      <a:srgbClr val="FFFFFF"/>
                    </a:solidFill>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10241280" y="-2194560"/>
            <a:ext cx="4023360" cy="402336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11247120" y="50292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Phụ lục P1 · RQ2: thử 3 lần đạt 65,1%, gấp đôi baseline</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14</a:t>
            </a:r>
          </a:p>
        </p:txBody>
      </p:sp>
      <p:pic>
        <p:nvPicPr>
          <p:cNvPr id="6" name="Picture 5" descr="fig_ablation_slide.png"/>
          <p:cNvPicPr>
            <a:picLocks noChangeAspect="1"/>
          </p:cNvPicPr>
          <p:nvPr/>
        </p:nvPicPr>
        <p:blipFill>
          <a:blip r:embed="rId3"/>
          <a:stretch>
            <a:fillRect/>
          </a:stretch>
        </p:blipFill>
        <p:spPr>
          <a:xfrm>
            <a:off x="502920" y="1600200"/>
            <a:ext cx="11155680" cy="447749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1737360" y="-2011680"/>
            <a:ext cx="3657600" cy="365760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54864" y="329184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Phụ lục P2 · Chẩn đoán nằm trên biên Pareto chi phí và chất lượng</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15</a:t>
            </a:r>
          </a:p>
        </p:txBody>
      </p:sp>
      <p:pic>
        <p:nvPicPr>
          <p:cNvPr id="6" name="Picture 5" descr="fig_cost_quality_slide.png"/>
          <p:cNvPicPr>
            <a:picLocks noChangeAspect="1"/>
          </p:cNvPicPr>
          <p:nvPr/>
        </p:nvPicPr>
        <p:blipFill>
          <a:blip r:embed="rId3"/>
          <a:stretch>
            <a:fillRect/>
          </a:stretch>
        </p:blipFill>
        <p:spPr>
          <a:xfrm>
            <a:off x="548640" y="1600200"/>
            <a:ext cx="8349431" cy="4800600"/>
          </a:xfrm>
          <a:prstGeom prst="rect">
            <a:avLst/>
          </a:prstGeom>
        </p:spPr>
      </p:pic>
      <p:sp>
        <p:nvSpPr>
          <p:cNvPr id="7" name="Rounded Rectangle 6"/>
          <p:cNvSpPr/>
          <p:nvPr/>
        </p:nvSpPr>
        <p:spPr>
          <a:xfrm>
            <a:off x="9144000" y="1737360"/>
            <a:ext cx="2468880" cy="4206240"/>
          </a:xfrm>
          <a:prstGeom prst="roundRect">
            <a:avLst>
              <a:gd name="adj" fmla="val 8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72600" y="1901952"/>
            <a:ext cx="2011680" cy="502920"/>
          </a:xfrm>
          <a:prstGeom prst="rect">
            <a:avLst/>
          </a:prstGeom>
          <a:noFill/>
        </p:spPr>
        <p:txBody>
          <a:bodyPr wrap="square" anchor="t" lIns="45720" rIns="45720" tIns="27432" bIns="27432">
            <a:spAutoFit/>
          </a:bodyPr>
          <a:lstStyle/>
          <a:p>
            <a:pPr algn="l">
              <a:lnSpc>
                <a:spcPct val="110000"/>
              </a:lnSpc>
            </a:pPr>
            <a:r>
              <a:rPr sz="2200" b="1" i="0">
                <a:solidFill>
                  <a:srgbClr val="144FB0"/>
                </a:solidFill>
                <a:latin typeface="Helvetica"/>
              </a:rPr>
              <a:t>Đọc biểu đồ</a:t>
            </a:r>
          </a:p>
        </p:txBody>
      </p:sp>
      <p:sp>
        <p:nvSpPr>
          <p:cNvPr id="9" name="TextBox 8"/>
          <p:cNvSpPr txBox="1"/>
          <p:nvPr/>
        </p:nvSpPr>
        <p:spPr>
          <a:xfrm>
            <a:off x="9372600" y="2468880"/>
            <a:ext cx="2011680" cy="3337559"/>
          </a:xfrm>
          <a:prstGeom prst="rect">
            <a:avLst/>
          </a:prstGeom>
          <a:noFill/>
        </p:spPr>
        <p:txBody>
          <a:bodyPr wrap="square">
            <a:spAutoFit/>
          </a:bodyPr>
          <a:lstStyle/>
          <a:p>
            <a:pPr marL="292608" indent="-292608">
              <a:lnSpc>
                <a:spcPct val="108000"/>
              </a:lnSpc>
              <a:spcAft>
                <a:spcPts val="600"/>
              </a:spcAft>
              <a:buClr>
                <a:srgbClr val="1E6FE8"/>
              </a:buClr>
              <a:buFont typeface="Helvetica"/>
              <a:buChar char="•"/>
            </a:pPr>
            <a:r>
              <a:rPr sz="2000" b="0" i="0">
                <a:solidFill>
                  <a:srgbClr val="0F1C3F"/>
                </a:solidFill>
                <a:latin typeface="Helvetica"/>
              </a:rPr>
              <a:t>$0: luật 23,9%</a:t>
            </a:r>
          </a:p>
          <a:p>
            <a:pPr marL="292608" indent="-292608">
              <a:lnSpc>
                <a:spcPct val="108000"/>
              </a:lnSpc>
              <a:spcAft>
                <a:spcPts val="600"/>
              </a:spcAft>
              <a:buClr>
                <a:srgbClr val="1E6FE8"/>
              </a:buClr>
              <a:buFont typeface="Helvetica"/>
              <a:buChar char="•"/>
            </a:pPr>
            <a:r>
              <a:rPr sz="2000" b="0" i="0">
                <a:solidFill>
                  <a:srgbClr val="0F1C3F"/>
                </a:solidFill>
                <a:latin typeface="Helvetica"/>
              </a:rPr>
              <a:t>$1,13: 53,9%</a:t>
            </a:r>
          </a:p>
          <a:p>
            <a:pPr marL="292608" indent="-292608">
              <a:lnSpc>
                <a:spcPct val="108000"/>
              </a:lnSpc>
              <a:spcAft>
                <a:spcPts val="600"/>
              </a:spcAft>
              <a:buClr>
                <a:srgbClr val="1E6FE8"/>
              </a:buClr>
              <a:buFont typeface="Helvetica"/>
              <a:buChar char="•"/>
            </a:pPr>
            <a:r>
              <a:rPr sz="2000" b="0" i="0">
                <a:solidFill>
                  <a:srgbClr val="0F1C3F"/>
                </a:solidFill>
                <a:latin typeface="Helvetica"/>
              </a:rPr>
              <a:t>$2,45: 65,1%</a:t>
            </a:r>
          </a:p>
          <a:p>
            <a:pPr marL="292608" indent="-292608">
              <a:lnSpc>
                <a:spcPct val="108000"/>
              </a:lnSpc>
              <a:spcAft>
                <a:spcPts val="600"/>
              </a:spcAft>
              <a:buClr>
                <a:srgbClr val="1E6FE8"/>
              </a:buClr>
              <a:buFont typeface="Helvetica"/>
              <a:buChar char="•"/>
            </a:pPr>
            <a:r>
              <a:rPr sz="2000" b="0" i="0">
                <a:solidFill>
                  <a:srgbClr val="0F1C3F"/>
                </a:solidFill>
                <a:latin typeface="Helvetica"/>
              </a:rPr>
              <a:t>Blind $2,05: 31,7%</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rb"/>
          <p:cNvSpPr/>
          <p:nvPr/>
        </p:nvSpPr>
        <p:spPr>
          <a:xfrm>
            <a:off x="9875520" y="4297680"/>
            <a:ext cx="3657600" cy="3657600"/>
          </a:xfrm>
          <a:prstGeom prst="ellipse">
            <a:avLst/>
          </a:prstGeom>
          <a:solidFill>
            <a:srgbClr val="EA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ot"/>
          <p:cNvSpPr/>
          <p:nvPr/>
        </p:nvSpPr>
        <p:spPr>
          <a:xfrm>
            <a:off x="11704320" y="3474720"/>
            <a:ext cx="411480" cy="411480"/>
          </a:xfrm>
          <a:prstGeom prst="ellipse">
            <a:avLst/>
          </a:prstGeom>
          <a:solidFill>
            <a:srgbClr val="1E6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548640" y="347472"/>
            <a:ext cx="10424160" cy="1143000"/>
          </a:xfrm>
          <a:prstGeom prst="rect">
            <a:avLst/>
          </a:prstGeom>
          <a:noFill/>
        </p:spPr>
        <p:txBody>
          <a:bodyPr wrap="square" anchor="ctr" lIns="45720" rIns="45720" tIns="27432" bIns="27432">
            <a:spAutoFit/>
          </a:bodyPr>
          <a:lstStyle/>
          <a:p>
            <a:pPr algn="l">
              <a:lnSpc>
                <a:spcPct val="110000"/>
              </a:lnSpc>
            </a:pPr>
            <a:r>
              <a:rPr sz="3200" b="1" i="0">
                <a:solidFill>
                  <a:srgbClr val="0F1C3F"/>
                </a:solidFill>
                <a:latin typeface="Helvetica"/>
              </a:rPr>
              <a:t>Phụ lục P3 · RQ3: REPL nhanh 3–4 bậc, 4 worker chỉ 1,88× vì nghẽn CPU</a:t>
            </a:r>
          </a:p>
        </p:txBody>
      </p:sp>
      <p:sp>
        <p:nvSpPr>
          <p:cNvPr id="5" name="!!num"/>
          <p:cNvSpPr txBox="1"/>
          <p:nvPr/>
        </p:nvSpPr>
        <p:spPr>
          <a:xfrm>
            <a:off x="10881360" y="6236208"/>
            <a:ext cx="914400" cy="457200"/>
          </a:xfrm>
          <a:prstGeom prst="rect">
            <a:avLst/>
          </a:prstGeom>
          <a:noFill/>
        </p:spPr>
        <p:txBody>
          <a:bodyPr wrap="square" anchor="t" lIns="45720" rIns="45720" tIns="27432" bIns="27432">
            <a:spAutoFit/>
          </a:bodyPr>
          <a:lstStyle/>
          <a:p>
            <a:pPr algn="r">
              <a:lnSpc>
                <a:spcPct val="110000"/>
              </a:lnSpc>
            </a:pPr>
            <a:r>
              <a:rPr sz="2000" b="0" i="0">
                <a:solidFill>
                  <a:srgbClr val="5B6B82"/>
                </a:solidFill>
                <a:latin typeface="Helvetica"/>
              </a:rPr>
              <a:t>16</a:t>
            </a:r>
          </a:p>
        </p:txBody>
      </p:sp>
      <p:pic>
        <p:nvPicPr>
          <p:cNvPr id="6" name="Picture 5" descr="fig_scale_speedup_slide.png"/>
          <p:cNvPicPr>
            <a:picLocks noChangeAspect="1"/>
          </p:cNvPicPr>
          <p:nvPr/>
        </p:nvPicPr>
        <p:blipFill>
          <a:blip r:embed="rId3"/>
          <a:stretch>
            <a:fillRect/>
          </a:stretch>
        </p:blipFill>
        <p:spPr>
          <a:xfrm>
            <a:off x="457200" y="1645920"/>
            <a:ext cx="5760720" cy="4470723"/>
          </a:xfrm>
          <a:prstGeom prst="rect">
            <a:avLst/>
          </a:prstGeom>
        </p:spPr>
      </p:pic>
      <p:sp>
        <p:nvSpPr>
          <p:cNvPr id="7" name="TextBox 6"/>
          <p:cNvSpPr txBox="1"/>
          <p:nvPr/>
        </p:nvSpPr>
        <p:spPr>
          <a:xfrm>
            <a:off x="6400800" y="1691640"/>
            <a:ext cx="5120640" cy="868680"/>
          </a:xfrm>
          <a:prstGeom prst="rect">
            <a:avLst/>
          </a:prstGeom>
          <a:noFill/>
        </p:spPr>
        <p:txBody>
          <a:bodyPr wrap="square" anchor="t" lIns="45720" rIns="45720" tIns="27432" bIns="27432">
            <a:spAutoFit/>
          </a:bodyPr>
          <a:lstStyle/>
          <a:p>
            <a:pPr algn="l">
              <a:lnSpc>
                <a:spcPct val="110000"/>
              </a:lnSpc>
            </a:pPr>
            <a:r>
              <a:rPr sz="4800" b="1" i="0">
                <a:solidFill>
                  <a:srgbClr val="144FB0"/>
                </a:solidFill>
                <a:latin typeface="Helvetica"/>
              </a:rPr>
              <a:t>3 ms · 23 ms</a:t>
            </a:r>
          </a:p>
        </p:txBody>
      </p:sp>
      <p:sp>
        <p:nvSpPr>
          <p:cNvPr id="8" name="TextBox 7"/>
          <p:cNvSpPr txBox="1"/>
          <p:nvPr/>
        </p:nvSpPr>
        <p:spPr>
          <a:xfrm>
            <a:off x="6400800" y="2560320"/>
            <a:ext cx="5120640" cy="77724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P50 · P95 với REPL, nguội 63–107 s</a:t>
            </a:r>
          </a:p>
        </p:txBody>
      </p:sp>
      <p:sp>
        <p:nvSpPr>
          <p:cNvPr id="9" name="TextBox 8"/>
          <p:cNvSpPr txBox="1"/>
          <p:nvPr/>
        </p:nvSpPr>
        <p:spPr>
          <a:xfrm>
            <a:off x="6400800" y="3200400"/>
            <a:ext cx="5120640" cy="868680"/>
          </a:xfrm>
          <a:prstGeom prst="rect">
            <a:avLst/>
          </a:prstGeom>
          <a:noFill/>
        </p:spPr>
        <p:txBody>
          <a:bodyPr wrap="square" anchor="t" lIns="45720" rIns="45720" tIns="27432" bIns="27432">
            <a:spAutoFit/>
          </a:bodyPr>
          <a:lstStyle/>
          <a:p>
            <a:pPr algn="l">
              <a:lnSpc>
                <a:spcPct val="110000"/>
              </a:lnSpc>
            </a:pPr>
            <a:r>
              <a:rPr sz="4800" b="1" i="0">
                <a:solidFill>
                  <a:srgbClr val="1E6FE8"/>
                </a:solidFill>
                <a:latin typeface="Helvetica"/>
              </a:rPr>
              <a:t>1,52 → 2,86</a:t>
            </a:r>
          </a:p>
        </p:txBody>
      </p:sp>
      <p:sp>
        <p:nvSpPr>
          <p:cNvPr id="10" name="TextBox 9"/>
          <p:cNvSpPr txBox="1"/>
          <p:nvPr/>
        </p:nvSpPr>
        <p:spPr>
          <a:xfrm>
            <a:off x="6400800" y="4069080"/>
            <a:ext cx="5120640" cy="77724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mẫu/s ở 10K, từ 1 lên 4 worker</a:t>
            </a:r>
          </a:p>
        </p:txBody>
      </p:sp>
      <p:sp>
        <p:nvSpPr>
          <p:cNvPr id="11" name="TextBox 10"/>
          <p:cNvSpPr txBox="1"/>
          <p:nvPr/>
        </p:nvSpPr>
        <p:spPr>
          <a:xfrm>
            <a:off x="6400800" y="4709160"/>
            <a:ext cx="5120640" cy="868680"/>
          </a:xfrm>
          <a:prstGeom prst="rect">
            <a:avLst/>
          </a:prstGeom>
          <a:noFill/>
        </p:spPr>
        <p:txBody>
          <a:bodyPr wrap="square" anchor="t" lIns="45720" rIns="45720" tIns="27432" bIns="27432">
            <a:spAutoFit/>
          </a:bodyPr>
          <a:lstStyle/>
          <a:p>
            <a:pPr algn="l">
              <a:lnSpc>
                <a:spcPct val="110000"/>
              </a:lnSpc>
            </a:pPr>
            <a:r>
              <a:rPr sz="4800" b="1" i="0">
                <a:solidFill>
                  <a:srgbClr val="144FB0"/>
                </a:solidFill>
                <a:latin typeface="Helvetica"/>
              </a:rPr>
              <a:t>3,1 → 6,5 s</a:t>
            </a:r>
          </a:p>
        </p:txBody>
      </p:sp>
      <p:sp>
        <p:nvSpPr>
          <p:cNvPr id="12" name="TextBox 11"/>
          <p:cNvSpPr txBox="1"/>
          <p:nvPr/>
        </p:nvSpPr>
        <p:spPr>
          <a:xfrm>
            <a:off x="6400800" y="5577840"/>
            <a:ext cx="5120640" cy="777240"/>
          </a:xfrm>
          <a:prstGeom prst="rect">
            <a:avLst/>
          </a:prstGeom>
          <a:noFill/>
        </p:spPr>
        <p:txBody>
          <a:bodyPr wrap="square" anchor="t" lIns="45720" rIns="45720" tIns="27432" bIns="27432">
            <a:spAutoFit/>
          </a:bodyPr>
          <a:lstStyle/>
          <a:p>
            <a:pPr algn="l">
              <a:lnSpc>
                <a:spcPct val="110000"/>
              </a:lnSpc>
            </a:pPr>
            <a:r>
              <a:rPr sz="2000" b="0" i="0">
                <a:solidFill>
                  <a:srgbClr val="5B6B82"/>
                </a:solidFill>
                <a:latin typeface="Helvetica"/>
              </a:rPr>
              <a:t>P95 thời gian phục vụ, 1 lên 4 worker</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2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